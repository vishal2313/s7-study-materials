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6A33BD-6F38-494D-B283-F576D56C4E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B2731A-8C63-4EF2-B508-CFA585E277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306FD95-2BA3-471B-8D96-775250C5A2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9D7FB64-1E2D-4DEE-AA22-49D0C83E10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E3A394C-FAF1-44C6-A699-415543E2AF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E358FE3-5219-439D-9F08-19D483E2AA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B32D726-0CD9-4BF7-8EBA-0E72BE113F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784CE92-E361-410E-BD21-99E22A23C5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0F6F711-CC70-4A1B-9426-AA0BF1F356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F5DB3F6-0F37-41D7-81D3-82B4D62E4C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53A7777-12F4-4194-8FBC-65B135F213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DCB7A96E-0813-4300-A357-7E0697FEF8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0680618-53DB-4E3A-A02B-6474F23FC5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8BF1A1F3-EEE8-4878-9115-04589A560FA9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41815012-44B0-441F-9E52-192B2CEDAB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82FD01B8-4112-4134-A665-276D3C042E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2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1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1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" name="Isosceles Triangle 26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" name="Isosceles Triangle 30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custGeom>
              <a:avLst/>
              <a:gdLst>
                <a:gd name="textAreaLeft" fmla="*/ 421200 w 842400"/>
                <a:gd name="textAreaRight" fmla="*/ 842760 w 842400"/>
                <a:gd name="textAreaTop" fmla="*/ 2832840 h 5665680"/>
                <a:gd name="textAreaBottom" fmla="*/ 5666040 h 5665680"/>
              </a:gdLst>
              <a:ahLst/>
              <a:rect l="textAreaLeft" t="textAreaTop" r="textAreaRight" b="textAreaBottom"/>
              <a:pathLst>
                <a:path w="2341" h="15739">
                  <a:moveTo>
                    <a:pt x="0" y="15739"/>
                  </a:moveTo>
                  <a:lnTo>
                    <a:pt x="2341" y="0"/>
                  </a:lnTo>
                  <a:lnTo>
                    <a:pt x="2341" y="15739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90c226"/>
                </a:solidFill>
                <a:latin typeface="Trebuchet MS"/>
              </a:rPr>
              <a:t>Click to edit Master title style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4E07BA-0928-4F47-817C-980B222BD73E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3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3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626669-A13D-40A3-8B3C-B2BB10BC9D9B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4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4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9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7f7f7f"/>
                </a:solidFill>
                <a:latin typeface="Trebuchet MS"/>
              </a:rPr>
              <a:t>Click to edit Master text styles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15C6F0-BC4C-4525-949D-F64C05F76B2B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c0e474"/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c0e474"/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6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6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1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B2AF23-6128-40F9-A74E-558828751D7D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7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8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8" name="PlaceHolder 1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f7f7f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786DC0-D4EA-4F06-8A4C-4E5FE31E874C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c0e474"/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c0e474"/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9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9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9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4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5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6" name="PlaceHolder 1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90c226"/>
                </a:solidFill>
                <a:latin typeface="Trebuchet MS"/>
              </a:rPr>
              <a:t>Click to edit Master text styles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f7f7f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357E1D-37F1-4935-A988-D6D7757B3F9F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11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11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6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0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1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4D6D17-78FC-441B-8007-F3AA3BCB6153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2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12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12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1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5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6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7" name="PlaceHolder 1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85E6DC-B823-4448-AE61-9EB178E34FA1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4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14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14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6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0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1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416ED2-7CF2-49D0-B718-998115C5180D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16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16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4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8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9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7f7f7f"/>
                </a:solidFill>
                <a:latin typeface="Trebuchet MS"/>
              </a:rPr>
              <a:t>Click to edit Master text styles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2F10EE-F3A6-4EDF-AD5C-75B85223B3A0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7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17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17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9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3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4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6120B8-4EED-4B78-ADD0-7CD5800755BE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9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19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19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8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2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3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04" name="PlaceHolder 1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7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089B19-1B72-4E62-82D5-8C509B902B16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1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21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21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6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0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1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22" name="PlaceHolder 1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0E869F-2B18-4E38-A050-FE8FBC0964D9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2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22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22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1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5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6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ftr" idx="4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4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DB810D-EB76-4A54-B7C7-8EA80408D441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4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24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24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4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8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9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50" name="PlaceHolder 1"/>
          <p:cNvSpPr>
            <a:spLocks noGrp="1"/>
          </p:cNvSpPr>
          <p:nvPr>
            <p:ph type="body"/>
          </p:nvPr>
        </p:nvSpPr>
        <p:spPr>
          <a:xfrm>
            <a:off x="476028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dt" idx="4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ftr" idx="4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sldNum" idx="4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EEDFED-37AD-4AA6-ADDB-C5CA0689E602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8">
              <a:solidFill>
                <a:srgbClr val="bfbfbf"/>
              </a:solidFill>
              <a:round/>
            </a:ln>
          </p:spPr>
        </p:cxnSp>
        <p:cxnSp>
          <p:nvCxnSpPr>
            <p:cNvPr id="25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8">
              <a:solidFill>
                <a:srgbClr val="d9d9d9"/>
              </a:solidFill>
              <a:round/>
            </a:ln>
          </p:spPr>
        </p:cxnSp>
        <p:sp>
          <p:nvSpPr>
            <p:cNvPr id="25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0" name="Isosceles Triangle 23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29720 w 3259440"/>
                <a:gd name="textAreaRight" fmla="*/ 3259800 w 3259440"/>
                <a:gd name="textAreaTop" fmla="*/ 1904760 h 3809520"/>
                <a:gd name="textAreaBottom" fmla="*/ 3809880 h 3809520"/>
              </a:gdLst>
              <a:ahLst/>
              <a:rect l="textAreaLeft" t="textAreaTop" r="textAreaRight" b="textAreaBottom"/>
              <a:pathLst>
                <a:path w="9055" h="10583">
                  <a:moveTo>
                    <a:pt x="0" y="10583"/>
                  </a:moveTo>
                  <a:lnTo>
                    <a:pt x="9055" y="0"/>
                  </a:lnTo>
                  <a:lnTo>
                    <a:pt x="9055" y="10583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4" name="Isosceles Triangle 27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280 w 1816920"/>
                <a:gd name="textAreaTop" fmla="*/ 1634040 h 3267720"/>
                <a:gd name="textAreaBottom" fmla="*/ 3268080 h 3267720"/>
              </a:gdLst>
              <a:ahLst/>
              <a:rect l="textAreaLeft" t="textAreaTop" r="textAreaRight" b="textAreaBottom"/>
              <a:pathLst>
                <a:path w="5048" h="9078">
                  <a:moveTo>
                    <a:pt x="0" y="9078"/>
                  </a:moveTo>
                  <a:lnTo>
                    <a:pt x="5048" y="0"/>
                  </a:lnTo>
                  <a:lnTo>
                    <a:pt x="5048" y="9078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5" name="Isosceles Triangle 28"/>
            <p:cNvSpPr/>
            <p:nvPr/>
          </p:nvSpPr>
          <p:spPr>
            <a:xfrm>
              <a:off x="0" y="4013280"/>
              <a:ext cx="448200" cy="2844360"/>
            </a:xfrm>
            <a:custGeom>
              <a:avLst/>
              <a:gdLst>
                <a:gd name="textAreaLeft" fmla="*/ 0 w 448200"/>
                <a:gd name="textAreaRight" fmla="*/ 224280 w 448200"/>
                <a:gd name="textAreaTop" fmla="*/ 1422360 h 2844360"/>
                <a:gd name="textAreaBottom" fmla="*/ 2844720 h 2844360"/>
              </a:gdLst>
              <a:ahLst/>
              <a:rect l="textAreaLeft" t="textAreaTop" r="textAreaRight" b="textAreaBottom"/>
              <a:pathLst>
                <a:path w="1246" h="7902">
                  <a:moveTo>
                    <a:pt x="0" y="7902"/>
                  </a:moveTo>
                  <a:lnTo>
                    <a:pt x="0" y="0"/>
                  </a:lnTo>
                  <a:lnTo>
                    <a:pt x="1246" y="790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Click to edit the outline text format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Outline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Third Outline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Fourth Outline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Fifth Outline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Sixth Outline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Seventh Outline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dt" idx="4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98989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98989"/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D825C0-25A1-4BF7-BF6E-07D019355957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ieeexplore.ieee.org/document/6853386" TargetMode="External"/><Relationship Id="rId2" Type="http://schemas.openxmlformats.org/officeDocument/2006/relationships/hyperlink" Target="https://ieeexplore.ieee.org/document/6853386" TargetMode="External"/><Relationship Id="rId3" Type="http://schemas.openxmlformats.org/officeDocument/2006/relationships/hyperlink" Target="https://www.ifaamas.org/Proceedings/aamas2025/pdfs/p510.pdf" TargetMode="External"/><Relationship Id="rId4" Type="http://schemas.openxmlformats.org/officeDocument/2006/relationships/hyperlink" Target="https://www.ifaamas.org/Proceedings/aamas2025/pdfs/p510.pdf" TargetMode="External"/><Relationship Id="rId5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-888840" y="620640"/>
            <a:ext cx="9143640" cy="70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5400" spc="-1" strike="noStrike">
                <a:solidFill>
                  <a:srgbClr val="90c226"/>
                </a:solidFill>
                <a:latin typeface="Trebuchet MS"/>
              </a:rPr>
              <a:t>FAIR ALLOCATION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ubTitle"/>
          </p:nvPr>
        </p:nvSpPr>
        <p:spPr>
          <a:xfrm>
            <a:off x="983520" y="1989000"/>
            <a:ext cx="9143640" cy="4463280"/>
          </a:xfrm>
          <a:prstGeom prst="rect">
            <a:avLst/>
          </a:prstGeom>
          <a:solidFill>
            <a:srgbClr val="ffffff"/>
          </a:solidFill>
          <a:ln w="19080">
            <a:solidFill>
              <a:srgbClr val="54a021"/>
            </a:solidFill>
            <a:round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Topic:</a:t>
            </a:r>
            <a:r>
              <a:rPr b="0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 Theory of Fair Allocation (Envy-Free)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- Cloud Federation in the Sky</a:t>
            </a:r>
            <a:br>
              <a:rPr sz="2800"/>
            </a:br>
            <a:r>
              <a:rPr b="1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Course:</a:t>
            </a:r>
            <a:r>
              <a:rPr b="0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 B.Tech. Final Year Project(Part-1)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>
              <a:rPr sz="2800"/>
            </a:br>
            <a:r>
              <a:rPr b="1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Prepared By: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B220088CS – ABHAY KUMAR BHARTI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B220736CS – ASHUTOSH RANJAN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7f7f7f"/>
                </a:solidFill>
                <a:latin typeface="Calibri"/>
                <a:ea typeface="Calibri"/>
              </a:rPr>
              <a:t>B220589CS – VISHAL SONKAR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Understanding the Cloud Federation Problem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91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What is Cloud Federation?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Multiple cloud providers collaborate to jointly serve user requests.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share resources: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CPU cores, memory, storage, VMs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A broker receives user requests and forms a federation to maximize profit.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The Core Problem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have limited resources.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Not all providers can satisfy user requests alone.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must cooperate to meet demand.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Challenges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How to decide </a:t>
            </a:r>
            <a:r>
              <a:rPr b="0" i="1" lang="en-US" sz="1800" spc="-1" strike="noStrike">
                <a:solidFill>
                  <a:srgbClr val="404040"/>
                </a:solidFill>
                <a:latin typeface="Trebuchet MS"/>
              </a:rPr>
              <a:t>which providers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should form a federation?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How to ensure </a:t>
            </a:r>
            <a:r>
              <a:rPr b="0" i="1" lang="en-US" sz="1800" spc="-1" strike="noStrike">
                <a:solidFill>
                  <a:srgbClr val="404040"/>
                </a:solidFill>
                <a:latin typeface="Trebuchet MS"/>
              </a:rPr>
              <a:t>fair distribution of profit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among participating providers?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How to maintain </a:t>
            </a:r>
            <a:r>
              <a:rPr b="0" i="1" lang="en-US" sz="1800" spc="-1" strike="noStrike">
                <a:solidFill>
                  <a:srgbClr val="404040"/>
                </a:solidFill>
                <a:latin typeface="Trebuchet MS"/>
              </a:rPr>
              <a:t>stability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(no provider wants to leave)?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Components of the Cloud Federation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551520" y="1556640"/>
            <a:ext cx="8596440" cy="49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alibri"/>
                <a:ea typeface="Calibri"/>
              </a:rPr>
              <a:t> </a:t>
            </a:r>
            <a:r>
              <a:rPr b="1" lang="en-IN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1. Cloud Providers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Each provider has: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1600" spc="-1" strike="noStrike">
                <a:solidFill>
                  <a:srgbClr val="404040"/>
                </a:solidFill>
                <a:latin typeface="Trebuchet MS"/>
                <a:ea typeface="Calibri"/>
              </a:rPr>
              <a:t>N</a:t>
            </a:r>
            <a:r>
              <a:rPr b="1" lang="en-IN" sz="1600" spc="-1" strike="noStrike" baseline="-25000">
                <a:solidFill>
                  <a:srgbClr val="404040"/>
                </a:solidFill>
                <a:latin typeface="Trebuchet MS"/>
                <a:ea typeface="Calibri"/>
              </a:rPr>
              <a:t>i</a:t>
            </a:r>
            <a:r>
              <a:rPr b="1" lang="en-IN" sz="1600" spc="-1" strike="noStrike">
                <a:solidFill>
                  <a:srgbClr val="404040"/>
                </a:solidFill>
                <a:latin typeface="Trebuchet MS"/>
                <a:ea typeface="Calibri"/>
              </a:rPr>
              <a:t>​</a:t>
            </a:r>
            <a:r>
              <a:rPr b="0" lang="en-IN" sz="1600" spc="-1" strike="noStrike">
                <a:solidFill>
                  <a:srgbClr val="404040"/>
                </a:solidFill>
                <a:latin typeface="Trebuchet MS"/>
                <a:ea typeface="Calibri"/>
              </a:rPr>
              <a:t>: number of cores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1600" spc="-1" strike="noStrike">
                <a:solidFill>
                  <a:srgbClr val="404040"/>
                </a:solidFill>
                <a:latin typeface="Trebuchet MS"/>
                <a:ea typeface="Calibri"/>
              </a:rPr>
              <a:t>M</a:t>
            </a:r>
            <a:r>
              <a:rPr b="1" lang="en-IN" sz="1600" spc="-1" strike="noStrike" baseline="-25000">
                <a:solidFill>
                  <a:srgbClr val="404040"/>
                </a:solidFill>
                <a:latin typeface="Trebuchet MS"/>
                <a:ea typeface="Calibri"/>
              </a:rPr>
              <a:t>i</a:t>
            </a:r>
            <a:r>
              <a:rPr b="0" lang="en-IN" sz="1600" spc="-1" strike="noStrike">
                <a:solidFill>
                  <a:srgbClr val="404040"/>
                </a:solidFill>
                <a:latin typeface="Trebuchet MS"/>
                <a:ea typeface="Calibri"/>
              </a:rPr>
              <a:t>: memory capacity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1600" spc="-1" strike="noStrike">
                <a:solidFill>
                  <a:srgbClr val="404040"/>
                </a:solidFill>
                <a:latin typeface="Trebuchet MS"/>
                <a:ea typeface="Calibri"/>
              </a:rPr>
              <a:t>S</a:t>
            </a:r>
            <a:r>
              <a:rPr b="1" lang="en-IN" sz="1600" spc="-1" strike="noStrike" baseline="-25000">
                <a:solidFill>
                  <a:srgbClr val="404040"/>
                </a:solidFill>
                <a:latin typeface="Trebuchet MS"/>
                <a:ea typeface="Calibri"/>
              </a:rPr>
              <a:t>i</a:t>
            </a:r>
            <a:r>
              <a:rPr b="0" lang="en-IN" sz="1600" spc="-1" strike="noStrike">
                <a:solidFill>
                  <a:srgbClr val="404040"/>
                </a:solidFill>
                <a:latin typeface="Trebuchet MS"/>
                <a:ea typeface="Calibri"/>
              </a:rPr>
              <a:t>: storage capacity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2000" spc="-1" strike="noStrike">
                <a:solidFill>
                  <a:srgbClr val="404040"/>
                </a:solidFill>
                <a:latin typeface="Trebuchet MS"/>
                <a:ea typeface="Calibri"/>
              </a:rPr>
              <a:t>c</a:t>
            </a:r>
            <a:r>
              <a:rPr b="1" lang="en-IN" sz="2000" spc="-1" strike="noStrike" baseline="-25000">
                <a:solidFill>
                  <a:srgbClr val="404040"/>
                </a:solidFill>
                <a:latin typeface="Trebuchet MS"/>
                <a:ea typeface="Calibri"/>
              </a:rPr>
              <a:t>ij</a:t>
            </a:r>
            <a:r>
              <a:rPr b="0" lang="en-IN" sz="1600" spc="-1" strike="noStrike">
                <a:solidFill>
                  <a:srgbClr val="404040"/>
                </a:solidFill>
                <a:latin typeface="Trebuchet MS"/>
                <a:ea typeface="Calibri"/>
              </a:rPr>
              <a:t>: cost of offering VM type </a:t>
            </a:r>
            <a:r>
              <a:rPr b="1" lang="en-IN" sz="2000" spc="-1" strike="noStrike">
                <a:solidFill>
                  <a:srgbClr val="404040"/>
                </a:solidFill>
                <a:latin typeface="Trebuchet MS"/>
                <a:ea typeface="Calibri"/>
              </a:rPr>
              <a:t>VM</a:t>
            </a:r>
            <a:r>
              <a:rPr b="1" lang="en-IN" sz="2000" spc="-1" strike="noStrike" baseline="-25000">
                <a:solidFill>
                  <a:srgbClr val="404040"/>
                </a:solidFill>
                <a:latin typeface="Trebuchet MS"/>
                <a:ea typeface="Calibri"/>
              </a:rPr>
              <a:t>j.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Providers want to maximize </a:t>
            </a:r>
            <a:r>
              <a:rPr b="1" lang="en-IN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their individual profit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2. VM Types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VM1 (small), VM2 (medium), VM3 (large), VM4 (extralarge)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/>
          </p:nvPr>
        </p:nvSpPr>
        <p:spPr>
          <a:xfrm>
            <a:off x="479520" y="76464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Each VM has different: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CPU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memory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storage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price charged to user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45720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3. Broker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Receives user VM request R= {r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1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,r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2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,...,r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n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}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Selects a federation to serve the request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Handles billing: user pays fixed price p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j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 per VM type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4. Federation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A coalition of cloud providers that jointly serve the request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Goal: maximize </a:t>
            </a: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total profit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Mathematical Formulation of Profit Maximization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IN" sz="2000" spc="-1" strike="noStrike">
                <a:solidFill>
                  <a:srgbClr val="404040"/>
                </a:solidFill>
                <a:latin typeface="Trebuchet MS"/>
              </a:rPr>
              <a:t>Objective Function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000" spc="-1" strike="noStrike">
                <a:solidFill>
                  <a:srgbClr val="404040"/>
                </a:solidFill>
                <a:latin typeface="Trebuchet MS"/>
              </a:rPr>
              <a:t>Meaning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xi: number of VM type j served by provider i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pj: price paid by user for VM type j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cij: cost to provider I for offering VM type j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Federation wants to </a:t>
            </a:r>
            <a:r>
              <a:rPr b="1" lang="en-IN" sz="2000" spc="-1" strike="noStrike">
                <a:solidFill>
                  <a:srgbClr val="404040"/>
                </a:solidFill>
                <a:latin typeface="Trebuchet MS"/>
              </a:rPr>
              <a:t>maximize revenue minus cost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280" name="Picture 2" descr=""/>
          <p:cNvPicPr/>
          <p:nvPr/>
        </p:nvPicPr>
        <p:blipFill>
          <a:blip r:embed="rId1"/>
          <a:stretch/>
        </p:blipFill>
        <p:spPr>
          <a:xfrm>
            <a:off x="3359520" y="2504160"/>
            <a:ext cx="3769200" cy="1087920"/>
          </a:xfrm>
          <a:prstGeom prst="rect">
            <a:avLst/>
          </a:prstGeom>
          <a:ln w="0">
            <a:noFill/>
          </a:ln>
        </p:spPr>
      </p:pic>
      <p:pic>
        <p:nvPicPr>
          <p:cNvPr id="281" name="Picture 3" descr=""/>
          <p:cNvPicPr/>
          <p:nvPr/>
        </p:nvPicPr>
        <p:blipFill>
          <a:blip r:embed="rId2"/>
          <a:stretch/>
        </p:blipFill>
        <p:spPr>
          <a:xfrm>
            <a:off x="695520" y="3933000"/>
            <a:ext cx="5476680" cy="128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551520" y="1124640"/>
            <a:ext cx="8596440" cy="93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pc="-1" strike="noStrike">
                <a:solidFill>
                  <a:schemeClr val="dk1"/>
                </a:solidFill>
                <a:latin typeface="Trebuchet MS"/>
              </a:rPr>
              <a:t>Key Constraints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510480" y="1989000"/>
            <a:ext cx="8596440" cy="469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cannot exceed CPU limits.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cannot exceed memory limits.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cannot exceed storage limits.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Total VMs allocated = user’s request.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Each provider must contribute at least one VM.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Integer constraints </a:t>
            </a: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on x</a:t>
            </a:r>
            <a:r>
              <a:rPr b="0" lang="en-US" sz="2000" spc="-1" strike="noStrike" baseline="-25000">
                <a:solidFill>
                  <a:srgbClr val="404040"/>
                </a:solidFill>
                <a:latin typeface="Trebuchet MS"/>
              </a:rPr>
              <a:t>ij.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284" name="Picture 2" descr=""/>
          <p:cNvPicPr/>
          <p:nvPr/>
        </p:nvPicPr>
        <p:blipFill>
          <a:blip r:embed="rId1"/>
          <a:stretch/>
        </p:blipFill>
        <p:spPr>
          <a:xfrm>
            <a:off x="5145120" y="1917000"/>
            <a:ext cx="1872000" cy="503640"/>
          </a:xfrm>
          <a:prstGeom prst="rect">
            <a:avLst/>
          </a:prstGeom>
          <a:ln w="0">
            <a:noFill/>
          </a:ln>
        </p:spPr>
      </p:pic>
      <p:pic>
        <p:nvPicPr>
          <p:cNvPr id="285" name="Picture 3" descr=""/>
          <p:cNvPicPr/>
          <p:nvPr/>
        </p:nvPicPr>
        <p:blipFill>
          <a:blip r:embed="rId2"/>
          <a:stretch/>
        </p:blipFill>
        <p:spPr>
          <a:xfrm>
            <a:off x="5176080" y="2637000"/>
            <a:ext cx="2180880" cy="569880"/>
          </a:xfrm>
          <a:prstGeom prst="rect">
            <a:avLst/>
          </a:prstGeom>
          <a:ln w="0">
            <a:noFill/>
          </a:ln>
        </p:spPr>
      </p:pic>
      <p:pic>
        <p:nvPicPr>
          <p:cNvPr id="286" name="Picture 4" descr=""/>
          <p:cNvPicPr/>
          <p:nvPr/>
        </p:nvPicPr>
        <p:blipFill>
          <a:blip r:embed="rId3"/>
          <a:stretch/>
        </p:blipFill>
        <p:spPr>
          <a:xfrm>
            <a:off x="5303880" y="3429000"/>
            <a:ext cx="1924920" cy="621360"/>
          </a:xfrm>
          <a:prstGeom prst="rect">
            <a:avLst/>
          </a:prstGeom>
          <a:ln w="0">
            <a:noFill/>
          </a:ln>
        </p:spPr>
      </p:pic>
      <p:pic>
        <p:nvPicPr>
          <p:cNvPr id="287" name="Picture 5" descr=""/>
          <p:cNvPicPr/>
          <p:nvPr/>
        </p:nvPicPr>
        <p:blipFill>
          <a:blip r:embed="rId4"/>
          <a:stretch/>
        </p:blipFill>
        <p:spPr>
          <a:xfrm>
            <a:off x="5268960" y="4365000"/>
            <a:ext cx="1748160" cy="503640"/>
          </a:xfrm>
          <a:prstGeom prst="rect">
            <a:avLst/>
          </a:prstGeom>
          <a:ln w="0">
            <a:noFill/>
          </a:ln>
        </p:spPr>
      </p:pic>
      <p:pic>
        <p:nvPicPr>
          <p:cNvPr id="288" name="Picture 6" descr=""/>
          <p:cNvPicPr/>
          <p:nvPr/>
        </p:nvPicPr>
        <p:blipFill>
          <a:blip r:embed="rId5"/>
          <a:stretch/>
        </p:blipFill>
        <p:spPr>
          <a:xfrm>
            <a:off x="6069240" y="5085360"/>
            <a:ext cx="1647360" cy="534600"/>
          </a:xfrm>
          <a:prstGeom prst="rect">
            <a:avLst/>
          </a:prstGeom>
          <a:ln w="0">
            <a:noFill/>
          </a:ln>
        </p:spPr>
      </p:pic>
      <p:pic>
        <p:nvPicPr>
          <p:cNvPr id="289" name="Picture 7" descr=""/>
          <p:cNvPicPr/>
          <p:nvPr/>
        </p:nvPicPr>
        <p:blipFill>
          <a:blip r:embed="rId6"/>
          <a:stretch/>
        </p:blipFill>
        <p:spPr>
          <a:xfrm>
            <a:off x="3863880" y="6056280"/>
            <a:ext cx="1171080" cy="34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/>
          </p:nvPr>
        </p:nvSpPr>
        <p:spPr>
          <a:xfrm>
            <a:off x="335520" y="548640"/>
            <a:ext cx="8596440" cy="58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We solve for: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            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>
                <a:solidFill>
                  <a:srgbClr val="404040"/>
                </a:solidFill>
                <a:latin typeface="Trebuchet MS"/>
              </a:rPr>
              <a:t>Inputs collected by broker: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Provider capacities : N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i 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, M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i 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, S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i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VM type resource demand : r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j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Price per VM : p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j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Cost per VM for provider : c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ij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VM resource requirements : w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j​</a:t>
            </a:r>
            <a:r>
              <a:rPr b="0" lang="en-IN" sz="1800" spc="-1" strike="noStrike" baseline="30000">
                <a:solidFill>
                  <a:srgbClr val="404040"/>
                </a:solidFill>
                <a:latin typeface="Trebuchet MS"/>
              </a:rPr>
              <a:t>c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, w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j</a:t>
            </a:r>
            <a:r>
              <a:rPr b="0" lang="en-IN" sz="1800" spc="-1" strike="noStrike" baseline="30000">
                <a:solidFill>
                  <a:srgbClr val="404040"/>
                </a:solidFill>
                <a:latin typeface="Trebuchet MS"/>
              </a:rPr>
              <a:t>m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,w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j</a:t>
            </a:r>
            <a:r>
              <a:rPr b="0" lang="en-IN" sz="1800" spc="-1" strike="noStrike" baseline="30000">
                <a:solidFill>
                  <a:srgbClr val="404040"/>
                </a:solidFill>
                <a:latin typeface="Trebuchet MS"/>
              </a:rPr>
              <a:t>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>
                <a:solidFill>
                  <a:srgbClr val="404040"/>
                </a:solidFill>
                <a:latin typeface="Trebuchet MS"/>
              </a:rPr>
              <a:t>Then broker runs the ILP solver to: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Assign integer VM counts x</a:t>
            </a:r>
            <a:r>
              <a:rPr b="0" lang="en-IN" sz="1800" spc="-1" strike="noStrike" baseline="-25000">
                <a:solidFill>
                  <a:srgbClr val="404040"/>
                </a:solidFill>
                <a:latin typeface="Trebuchet MS"/>
              </a:rPr>
              <a:t>ij 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to each provider.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Maximize total federation profit while satisfying all constraints.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algn="just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291" name="Picture 2" descr=""/>
          <p:cNvPicPr/>
          <p:nvPr/>
        </p:nvPicPr>
        <p:blipFill>
          <a:blip r:embed="rId1"/>
          <a:stretch/>
        </p:blipFill>
        <p:spPr>
          <a:xfrm>
            <a:off x="2423520" y="952560"/>
            <a:ext cx="5171760" cy="30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/>
          </p:nvPr>
        </p:nvSpPr>
        <p:spPr>
          <a:xfrm>
            <a:off x="407520" y="404640"/>
            <a:ext cx="8596440" cy="61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800" spc="-1" strike="noStrike">
                <a:solidFill>
                  <a:srgbClr val="404040"/>
                </a:solidFill>
                <a:latin typeface="Trebuchet MS"/>
              </a:rPr>
              <a:t>Best ILP solvers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Commercial optimizers: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Gurobi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IBM ILOG CPLEX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FICO XPRESS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Open-Source ILP solvers: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SCIP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GLPK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COIN‑OR CBC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Library-based modeling 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(broker can implement via code):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Google OR‑Tools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PuLP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Pyomo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95520" y="40464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Why the Grand Federation is Not Always Stable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695520" y="1700640"/>
            <a:ext cx="8596440" cy="489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Grand Federation = all providers together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But may be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unstable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 because: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Some providers may earn </a:t>
            </a:r>
            <a:r>
              <a:rPr b="0" i="1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less profit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 when merged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A provider may benefit more by working alone or with fewer partners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If one provider wants to leave → the federation collapses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Example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Providers {C1, C2, C3}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Profit values show some coalitions perform better than grand coalition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If a provider earns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less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 in the grand coalition → instability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Conclusion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➡ 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Need a mechanism that lets providers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self-organize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Calibri"/>
              </a:rPr>
              <a:t> into stable federations.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838080" y="104040"/>
            <a:ext cx="10515240" cy="94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pc="-1" strike="noStrike">
                <a:solidFill>
                  <a:srgbClr val="90c226"/>
                </a:solidFill>
                <a:latin typeface="Trebuchet MS"/>
              </a:rPr>
              <a:t>Introducing Hedonic Games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479520" y="1196640"/>
            <a:ext cx="10515240" cy="482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Why Hedonic Games?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Providers prefer coalitions based on </a:t>
            </a: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their own profit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, not global profit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Preference depends ONLY on the members of the same coalition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Preference Rule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Meaning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Provider i prefers federation F over F′ if it earns more profit in F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Why Hedonic Model Works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Natural: cloud providers behave selfishly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Local decisions → global stable structure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Eliminates need for central controller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297" name="Picture 2" descr=""/>
          <p:cNvPicPr/>
          <p:nvPr/>
        </p:nvPicPr>
        <p:blipFill>
          <a:blip r:embed="rId1"/>
          <a:stretch/>
        </p:blipFill>
        <p:spPr>
          <a:xfrm>
            <a:off x="2927520" y="2832840"/>
            <a:ext cx="3723840" cy="43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/>
          </p:nvPr>
        </p:nvSpPr>
        <p:spPr>
          <a:xfrm>
            <a:off x="570240" y="965520"/>
            <a:ext cx="8596440" cy="56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This mechanism is built using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hedonic game theory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and works through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merge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and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split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operations among providers.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Step 1 — Start Alone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Each cloud provider begins as its own federation: 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{C1​},{C2​},{C3​},…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Step 2 — Check Profit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Each provider compares: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Profit in current federation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Profit if it merges with others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Profit if it splits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Using preference rule: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 prefers the coalition that gives higher profit.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Step 3 — Merge Rule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Two federations merge if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every member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gains more profit: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299" name="Rectangle 2"/>
          <p:cNvSpPr/>
          <p:nvPr/>
        </p:nvSpPr>
        <p:spPr>
          <a:xfrm>
            <a:off x="104400" y="259200"/>
            <a:ext cx="9797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Cloud Federation Formation Mechanism (CFFM)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Picture 2" descr=""/>
          <p:cNvPicPr/>
          <p:nvPr/>
        </p:nvPicPr>
        <p:blipFill>
          <a:blip r:embed="rId1"/>
          <a:stretch/>
        </p:blipFill>
        <p:spPr>
          <a:xfrm>
            <a:off x="3359520" y="4437000"/>
            <a:ext cx="3819240" cy="485280"/>
          </a:xfrm>
          <a:prstGeom prst="rect">
            <a:avLst/>
          </a:prstGeom>
          <a:ln w="0">
            <a:noFill/>
          </a:ln>
        </p:spPr>
      </p:pic>
      <p:pic>
        <p:nvPicPr>
          <p:cNvPr id="301" name="Picture 3" descr=""/>
          <p:cNvPicPr/>
          <p:nvPr/>
        </p:nvPicPr>
        <p:blipFill>
          <a:blip r:embed="rId2"/>
          <a:stretch/>
        </p:blipFill>
        <p:spPr>
          <a:xfrm>
            <a:off x="2725920" y="6023160"/>
            <a:ext cx="2819160" cy="42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/>
          </p:nvPr>
        </p:nvSpPr>
        <p:spPr>
          <a:xfrm>
            <a:off x="191520" y="332640"/>
            <a:ext cx="8596440" cy="280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Step 4 — Split Rule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A federation splits if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any member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gains more profit by splitting: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Step 5 — Repeat Until Stable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Merges and splits continue until: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No merge can benefit everyone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No split can benefit anyone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The final coalition structure is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stable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303" name="Picture 2" descr=""/>
          <p:cNvPicPr/>
          <p:nvPr/>
        </p:nvPicPr>
        <p:blipFill>
          <a:blip r:embed="rId1"/>
          <a:stretch/>
        </p:blipFill>
        <p:spPr>
          <a:xfrm>
            <a:off x="2567520" y="1124640"/>
            <a:ext cx="2342880" cy="398520"/>
          </a:xfrm>
          <a:prstGeom prst="rect">
            <a:avLst/>
          </a:prstGeom>
          <a:ln w="0">
            <a:noFill/>
          </a:ln>
        </p:spPr>
      </p:pic>
      <p:sp>
        <p:nvSpPr>
          <p:cNvPr id="304" name="Title 1"/>
          <p:cNvSpPr/>
          <p:nvPr/>
        </p:nvSpPr>
        <p:spPr>
          <a:xfrm>
            <a:off x="0" y="3861000"/>
            <a:ext cx="859644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90c226"/>
                </a:solidFill>
                <a:latin typeface="Trebuchet MS"/>
              </a:rPr>
              <a:t>Ensuring Fair Profit Sharing (Banzhaf Value)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ontent Placeholder 2"/>
          <p:cNvSpPr/>
          <p:nvPr/>
        </p:nvSpPr>
        <p:spPr>
          <a:xfrm>
            <a:off x="407520" y="5085360"/>
            <a:ext cx="7876080" cy="14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Problem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After forming a federation, how do we split total profit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fairly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/>
          </p:nvPr>
        </p:nvSpPr>
        <p:spPr>
          <a:xfrm>
            <a:off x="357480" y="620640"/>
            <a:ext cx="8596440" cy="59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Solution: Banzhaf Power Index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Measures the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marginal contribution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of each provider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Fair: providers who contribute more resources get more profit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Definition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Normalized Banzhaf: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           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Payoff: 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                 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fr-FR" sz="1800" spc="-1" strike="noStrike">
                <a:solidFill>
                  <a:srgbClr val="404040"/>
                </a:solidFill>
                <a:latin typeface="Trebuchet MS"/>
              </a:rPr>
              <a:t>v(T) = total coalition profit.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fr-FR" sz="1800" spc="-1" strike="noStrike">
                <a:solidFill>
                  <a:srgbClr val="404040"/>
                </a:solidFill>
                <a:latin typeface="Trebuchet MS"/>
              </a:rPr>
              <a:t>B</a:t>
            </a:r>
            <a:r>
              <a:rPr b="0" lang="fr-FR" sz="1800" spc="-1" strike="noStrike" baseline="-25000">
                <a:solidFill>
                  <a:srgbClr val="404040"/>
                </a:solidFill>
                <a:latin typeface="Trebuchet MS"/>
              </a:rPr>
              <a:t>i</a:t>
            </a:r>
            <a:r>
              <a:rPr b="0" lang="fr-FR" sz="1800" spc="-1" strike="noStrike">
                <a:solidFill>
                  <a:srgbClr val="404040"/>
                </a:solidFill>
                <a:latin typeface="Trebuchet MS"/>
              </a:rPr>
              <a:t>(T) = 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Measures how important provider iii is for coalition T.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fr-FR" sz="1800" spc="-1" strike="noStrike">
                <a:solidFill>
                  <a:srgbClr val="404040"/>
                </a:solidFill>
                <a:latin typeface="Trebuchet MS"/>
              </a:rPr>
              <a:t>ψ</a:t>
            </a:r>
            <a:r>
              <a:rPr b="0" lang="fr-FR" sz="1800" spc="-1" strike="noStrike" baseline="-25000">
                <a:solidFill>
                  <a:srgbClr val="404040"/>
                </a:solidFill>
                <a:latin typeface="Trebuchet MS"/>
              </a:rPr>
              <a:t>i</a:t>
            </a:r>
            <a:r>
              <a:rPr b="0" lang="fr-FR" sz="1800" spc="-1" strike="noStrike">
                <a:solidFill>
                  <a:srgbClr val="404040"/>
                </a:solidFill>
                <a:latin typeface="Trebuchet MS"/>
              </a:rPr>
              <a:t>(T) = profit provider i actually gets.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307" name="Picture 2" descr=""/>
          <p:cNvPicPr/>
          <p:nvPr/>
        </p:nvPicPr>
        <p:blipFill>
          <a:blip r:embed="rId1"/>
          <a:stretch/>
        </p:blipFill>
        <p:spPr>
          <a:xfrm>
            <a:off x="1343520" y="2205000"/>
            <a:ext cx="5219280" cy="727560"/>
          </a:xfrm>
          <a:prstGeom prst="rect">
            <a:avLst/>
          </a:prstGeom>
          <a:ln w="0">
            <a:noFill/>
          </a:ln>
        </p:spPr>
      </p:pic>
      <p:pic>
        <p:nvPicPr>
          <p:cNvPr id="308" name="Picture 3" descr=""/>
          <p:cNvPicPr/>
          <p:nvPr/>
        </p:nvPicPr>
        <p:blipFill>
          <a:blip r:embed="rId2"/>
          <a:stretch/>
        </p:blipFill>
        <p:spPr>
          <a:xfrm>
            <a:off x="1487520" y="3357000"/>
            <a:ext cx="2376000" cy="647640"/>
          </a:xfrm>
          <a:prstGeom prst="rect">
            <a:avLst/>
          </a:prstGeom>
          <a:ln w="0">
            <a:noFill/>
          </a:ln>
        </p:spPr>
      </p:pic>
      <p:pic>
        <p:nvPicPr>
          <p:cNvPr id="309" name="Picture 4" descr=""/>
          <p:cNvPicPr/>
          <p:nvPr/>
        </p:nvPicPr>
        <p:blipFill>
          <a:blip r:embed="rId3"/>
          <a:stretch/>
        </p:blipFill>
        <p:spPr>
          <a:xfrm>
            <a:off x="1487520" y="4293000"/>
            <a:ext cx="2752200" cy="48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2" descr="C:\Users\Abhay\OneDrive\Pictures\Screenshots\Screenshot 2025-12-02 194125.png"/>
          <p:cNvPicPr/>
          <p:nvPr/>
        </p:nvPicPr>
        <p:blipFill>
          <a:blip r:embed="rId1"/>
          <a:stretch/>
        </p:blipFill>
        <p:spPr>
          <a:xfrm>
            <a:off x="623520" y="908640"/>
            <a:ext cx="8856720" cy="547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/>
          </p:nvPr>
        </p:nvSpPr>
        <p:spPr>
          <a:xfrm>
            <a:off x="78120" y="1268640"/>
            <a:ext cx="7848360" cy="388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Properties of the solution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Fair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 based on Banzhaf power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Stable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 no provider wants to leave its coalition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Efficient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 meets user demands with optimal profit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Decentralized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 providers decide based on their individual preferences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Scalable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 avoids trying all Bell-number partitions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Result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➡ 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System converges to a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stable set of federations</a:t>
            </a:r>
            <a:br>
              <a:rPr sz="1800"/>
            </a:b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➡ Maximum possible satisfaction and profit distribution</a:t>
            </a:r>
            <a:br>
              <a:rPr sz="1800"/>
            </a:b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➡ Cloud marketplace functions smoothly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182880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12" name="Rectangle 2"/>
          <p:cNvSpPr/>
          <p:nvPr/>
        </p:nvSpPr>
        <p:spPr>
          <a:xfrm>
            <a:off x="-520920" y="116640"/>
            <a:ext cx="82051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Final Outcome: Stable Cloud Federation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/>
          </p:nvPr>
        </p:nvSpPr>
        <p:spPr>
          <a:xfrm>
            <a:off x="335520" y="836640"/>
            <a:ext cx="8596440" cy="554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Cloud Federation Problem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collaborate to serve a VM request.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Must split total profit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fairly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among providers.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compare coalitions based on their own payoff.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Goal: reach a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stable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coalition where no one wants to leave.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1. Items ↔ Profit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In EFX, items are allocated.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In federation,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total profit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v(T) is allocated.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Profit is the “resource” being fairly divided.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2. Agents ↔ Cloud Providers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Each cloud provider = an agent with preferences.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Preferences depend on payoff: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14" name="Rectangle 2"/>
          <p:cNvSpPr/>
          <p:nvPr/>
        </p:nvSpPr>
        <p:spPr>
          <a:xfrm>
            <a:off x="-827280" y="116640"/>
            <a:ext cx="123091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Mapping Cloud Federation to Envy-Free Fair Allocation (EFX)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Picture 2" descr=""/>
          <p:cNvPicPr/>
          <p:nvPr/>
        </p:nvPicPr>
        <p:blipFill>
          <a:blip r:embed="rId1"/>
          <a:stretch/>
        </p:blipFill>
        <p:spPr>
          <a:xfrm>
            <a:off x="1775520" y="5747400"/>
            <a:ext cx="3800160" cy="41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/>
          </p:nvPr>
        </p:nvSpPr>
        <p:spPr>
          <a:xfrm>
            <a:off x="335520" y="21744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3. Fairness Criterion ↔ Envy-Freeness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Federation uses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Banzhaf-based payoff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This ensures no provider envies another: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get pay proportional to marginal contribution →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envy is minimized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, similar to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EFX fairness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4. Stability ↔ EFX + Pareto Efficiency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Pareto Efficiency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</a:t>
            </a:r>
            <a:br>
              <a:rPr sz="1800"/>
            </a:b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No other allocation of providers can give all of them higher payoff simultaneously.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Merge &amp; Split rules ensure: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No beneficial merge exists → Pareto optimal.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No beneficial split exists → no provider envies another coalition.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Final federation = </a:t>
            </a: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Pareto-efficient + envy-reduced allocation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, like EFX solutions.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317" name="Picture 2" descr=""/>
          <p:cNvPicPr/>
          <p:nvPr/>
        </p:nvPicPr>
        <p:blipFill>
          <a:blip r:embed="rId1"/>
          <a:stretch/>
        </p:blipFill>
        <p:spPr>
          <a:xfrm>
            <a:off x="3359520" y="1052640"/>
            <a:ext cx="2828520" cy="266400"/>
          </a:xfrm>
          <a:prstGeom prst="rect">
            <a:avLst/>
          </a:prstGeom>
          <a:ln w="0">
            <a:noFill/>
          </a:ln>
        </p:spPr>
      </p:pic>
      <p:pic>
        <p:nvPicPr>
          <p:cNvPr id="318" name="Picture 3" descr=""/>
          <p:cNvPicPr/>
          <p:nvPr/>
        </p:nvPicPr>
        <p:blipFill>
          <a:blip r:embed="rId2"/>
          <a:stretch/>
        </p:blipFill>
        <p:spPr>
          <a:xfrm>
            <a:off x="1271520" y="1917000"/>
            <a:ext cx="6078240" cy="38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/>
          </p:nvPr>
        </p:nvSpPr>
        <p:spPr>
          <a:xfrm>
            <a:off x="119160" y="404640"/>
            <a:ext cx="8596440" cy="532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3200" spc="-1" strike="noStrike">
                <a:solidFill>
                  <a:srgbClr val="404040"/>
                </a:solidFill>
                <a:latin typeface="Trebuchet MS"/>
              </a:rPr>
              <a:t>⭐ </a:t>
            </a:r>
            <a:r>
              <a:rPr b="1" lang="en-US" sz="3200" spc="-1" strike="noStrike">
                <a:solidFill>
                  <a:srgbClr val="404040"/>
                </a:solidFill>
                <a:latin typeface="Trebuchet MS"/>
              </a:rPr>
              <a:t>Conclusion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Cloud federation is equivalent to EFX-style fair allocation:</a:t>
            </a:r>
            <a:br>
              <a:rPr sz="1800"/>
            </a:b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Providers (agents) share profit (items) using Banzhaf fairness (envy-free), 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and merge–split stability ensures Pareto efficiency.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US" sz="2400" spc="-1" strike="noStrike">
                <a:solidFill>
                  <a:srgbClr val="404040"/>
                </a:solidFill>
                <a:latin typeface="Trebuchet MS"/>
              </a:rPr>
              <a:t>References: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Handbook of COMPUTATIONAL SOCIAL CHOICE.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Cloud Federation in the Sky : Formation Game and Mechanism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Trebuchet MS"/>
                <a:hlinkClick r:id="rId1"/>
              </a:rPr>
              <a:t>      https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Trebuchet MS"/>
                <a:hlinkClick r:id="rId2"/>
              </a:rPr>
              <a:t>://ieeexplore.ieee.org/document/6853386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EFX  using SAT       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Trebuchet MS"/>
                <a:hlinkClick r:id="rId3"/>
              </a:rPr>
              <a:t>https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Trebuchet MS"/>
                <a:hlinkClick r:id="rId4"/>
              </a:rPr>
              <a:t>://www.ifaamas.org/Proceedings/aamas2025/pdfs/p510.pdf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96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1" lang="en-IN" sz="7200" spc="-1" strike="noStrike">
                <a:solidFill>
                  <a:srgbClr val="404040"/>
                </a:solidFill>
                <a:latin typeface="Trebuchet MS"/>
              </a:rPr>
              <a:t>      </a:t>
            </a:r>
            <a:r>
              <a:rPr b="1" lang="en-IN" sz="7200" spc="-1" strike="noStrike">
                <a:solidFill>
                  <a:srgbClr val="404040"/>
                </a:solidFill>
                <a:latin typeface="Trebuchet MS"/>
              </a:rPr>
              <a:t>THANK YOU!</a:t>
            </a:r>
            <a:endParaRPr b="0" lang="en-US" sz="72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1280</TotalTime>
  <Application>LibreOffice/24.2.7.2$Linux_X86_64 LibreOffice_project/420$Build-2</Application>
  <AppVersion>15.0000</AppVersion>
  <Words>1045</Words>
  <Paragraphs>204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2025-09-02T08:38:52Z</dcterms:created>
  <dc:creator>Abhay</dc:creator>
  <dc:description/>
  <dc:language>en-US</dc:language>
  <cp:lastModifiedBy/>
  <dcterms:modified xsi:type="dcterms:W3CDTF">2025-12-05T14:18:10Z</dcterms:modified>
  <cp:revision>131</cp:revision>
  <dc:subject/>
  <dc:title>FAIR ALLOCATION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19</vt:i4>
  </property>
</Properties>
</file>