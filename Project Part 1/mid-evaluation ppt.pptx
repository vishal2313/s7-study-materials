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5" r:id="rId11"/>
    <p:sldId id="269" r:id="rId12"/>
  </p:sldIdLst>
  <p:sldSz cx="12192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403" y="2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8" y="-8467"/>
            <a:ext cx="12191997" cy="6866467"/>
            <a:chOff x="8" y="-8467"/>
            <a:chExt cx="12191997" cy="6866467"/>
          </a:xfrm>
        </p:grpSpPr>
        <p:cxnSp>
          <p:nvCxnSpPr>
            <p:cNvPr id="3" name="Straight Connector 31"/>
            <p:cNvCxnSpPr/>
            <p:nvPr/>
          </p:nvCxnSpPr>
          <p:spPr>
            <a:xfrm>
              <a:off x="9371008" y="0"/>
              <a:ext cx="1219207" cy="6858000"/>
            </a:xfrm>
            <a:prstGeom prst="straightConnector1">
              <a:avLst/>
            </a:prstGeom>
            <a:noFill/>
            <a:ln w="9528">
              <a:solidFill>
                <a:srgbClr val="BFBFBF"/>
              </a:solidFill>
              <a:prstDash val="solid"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266" y="3681410"/>
              <a:ext cx="4763557" cy="3176590"/>
            </a:xfrm>
            <a:prstGeom prst="straightConnector1">
              <a:avLst/>
            </a:prstGeom>
            <a:noFill/>
            <a:ln w="9528">
              <a:solidFill>
                <a:srgbClr val="D9D9D9"/>
              </a:solidFill>
              <a:prstDash val="solid"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72" y="-8467"/>
              <a:ext cx="3007351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007349"/>
                <a:gd name="f4" fmla="val 6866467"/>
                <a:gd name="f5" fmla="val 2045532"/>
                <a:gd name="f6" fmla="*/ f0 1 3007349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3007349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3007349" h="6866467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440" y="-8467"/>
              <a:ext cx="2588556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573311"/>
                <a:gd name="f4" fmla="val 6866467"/>
                <a:gd name="f5" fmla="val 1202336"/>
                <a:gd name="f6" fmla="*/ f0 1 2573311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2573311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2573311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" name="Isosceles Triangle 26"/>
            <p:cNvSpPr/>
            <p:nvPr/>
          </p:nvSpPr>
          <p:spPr>
            <a:xfrm>
              <a:off x="8932334" y="3047996"/>
              <a:ext cx="3259671" cy="3810003"/>
            </a:xfrm>
            <a:custGeom>
              <a:avLst>
                <a:gd name="f8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10000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96" y="-8467"/>
              <a:ext cx="2854327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858013"/>
                <a:gd name="f4" fmla="val 6866467"/>
                <a:gd name="f5" fmla="val 2473942"/>
                <a:gd name="f6" fmla="*/ f0 1 2858013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2858013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2858013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733" y="-8467"/>
              <a:ext cx="1290090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90094"/>
                <a:gd name="f4" fmla="val 6858000"/>
                <a:gd name="f5" fmla="val 1019735"/>
                <a:gd name="f6" fmla="*/ f0 1 1290094"/>
                <a:gd name="f7" fmla="*/ f1 1 6858000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290094"/>
                <a:gd name="f14" fmla="*/ f11 1 6858000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290094" h="6858000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94" y="-8467"/>
              <a:ext cx="1249829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49825"/>
                <a:gd name="f4" fmla="val 6858000"/>
                <a:gd name="f5" fmla="val 1109382"/>
                <a:gd name="f6" fmla="*/ f0 1 1249825"/>
                <a:gd name="f7" fmla="*/ f1 1 6858000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249825"/>
                <a:gd name="f14" fmla="*/ f11 1 6858000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249825" h="6858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11" name="Isosceles Triangle 30"/>
            <p:cNvSpPr/>
            <p:nvPr/>
          </p:nvSpPr>
          <p:spPr>
            <a:xfrm>
              <a:off x="10371664" y="3589870"/>
              <a:ext cx="1817159" cy="3268129"/>
            </a:xfrm>
            <a:custGeom>
              <a:avLst>
                <a:gd name="f8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10000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12" name="Isosceles Triangle 18"/>
            <p:cNvSpPr/>
            <p:nvPr/>
          </p:nvSpPr>
          <p:spPr>
            <a:xfrm rot="10799991">
              <a:off x="8" y="0"/>
              <a:ext cx="842592" cy="5666152"/>
            </a:xfrm>
            <a:custGeom>
              <a:avLst>
                <a:gd name="f8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10000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13" name="Title 1"/>
          <p:cNvSpPr txBox="1">
            <a:spLocks noGrp="1"/>
          </p:cNvSpPr>
          <p:nvPr>
            <p:ph type="ctrTitle"/>
          </p:nvPr>
        </p:nvSpPr>
        <p:spPr>
          <a:xfrm>
            <a:off x="1507068" y="2404533"/>
            <a:ext cx="7766931" cy="1646304"/>
          </a:xfrm>
        </p:spPr>
        <p:txBody>
          <a:bodyPr anchor="b"/>
          <a:lstStyle>
            <a:lvl1pPr algn="r">
              <a:defRPr sz="5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Subtitle 2"/>
          <p:cNvSpPr txBox="1">
            <a:spLocks noGrp="1"/>
          </p:cNvSpPr>
          <p:nvPr>
            <p:ph type="subTitle" idx="1"/>
          </p:nvPr>
        </p:nvSpPr>
        <p:spPr>
          <a:xfrm>
            <a:off x="1507068" y="4050828"/>
            <a:ext cx="7766931" cy="1096895"/>
          </a:xfrm>
        </p:spPr>
        <p:txBody>
          <a:bodyPr/>
          <a:lstStyle>
            <a:lvl1pPr marL="0" indent="0" algn="r">
              <a:buNone/>
              <a:defRPr>
                <a:solidFill>
                  <a:srgbClr val="7F7F7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A06421-98AD-4EAD-AEDF-5300ED3A6CB6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16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E58388-82C2-4F20-B1E6-AF089FF8AAC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02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1EDDB4-3BC4-48D0-9D17-63C4DFDB8617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8631EE-BFBB-4AB3-8444-389AA651A0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20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 txBox="1">
            <a:spLocks noGrp="1"/>
          </p:cNvSpPr>
          <p:nvPr>
            <p:ph type="body" idx="1"/>
          </p:nvPr>
        </p:nvSpPr>
        <p:spPr>
          <a:xfrm>
            <a:off x="677332" y="4527450"/>
            <a:ext cx="8596667" cy="860395"/>
          </a:xfrm>
        </p:spPr>
        <p:txBody>
          <a:bodyPr/>
          <a:lstStyle>
            <a:lvl1pPr marL="0" indent="0">
              <a:buNone/>
              <a:defRPr sz="20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549620-DDB9-4222-B8D5-ED3A06D7DEE1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C25996-6468-4763-8337-3B9A5434DA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37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1"/>
          </p:nvPr>
        </p:nvSpPr>
        <p:spPr>
          <a:xfrm>
            <a:off x="677332" y="2160590"/>
            <a:ext cx="4184038" cy="388076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/>
          <p:cNvSpPr txBox="1">
            <a:spLocks noGrp="1"/>
          </p:cNvSpPr>
          <p:nvPr>
            <p:ph idx="2"/>
          </p:nvPr>
        </p:nvSpPr>
        <p:spPr>
          <a:xfrm>
            <a:off x="5089971" y="2160590"/>
            <a:ext cx="4184038" cy="388076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53D41E-F973-47EA-9E6A-341B37FD2497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5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806EAF-3151-47FD-8004-FC9603B56D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06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 txBox="1">
            <a:spLocks noGrp="1"/>
          </p:cNvSpPr>
          <p:nvPr>
            <p:ph type="body" idx="1"/>
          </p:nvPr>
        </p:nvSpPr>
        <p:spPr>
          <a:xfrm>
            <a:off x="675741" y="2160983"/>
            <a:ext cx="4185620" cy="576264"/>
          </a:xfrm>
        </p:spPr>
        <p:txBody>
          <a:bodyPr anchor="b"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/>
          <p:cNvSpPr txBox="1">
            <a:spLocks noGrp="1"/>
          </p:cNvSpPr>
          <p:nvPr>
            <p:ph idx="2"/>
          </p:nvPr>
        </p:nvSpPr>
        <p:spPr>
          <a:xfrm>
            <a:off x="675741" y="2737247"/>
            <a:ext cx="4185620" cy="33041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4"/>
          <p:cNvSpPr txBox="1">
            <a:spLocks noGrp="1"/>
          </p:cNvSpPr>
          <p:nvPr>
            <p:ph type="body" idx="3"/>
          </p:nvPr>
        </p:nvSpPr>
        <p:spPr>
          <a:xfrm>
            <a:off x="5088379" y="2160983"/>
            <a:ext cx="4185620" cy="576264"/>
          </a:xfrm>
        </p:spPr>
        <p:txBody>
          <a:bodyPr anchor="b"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 txBox="1">
            <a:spLocks noGrp="1"/>
          </p:cNvSpPr>
          <p:nvPr>
            <p:ph idx="4"/>
          </p:nvPr>
        </p:nvSpPr>
        <p:spPr>
          <a:xfrm>
            <a:off x="5088379" y="2737247"/>
            <a:ext cx="4185620" cy="33041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76C0ED-C980-480B-BABC-F303102B1C9A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7" name="Footer Placeholder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4C7133-21D8-4606-ABDC-FF5BE8565C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92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887210-8979-43FA-98F1-6701F9F44CB9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3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CA1F18A-A11B-47E8-B4ED-7B6782A458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2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43D984-9FE6-4F40-9D08-37CB44A9FC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60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1"/>
          </p:nvPr>
        </p:nvSpPr>
        <p:spPr>
          <a:xfrm>
            <a:off x="4760457" y="514926"/>
            <a:ext cx="4513542" cy="552643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/>
          <p:cNvSpPr txBox="1">
            <a:spLocks noGrp="1"/>
          </p:cNvSpPr>
          <p:nvPr>
            <p:ph type="body" idx="2"/>
          </p:nvPr>
        </p:nvSpPr>
        <p:spPr>
          <a:xfrm>
            <a:off x="677332" y="2777069"/>
            <a:ext cx="3854525" cy="2584451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A5E30D-1174-4A15-8405-9314CE35DBD9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5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2C55A2B-F153-4D4A-8AE3-50F80FCFCD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04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 txBox="1">
            <a:spLocks noGrp="1"/>
          </p:cNvSpPr>
          <p:nvPr>
            <p:ph type="pic" idx="1"/>
          </p:nvPr>
        </p:nvSpPr>
        <p:spPr>
          <a:xfrm>
            <a:off x="677332" y="609603"/>
            <a:ext cx="8596667" cy="3845719"/>
          </a:xfrm>
        </p:spPr>
        <p:txBody>
          <a:bodyPr anchorCtr="1"/>
          <a:lstStyle>
            <a:lvl1pPr marL="0" indent="0" algn="ctr"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3" name="Text Placeholder 3"/>
          <p:cNvSpPr txBox="1">
            <a:spLocks noGrp="1"/>
          </p:cNvSpPr>
          <p:nvPr>
            <p:ph type="body" idx="2"/>
          </p:nvPr>
        </p:nvSpPr>
        <p:spPr>
          <a:xfrm>
            <a:off x="677332" y="5367335"/>
            <a:ext cx="8596667" cy="674022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6A9C70-5948-402E-AC3C-D0AD995F6B88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5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8DA18A6-DD41-4C63-8FCB-0D7BE34856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70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77332" y="4470401"/>
            <a:ext cx="8596667" cy="157095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EDA97E-1148-4B65-AFFF-B9C2B878D139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7C85FB-D768-459F-9FA6-03980395956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32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 txBox="1">
            <a:spLocks noGrp="1"/>
          </p:cNvSpPr>
          <p:nvPr>
            <p:ph type="body" idx="4294967295"/>
          </p:nvPr>
        </p:nvSpPr>
        <p:spPr>
          <a:xfrm>
            <a:off x="1366141" y="3632197"/>
            <a:ext cx="7224528" cy="381003"/>
          </a:xfrm>
        </p:spPr>
        <p:txBody>
          <a:bodyPr anchor="ctr"/>
          <a:lstStyle>
            <a:lvl1pPr marL="0" indent="0">
              <a:buNone/>
              <a:defRPr sz="16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77332" y="4470401"/>
            <a:ext cx="8596667" cy="157095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26ED0C-EFDA-4613-988F-929EC53859E9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3CA714-A098-45AE-9021-551839520C00}" type="slidenum">
              <a:t>‹#›</a:t>
            </a:fld>
            <a:endParaRPr lang="en-US"/>
          </a:p>
        </p:txBody>
      </p:sp>
      <p:sp>
        <p:nvSpPr>
          <p:cNvPr id="7" name="TextBox 19"/>
          <p:cNvSpPr txBox="1"/>
          <p:nvPr/>
        </p:nvSpPr>
        <p:spPr>
          <a:xfrm>
            <a:off x="541873" y="790379"/>
            <a:ext cx="609603" cy="584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C0E474"/>
                </a:solidFill>
                <a:uFillTx/>
                <a:latin typeface="Arial"/>
              </a:rPr>
              <a:t>“</a:t>
            </a:r>
          </a:p>
        </p:txBody>
      </p:sp>
      <p:sp>
        <p:nvSpPr>
          <p:cNvPr id="8" name="TextBox 21"/>
          <p:cNvSpPr txBox="1"/>
          <p:nvPr/>
        </p:nvSpPr>
        <p:spPr>
          <a:xfrm>
            <a:off x="8893015" y="2886559"/>
            <a:ext cx="609603" cy="584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C0E474"/>
                </a:solidFill>
                <a:uFillTx/>
                <a:latin typeface="Arial"/>
              </a:rPr>
              <a:t>”</a:t>
            </a:r>
            <a:endParaRPr lang="en-US" sz="1800" b="0" i="0" u="none" strike="noStrike" kern="1200" cap="none" spc="0" baseline="0">
              <a:solidFill>
                <a:srgbClr val="C0E474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9280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77332" y="4527450"/>
            <a:ext cx="8596667" cy="15139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5DE03B-EB98-400E-A9FE-7229A7764FFA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88BC05-E075-478A-B293-FBB53CDBB13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65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 txBox="1">
            <a:spLocks noGrp="1"/>
          </p:cNvSpPr>
          <p:nvPr>
            <p:ph type="body" idx="4294967295"/>
          </p:nvPr>
        </p:nvSpPr>
        <p:spPr>
          <a:xfrm>
            <a:off x="677332" y="4013201"/>
            <a:ext cx="8596667" cy="514249"/>
          </a:xfrm>
        </p:spPr>
        <p:txBody>
          <a:bodyPr anchor="b"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77332" y="4527450"/>
            <a:ext cx="8596667" cy="1513917"/>
          </a:xfrm>
        </p:spPr>
        <p:txBody>
          <a:bodyPr/>
          <a:lstStyle>
            <a:lvl1pPr marL="0" indent="0">
              <a:buNone/>
              <a:defRPr>
                <a:solidFill>
                  <a:srgbClr val="7F7F7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F617AE3-90CA-43F0-B4C4-AF47D4E29A71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C0DB5E-007F-43C0-96B0-7920FEC8AC70}" type="slidenum">
              <a:t>‹#›</a:t>
            </a:fld>
            <a:endParaRPr lang="en-US"/>
          </a:p>
        </p:txBody>
      </p:sp>
      <p:sp>
        <p:nvSpPr>
          <p:cNvPr id="7" name="TextBox 23"/>
          <p:cNvSpPr txBox="1"/>
          <p:nvPr/>
        </p:nvSpPr>
        <p:spPr>
          <a:xfrm>
            <a:off x="541873" y="790379"/>
            <a:ext cx="609603" cy="584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C0E474"/>
                </a:solidFill>
                <a:uFillTx/>
                <a:latin typeface="Arial"/>
              </a:rPr>
              <a:t>“</a:t>
            </a:r>
          </a:p>
        </p:txBody>
      </p:sp>
      <p:sp>
        <p:nvSpPr>
          <p:cNvPr id="8" name="TextBox 24"/>
          <p:cNvSpPr txBox="1"/>
          <p:nvPr/>
        </p:nvSpPr>
        <p:spPr>
          <a:xfrm>
            <a:off x="8893015" y="2886559"/>
            <a:ext cx="609603" cy="584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C0E474"/>
                </a:solidFill>
                <a:uFillTx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9872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 txBox="1">
            <a:spLocks noGrp="1"/>
          </p:cNvSpPr>
          <p:nvPr>
            <p:ph type="body" idx="4294967295"/>
          </p:nvPr>
        </p:nvSpPr>
        <p:spPr>
          <a:xfrm>
            <a:off x="677332" y="4013201"/>
            <a:ext cx="8596667" cy="514249"/>
          </a:xfrm>
        </p:spPr>
        <p:txBody>
          <a:bodyPr anchor="b"/>
          <a:lstStyle>
            <a:lvl1pPr marL="0" indent="0">
              <a:buNone/>
              <a:defRPr sz="2400">
                <a:solidFill>
                  <a:srgbClr val="90C22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77332" y="4527450"/>
            <a:ext cx="8596667" cy="1513917"/>
          </a:xfrm>
        </p:spPr>
        <p:txBody>
          <a:bodyPr/>
          <a:lstStyle>
            <a:lvl1pPr marL="0" indent="0">
              <a:buNone/>
              <a:defRPr>
                <a:solidFill>
                  <a:srgbClr val="7F7F7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271DB2-D802-4EA0-8C53-A27959EF5CA9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694FA6-22AE-4E35-AF71-B6FED450A4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B42EDE-C952-445C-A22D-5AE920C5BD82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464FAF-F4AD-44C6-94D7-9102ED1065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26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677332" y="609603"/>
            <a:ext cx="7060146" cy="525145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E33750-E123-4D76-B02B-E4F8138A08B5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AFB87F-DA3E-4B86-9E1C-BBFBC3C1EEC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52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467"/>
            <a:ext cx="12192005" cy="6866467"/>
            <a:chOff x="0" y="-8467"/>
            <a:chExt cx="12192005" cy="6866467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1008" y="0"/>
              <a:ext cx="1219207" cy="6858000"/>
            </a:xfrm>
            <a:prstGeom prst="straightConnector1">
              <a:avLst/>
            </a:prstGeom>
            <a:noFill/>
            <a:ln w="9528">
              <a:solidFill>
                <a:srgbClr val="BFBFBF"/>
              </a:solidFill>
              <a:prstDash val="solid"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266" y="3681410"/>
              <a:ext cx="4763557" cy="3176590"/>
            </a:xfrm>
            <a:prstGeom prst="straightConnector1">
              <a:avLst/>
            </a:prstGeom>
            <a:noFill/>
            <a:ln w="9528">
              <a:solidFill>
                <a:srgbClr val="D9D9D9"/>
              </a:solidFill>
              <a:prstDash val="solid"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72" y="-8467"/>
              <a:ext cx="3007351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007349"/>
                <a:gd name="f4" fmla="val 6866467"/>
                <a:gd name="f5" fmla="val 2045532"/>
                <a:gd name="f6" fmla="*/ f0 1 3007349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3007349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3007349" h="6866467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440" y="-8467"/>
              <a:ext cx="2588556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573311"/>
                <a:gd name="f4" fmla="val 6866467"/>
                <a:gd name="f5" fmla="val 1202336"/>
                <a:gd name="f6" fmla="*/ f0 1 2573311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2573311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2573311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34" y="3047996"/>
              <a:ext cx="3259671" cy="3810003"/>
            </a:xfrm>
            <a:custGeom>
              <a:avLst>
                <a:gd name="f8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10000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96" y="-8467"/>
              <a:ext cx="2854327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858013"/>
                <a:gd name="f4" fmla="val 6866467"/>
                <a:gd name="f5" fmla="val 2473942"/>
                <a:gd name="f6" fmla="*/ f0 1 2858013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2858013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2858013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733" y="-8467"/>
              <a:ext cx="1290090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90094"/>
                <a:gd name="f4" fmla="val 6858000"/>
                <a:gd name="f5" fmla="val 1019735"/>
                <a:gd name="f6" fmla="*/ f0 1 1290094"/>
                <a:gd name="f7" fmla="*/ f1 1 6858000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290094"/>
                <a:gd name="f14" fmla="*/ f11 1 6858000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290094" h="6858000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94" y="-8467"/>
              <a:ext cx="1249829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49825"/>
                <a:gd name="f4" fmla="val 6858000"/>
                <a:gd name="f5" fmla="val 1109382"/>
                <a:gd name="f6" fmla="*/ f0 1 1249825"/>
                <a:gd name="f7" fmla="*/ f1 1 6858000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249825"/>
                <a:gd name="f14" fmla="*/ f11 1 6858000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249825" h="6858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64" y="3589870"/>
              <a:ext cx="1817159" cy="3268129"/>
            </a:xfrm>
            <a:custGeom>
              <a:avLst>
                <a:gd name="f8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10000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01"/>
              <a:ext cx="448732" cy="2844798"/>
            </a:xfrm>
            <a:custGeom>
              <a:avLst>
                <a:gd name="f8" fmla="val 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>
              <a:noFill/>
              <a:prstDash val="solid"/>
            </a:ln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13" name="Title Placeholder 1"/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13207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 txBox="1">
            <a:spLocks noGrp="1"/>
          </p:cNvSpPr>
          <p:nvPr>
            <p:ph type="body" idx="1"/>
          </p:nvPr>
        </p:nvSpPr>
        <p:spPr>
          <a:xfrm>
            <a:off x="677332" y="2160590"/>
            <a:ext cx="8596667" cy="38807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7205133" y="6041358"/>
            <a:ext cx="91194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898989"/>
                </a:solidFill>
                <a:uFillTx/>
                <a:latin typeface="Trebuchet MS"/>
              </a:defRPr>
            </a:lvl1pPr>
          </a:lstStyle>
          <a:p>
            <a:pPr lvl="0"/>
            <a:fld id="{1CE493BA-8893-4B14-955E-AE36932F796C}" type="datetime1">
              <a:rPr lang="en-US"/>
              <a:pPr lvl="0"/>
              <a:t>10/8/2025</a:t>
            </a:fld>
            <a:endParaRPr lang="en-US"/>
          </a:p>
        </p:txBody>
      </p:sp>
      <p:sp>
        <p:nvSpPr>
          <p:cNvPr id="16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677332" y="6041358"/>
            <a:ext cx="6297609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898989"/>
                </a:solidFill>
                <a:uFillTx/>
                <a:latin typeface="Trebuchet M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90659" y="6041358"/>
            <a:ext cx="68334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90C226"/>
                </a:solidFill>
                <a:uFillTx/>
                <a:latin typeface="Trebuchet MS"/>
              </a:defRPr>
            </a:lvl1pPr>
          </a:lstStyle>
          <a:p>
            <a:pPr lvl="0"/>
            <a:fld id="{A2A953D5-4750-481D-8AFD-FF660B69EA4C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marL="0" marR="0" lvl="0" indent="0" algn="l" defTabSz="4572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200" cap="none" spc="0" baseline="0">
          <a:solidFill>
            <a:srgbClr val="90C226"/>
          </a:solidFill>
          <a:uFillTx/>
          <a:latin typeface="Trebuchet MS"/>
        </a:defRPr>
      </a:lvl1pPr>
    </p:titleStyle>
    <p:bodyStyle>
      <a:lvl1pPr marL="342900" marR="0" lvl="0" indent="-3429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90C226"/>
        </a:buClr>
        <a:buSzPct val="80000"/>
        <a:buFont typeface="Wingdings 3"/>
        <a:buChar char=""/>
        <a:tabLst/>
        <a:defRPr lang="en-US" sz="1800" b="0" i="0" u="none" strike="noStrike" kern="1200" cap="none" spc="0" baseline="0">
          <a:solidFill>
            <a:srgbClr val="404040"/>
          </a:solidFill>
          <a:uFillTx/>
          <a:latin typeface="Trebuchet MS"/>
        </a:defRPr>
      </a:lvl1pPr>
      <a:lvl2pPr marL="742950" marR="0" lvl="1" indent="-28575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90C226"/>
        </a:buClr>
        <a:buSzPct val="80000"/>
        <a:buFont typeface="Wingdings 3"/>
        <a:buChar char=""/>
        <a:tabLst/>
        <a:defRPr lang="en-US" sz="1600" b="0" i="0" u="none" strike="noStrike" kern="1200" cap="none" spc="0" baseline="0">
          <a:solidFill>
            <a:srgbClr val="404040"/>
          </a:solidFill>
          <a:uFillTx/>
          <a:latin typeface="Trebuchet MS"/>
        </a:defRPr>
      </a:lvl2pPr>
      <a:lvl3pPr marL="1143000" marR="0" lvl="2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90C226"/>
        </a:buClr>
        <a:buSzPct val="80000"/>
        <a:buFont typeface="Wingdings 3"/>
        <a:buChar char=""/>
        <a:tabLst/>
        <a:defRPr lang="en-US" sz="1400" b="0" i="0" u="none" strike="noStrike" kern="1200" cap="none" spc="0" baseline="0">
          <a:solidFill>
            <a:srgbClr val="404040"/>
          </a:solidFill>
          <a:uFillTx/>
          <a:latin typeface="Trebuchet MS"/>
        </a:defRPr>
      </a:lvl3pPr>
      <a:lvl4pPr marL="1600200" marR="0" lvl="3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90C226"/>
        </a:buClr>
        <a:buSzPct val="80000"/>
        <a:buFont typeface="Wingdings 3"/>
        <a:buChar char=""/>
        <a:tabLst/>
        <a:defRPr lang="en-US" sz="1200" b="0" i="0" u="none" strike="noStrike" kern="1200" cap="none" spc="0" baseline="0">
          <a:solidFill>
            <a:srgbClr val="404040"/>
          </a:solidFill>
          <a:uFillTx/>
          <a:latin typeface="Trebuchet MS"/>
        </a:defRPr>
      </a:lvl4pPr>
      <a:lvl5pPr marL="2057400" marR="0" lvl="4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90C226"/>
        </a:buClr>
        <a:buSzPct val="80000"/>
        <a:buFont typeface="Wingdings 3"/>
        <a:buChar char=""/>
        <a:tabLst/>
        <a:defRPr lang="en-US" sz="1200" b="0" i="0" u="none" strike="noStrike" kern="1200" cap="none" spc="0" baseline="0">
          <a:solidFill>
            <a:srgbClr val="404040"/>
          </a:solidFill>
          <a:uFillTx/>
          <a:latin typeface="Trebuchet MS"/>
        </a:defRPr>
      </a:lvl5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-888776" y="620688"/>
            <a:ext cx="9144000" cy="707023"/>
          </a:xfrm>
        </p:spPr>
        <p:txBody>
          <a:bodyPr/>
          <a:lstStyle/>
          <a:p>
            <a:pPr lvl="0"/>
            <a:r>
              <a:rPr lang="en-GB" dirty="0"/>
              <a:t>FAIR ALLOCATION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983432" y="1988840"/>
            <a:ext cx="9144000" cy="4463680"/>
          </a:xfrm>
          <a:solidFill>
            <a:srgbClr val="FFFFFF"/>
          </a:solidFill>
          <a:ln w="19046">
            <a:solidFill>
              <a:srgbClr val="54A021"/>
            </a:solidFill>
            <a:prstDash val="solid"/>
          </a:ln>
        </p:spPr>
        <p:txBody>
          <a:bodyPr/>
          <a:lstStyle/>
          <a:p>
            <a:pPr lvl="0" algn="l"/>
            <a:endParaRPr lang="en-US" sz="1400" dirty="0">
              <a:solidFill>
                <a:srgbClr val="4C94D8"/>
              </a:solidFill>
              <a:latin typeface="Calibri"/>
              <a:ea typeface="Calibri"/>
              <a:cs typeface="Calibri"/>
            </a:endParaRPr>
          </a:p>
          <a:p>
            <a:pPr lvl="0" algn="l"/>
            <a:r>
              <a:rPr lang="en-US" sz="2800" b="1" dirty="0">
                <a:latin typeface="Calibri"/>
                <a:ea typeface="Calibri"/>
                <a:cs typeface="Calibri"/>
              </a:rPr>
              <a:t>Topic:</a:t>
            </a:r>
            <a:r>
              <a:rPr lang="en-US" sz="2800" dirty="0">
                <a:latin typeface="Calibri"/>
                <a:ea typeface="Calibri"/>
                <a:cs typeface="Calibri"/>
              </a:rPr>
              <a:t> Theory of Fair Allocation (Envy-Free)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b="1" dirty="0">
                <a:latin typeface="Calibri"/>
                <a:ea typeface="Calibri"/>
                <a:cs typeface="Calibri"/>
              </a:rPr>
              <a:t>Course: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 smtClean="0">
                <a:latin typeface="Calibri"/>
                <a:ea typeface="Calibri"/>
                <a:cs typeface="Calibri"/>
              </a:rPr>
              <a:t>B.Tech</a:t>
            </a:r>
            <a:r>
              <a:rPr lang="en-US" sz="2800" dirty="0" smtClean="0">
                <a:latin typeface="Calibri"/>
                <a:ea typeface="Calibri"/>
                <a:cs typeface="Calibri"/>
              </a:rPr>
              <a:t>. Final </a:t>
            </a:r>
            <a:r>
              <a:rPr lang="en-US" sz="2800" dirty="0">
                <a:latin typeface="Calibri"/>
                <a:ea typeface="Calibri"/>
                <a:cs typeface="Calibri"/>
              </a:rPr>
              <a:t>Year </a:t>
            </a:r>
            <a:r>
              <a:rPr lang="en-US" sz="2800" dirty="0" smtClean="0">
                <a:latin typeface="Calibri"/>
                <a:ea typeface="Calibri"/>
                <a:cs typeface="Calibri"/>
              </a:rPr>
              <a:t>Project(Part-1)</a:t>
            </a:r>
          </a:p>
          <a:p>
            <a:pPr lvl="0" algn="l"/>
            <a:r>
              <a:rPr lang="en-US" sz="2800" dirty="0">
                <a:latin typeface="Calibri"/>
                <a:ea typeface="Calibri"/>
                <a:cs typeface="Calibri"/>
              </a:rPr>
              <a:t/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b="1" dirty="0">
                <a:latin typeface="Calibri"/>
                <a:ea typeface="Calibri"/>
                <a:cs typeface="Calibri"/>
              </a:rPr>
              <a:t>Prepared By</a:t>
            </a:r>
            <a:r>
              <a:rPr lang="en-US" sz="2800" b="1" dirty="0" smtClean="0">
                <a:latin typeface="Calibri"/>
                <a:ea typeface="Calibri"/>
                <a:cs typeface="Calibri"/>
              </a:rPr>
              <a:t>:</a:t>
            </a:r>
            <a:endParaRPr lang="en-US" sz="2800" b="1" dirty="0" smtClean="0">
              <a:latin typeface="Calibri"/>
              <a:ea typeface="Calibri"/>
              <a:cs typeface="Calibri"/>
            </a:endParaRPr>
          </a:p>
          <a:p>
            <a:pPr algn="l"/>
            <a:r>
              <a:rPr lang="en-US" sz="2800" b="1" dirty="0" smtClean="0">
                <a:latin typeface="Calibri"/>
                <a:ea typeface="Calibri"/>
                <a:cs typeface="Calibri"/>
              </a:rPr>
              <a:t>B220088CS – ABHAY KUMAR BHARTI</a:t>
            </a:r>
            <a:endParaRPr lang="en-US" sz="2800" b="1" dirty="0">
              <a:latin typeface="Calibri"/>
              <a:ea typeface="Calibri"/>
              <a:cs typeface="Calibri"/>
            </a:endParaRPr>
          </a:p>
          <a:p>
            <a:pPr lvl="0" algn="l"/>
            <a:r>
              <a:rPr lang="en-US" sz="2800" b="1" dirty="0">
                <a:latin typeface="Calibri"/>
                <a:ea typeface="Calibri"/>
                <a:cs typeface="Calibri"/>
              </a:rPr>
              <a:t>B220736CS – ASHUTOSH RANJAN</a:t>
            </a:r>
            <a:endParaRPr lang="en-GB" sz="2800" dirty="0">
              <a:latin typeface="Calibri"/>
              <a:ea typeface="Calibri"/>
              <a:cs typeface="Calibri"/>
            </a:endParaRPr>
          </a:p>
          <a:p>
            <a:pPr lvl="0" algn="l"/>
            <a:r>
              <a:rPr lang="en-US" sz="2800" b="1" dirty="0">
                <a:latin typeface="Calibri"/>
                <a:ea typeface="Calibri"/>
                <a:cs typeface="Calibri"/>
              </a:rPr>
              <a:t>B220589CS – VISHAL SONKAR</a:t>
            </a:r>
            <a:endParaRPr lang="en-GB" sz="2800" dirty="0">
              <a:latin typeface="Calibri"/>
              <a:ea typeface="Calibri"/>
              <a:cs typeface="Calibri"/>
            </a:endParaRPr>
          </a:p>
          <a:p>
            <a:pPr lvl="0" algn="l"/>
            <a:endParaRPr lang="en-GB" sz="2800" dirty="0">
              <a:latin typeface="Calibri"/>
              <a:ea typeface="Calibri"/>
              <a:cs typeface="Calibri"/>
            </a:endParaRPr>
          </a:p>
          <a:p>
            <a:pPr lvl="0"/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13207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 dirty="0">
                <a:solidFill>
                  <a:srgbClr val="4C94D8"/>
                </a:solidFill>
                <a:latin typeface="Calibri"/>
                <a:ea typeface="Calibri"/>
                <a:cs typeface="Calibri"/>
              </a:rPr>
              <a:t>Introduction to Fair Allocation</a:t>
            </a:r>
            <a:endParaRPr lang="en-GB" dirty="0">
              <a:solidFill>
                <a:srgbClr val="4C94D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915009"/>
          </a:xfrm>
        </p:spPr>
        <p:txBody>
          <a:bodyPr/>
          <a:lstStyle/>
          <a:p>
            <a:pPr lvl="0"/>
            <a:r>
              <a:rPr lang="en-US" sz="2400" b="1" dirty="0" smtClean="0">
                <a:latin typeface="Calibri"/>
                <a:ea typeface="Calibri"/>
                <a:cs typeface="Calibri"/>
              </a:rPr>
              <a:t>Definition:</a:t>
            </a:r>
            <a:r>
              <a:rPr lang="en-US" sz="2400" dirty="0" smtClean="0">
                <a:latin typeface="Calibri"/>
                <a:ea typeface="Calibri"/>
                <a:cs typeface="Calibri"/>
              </a:rPr>
              <a:t> Fair allocation is the study of how to distribute resources among agents in a fair manner.</a:t>
            </a:r>
            <a:endParaRPr lang="en-GB" sz="2400" dirty="0" smtClean="0">
              <a:latin typeface="Calibri"/>
              <a:ea typeface="Calibri"/>
              <a:cs typeface="Calibri"/>
            </a:endParaRPr>
          </a:p>
          <a:p>
            <a:r>
              <a:rPr lang="en-IN" dirty="0" smtClean="0"/>
              <a:t> </a:t>
            </a:r>
            <a:r>
              <a:rPr lang="en-IN" b="1" dirty="0" smtClean="0"/>
              <a:t>Goal: </a:t>
            </a:r>
            <a:r>
              <a:rPr lang="en-IN" dirty="0" smtClean="0"/>
              <a:t>Divide resources E among agents {1, 2, ..., n} fairly.</a:t>
            </a:r>
          </a:p>
          <a:p>
            <a:r>
              <a:rPr lang="en-IN" b="1" dirty="0" smtClean="0"/>
              <a:t>Allocation: </a:t>
            </a:r>
            <a:r>
              <a:rPr lang="en-IN" dirty="0" smtClean="0"/>
              <a:t>x = (x₁, x₂, ..., xₙ) with </a:t>
            </a:r>
            <a:r>
              <a:rPr lang="el-GR" dirty="0" smtClean="0"/>
              <a:t>Σ</a:t>
            </a:r>
            <a:r>
              <a:rPr lang="en-IN" dirty="0" smtClean="0"/>
              <a:t>xᵢ = E</a:t>
            </a:r>
          </a:p>
          <a:p>
            <a:endParaRPr lang="en-IN" dirty="0" smtClean="0"/>
          </a:p>
          <a:p>
            <a:r>
              <a:rPr lang="en-IN" b="1" dirty="0" smtClean="0"/>
              <a:t>Objectives:</a:t>
            </a:r>
          </a:p>
          <a:p>
            <a:r>
              <a:rPr lang="en-IN" dirty="0" smtClean="0"/>
              <a:t>•</a:t>
            </a:r>
            <a:r>
              <a:rPr lang="en-IN" b="1" dirty="0" smtClean="0"/>
              <a:t> Fairness</a:t>
            </a:r>
            <a:r>
              <a:rPr lang="en-IN" dirty="0" smtClean="0"/>
              <a:t> → Everyone feels treated justly</a:t>
            </a:r>
          </a:p>
          <a:p>
            <a:r>
              <a:rPr lang="en-IN" dirty="0" smtClean="0"/>
              <a:t>•</a:t>
            </a:r>
            <a:r>
              <a:rPr lang="en-IN" b="1" dirty="0" smtClean="0"/>
              <a:t> Efficiency </a:t>
            </a:r>
            <a:r>
              <a:rPr lang="en-IN" dirty="0" smtClean="0"/>
              <a:t>→ No waste</a:t>
            </a:r>
          </a:p>
          <a:p>
            <a:r>
              <a:rPr lang="en-IN" dirty="0" smtClean="0"/>
              <a:t>•</a:t>
            </a:r>
            <a:r>
              <a:rPr lang="en-IN" b="1" dirty="0" smtClean="0"/>
              <a:t> Envy-Freeness </a:t>
            </a:r>
            <a:r>
              <a:rPr lang="en-IN" dirty="0" smtClean="0"/>
              <a:t>→ No one prefers someone else’s share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13207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 dirty="0">
                <a:solidFill>
                  <a:srgbClr val="4C94D8"/>
                </a:solidFill>
                <a:latin typeface="Calibri"/>
                <a:ea typeface="Calibri"/>
                <a:cs typeface="Calibri"/>
              </a:rPr>
              <a:t>Components of a Resource Allocation Problem</a:t>
            </a:r>
            <a:endParaRPr lang="en-US" dirty="0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551384" y="1916832"/>
            <a:ext cx="8596667" cy="4941168"/>
          </a:xfrm>
        </p:spPr>
        <p:txBody>
          <a:bodyPr/>
          <a:lstStyle/>
          <a:p>
            <a:pPr marL="0" lvl="0" indent="0">
              <a:buNone/>
            </a:pPr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     STRUCTURAL COMPONENTS</a:t>
            </a:r>
          </a:p>
          <a:p>
            <a:pPr lvl="0"/>
            <a:r>
              <a:rPr lang="en-US" sz="2000" b="1" dirty="0" smtClean="0">
                <a:latin typeface="Calibri"/>
                <a:ea typeface="Calibri"/>
                <a:cs typeface="Calibri"/>
              </a:rPr>
              <a:t>Agents</a:t>
            </a:r>
            <a:r>
              <a:rPr lang="en-US" sz="2000" b="1" dirty="0">
                <a:latin typeface="Calibri"/>
                <a:ea typeface="Calibri"/>
                <a:cs typeface="Calibri"/>
              </a:rPr>
              <a:t>: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Individuals are entities competing for resources.</a:t>
            </a:r>
            <a:r>
              <a:rPr lang="en-US" sz="2000" dirty="0">
                <a:latin typeface="Calibri"/>
                <a:ea typeface="Calibri"/>
                <a:cs typeface="Calibri"/>
              </a:rPr>
              <a:t/>
            </a:r>
            <a:br>
              <a:rPr lang="en-US" sz="2000" dirty="0">
                <a:latin typeface="Calibri"/>
                <a:ea typeface="Calibri"/>
                <a:cs typeface="Calibri"/>
              </a:rPr>
            </a:br>
            <a:r>
              <a:rPr lang="en-US" sz="2000" dirty="0" smtClean="0">
                <a:latin typeface="Calibri"/>
                <a:ea typeface="Calibri"/>
                <a:cs typeface="Calibri"/>
              </a:rPr>
              <a:t> Example</a:t>
            </a:r>
            <a:r>
              <a:rPr lang="en-US" sz="2000" dirty="0">
                <a:latin typeface="Calibri"/>
                <a:ea typeface="Calibri"/>
                <a:cs typeface="Calibri"/>
              </a:rPr>
              <a:t>: 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People, firms, government agencies or even AI systems.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 dirty="0">
                <a:latin typeface="Calibri"/>
                <a:ea typeface="Calibri"/>
                <a:cs typeface="Calibri"/>
              </a:rPr>
              <a:t>Resource Data:</a:t>
            </a:r>
            <a:r>
              <a:rPr lang="en-US" sz="2000" dirty="0">
                <a:latin typeface="Calibri"/>
                <a:ea typeface="Calibri"/>
                <a:cs typeface="Calibri"/>
              </a:rPr>
              <a:t> Goods to be distributed 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.</a:t>
            </a:r>
            <a:r>
              <a:rPr lang="en-US" sz="2000" dirty="0">
                <a:latin typeface="Calibri"/>
                <a:ea typeface="Calibri"/>
                <a:cs typeface="Calibri"/>
              </a:rPr>
              <a:t/>
            </a:r>
            <a:br>
              <a:rPr lang="en-US" sz="2000" dirty="0">
                <a:latin typeface="Calibri"/>
                <a:ea typeface="Calibri"/>
                <a:cs typeface="Calibri"/>
              </a:rPr>
            </a:br>
            <a:r>
              <a:rPr lang="en-US" sz="2000" dirty="0">
                <a:latin typeface="Calibri"/>
                <a:ea typeface="Calibri"/>
                <a:cs typeface="Calibri"/>
              </a:rPr>
              <a:t>Example: 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food, money, time.</a:t>
            </a:r>
            <a:endParaRPr lang="en-GB" sz="2000" dirty="0" smtClean="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 dirty="0" smtClean="0">
                <a:latin typeface="Calibri"/>
                <a:ea typeface="Calibri"/>
                <a:cs typeface="Calibri"/>
              </a:rPr>
              <a:t>Preferences/utility functions- 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each agent has a preference over how much of each resource they get.</a:t>
            </a:r>
          </a:p>
          <a:p>
            <a:pPr lvl="0"/>
            <a:r>
              <a:rPr lang="en-US" sz="2000" b="1" dirty="0">
                <a:latin typeface="Calibri"/>
                <a:ea typeface="Calibri"/>
                <a:cs typeface="Calibri"/>
              </a:rPr>
              <a:t> </a:t>
            </a:r>
            <a:r>
              <a:rPr lang="en-US" sz="2000" b="1" dirty="0" smtClean="0">
                <a:latin typeface="Calibri"/>
                <a:ea typeface="Calibri"/>
                <a:cs typeface="Calibri"/>
              </a:rPr>
              <a:t>     </a:t>
            </a:r>
            <a:r>
              <a:rPr lang="en-US" sz="2000" b="1" dirty="0" err="1" smtClean="0">
                <a:latin typeface="Calibri"/>
                <a:ea typeface="Calibri"/>
                <a:cs typeface="Calibri"/>
              </a:rPr>
              <a:t>U</a:t>
            </a:r>
            <a:r>
              <a:rPr lang="en-US" sz="2000" b="1" baseline="-25000" dirty="0" err="1" smtClean="0">
                <a:latin typeface="Calibri"/>
                <a:ea typeface="Calibri"/>
                <a:cs typeface="Calibri"/>
              </a:rPr>
              <a:t>i</a:t>
            </a:r>
            <a:r>
              <a:rPr lang="en-US" sz="2000" b="1" dirty="0" smtClean="0">
                <a:latin typeface="Calibri"/>
                <a:ea typeface="Calibri"/>
                <a:cs typeface="Calibri"/>
              </a:rPr>
              <a:t>(x</a:t>
            </a:r>
            <a:r>
              <a:rPr lang="en-US" sz="2000" b="1" baseline="-25000" dirty="0" smtClean="0">
                <a:latin typeface="Calibri"/>
                <a:ea typeface="Calibri"/>
                <a:cs typeface="Calibri"/>
              </a:rPr>
              <a:t>i</a:t>
            </a:r>
            <a:r>
              <a:rPr lang="en-US" sz="2000" b="1" dirty="0" smtClean="0">
                <a:latin typeface="Calibri"/>
                <a:ea typeface="Calibri"/>
                <a:cs typeface="Calibri"/>
              </a:rPr>
              <a:t>) 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– agent </a:t>
            </a:r>
            <a:r>
              <a:rPr lang="en-US" sz="2000" dirty="0" err="1" smtClean="0">
                <a:latin typeface="Calibri"/>
                <a:ea typeface="Calibri"/>
                <a:cs typeface="Calibri"/>
              </a:rPr>
              <a:t>i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 is more satisfied with allocation x</a:t>
            </a:r>
            <a:r>
              <a:rPr lang="en-US" sz="2000" baseline="-25000" dirty="0" smtClean="0">
                <a:latin typeface="Calibri"/>
                <a:ea typeface="Calibri"/>
                <a:cs typeface="Calibri"/>
              </a:rPr>
              <a:t>i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 </a:t>
            </a:r>
            <a:r>
              <a:rPr lang="en-US" sz="2000" baseline="-25000" dirty="0" smtClean="0">
                <a:latin typeface="Calibri"/>
                <a:ea typeface="Calibri"/>
                <a:cs typeface="Calibri"/>
              </a:rPr>
              <a:t>.</a:t>
            </a:r>
          </a:p>
          <a:p>
            <a:pPr lvl="0"/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INFORMATIONAL COMPONENTS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 dirty="0">
                <a:latin typeface="Calibri"/>
                <a:ea typeface="Calibri"/>
                <a:cs typeface="Calibri"/>
              </a:rPr>
              <a:t>Priority Data:</a:t>
            </a:r>
            <a:r>
              <a:rPr lang="en-US" sz="2000" dirty="0">
                <a:latin typeface="Calibri"/>
                <a:ea typeface="Calibri"/>
                <a:cs typeface="Calibri"/>
              </a:rPr>
              <a:t> Precedence rules.</a:t>
            </a:r>
            <a:br>
              <a:rPr lang="en-US" sz="2000" dirty="0">
                <a:latin typeface="Calibri"/>
                <a:ea typeface="Calibri"/>
                <a:cs typeface="Calibri"/>
              </a:rPr>
            </a:br>
            <a:r>
              <a:rPr lang="en-US" sz="2000" dirty="0">
                <a:latin typeface="Calibri"/>
                <a:ea typeface="Calibri"/>
                <a:cs typeface="Calibri"/>
              </a:rPr>
              <a:t>Example: Seat allotment based on exam rank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 dirty="0">
                <a:latin typeface="Calibri"/>
                <a:ea typeface="Calibri"/>
                <a:cs typeface="Calibri"/>
              </a:rPr>
              <a:t>Bounds:</a:t>
            </a:r>
            <a:r>
              <a:rPr lang="en-US" sz="2000" dirty="0">
                <a:latin typeface="Calibri"/>
                <a:ea typeface="Calibri"/>
                <a:cs typeface="Calibri"/>
              </a:rPr>
              <a:t> Limits on minimum/maximum allocation.</a:t>
            </a:r>
            <a:br>
              <a:rPr lang="en-US" sz="2000" dirty="0">
                <a:latin typeface="Calibri"/>
                <a:ea typeface="Calibri"/>
                <a:cs typeface="Calibri"/>
              </a:rPr>
            </a:br>
            <a:r>
              <a:rPr lang="en-US" sz="2000" dirty="0">
                <a:latin typeface="Calibri"/>
                <a:ea typeface="Calibri"/>
                <a:cs typeface="Calibri"/>
              </a:rPr>
              <a:t>Example: Each student must get at least one room slot.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0"/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13207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>
                <a:solidFill>
                  <a:srgbClr val="4C94D8"/>
                </a:solidFill>
                <a:latin typeface="Calibri"/>
                <a:ea typeface="Calibri"/>
                <a:cs typeface="Calibri"/>
              </a:rPr>
              <a:t>Types of Resource Allocation Problems</a:t>
            </a:r>
            <a:endParaRPr 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b="1" dirty="0" smtClean="0">
                <a:latin typeface="Calibri"/>
                <a:ea typeface="Calibri"/>
                <a:cs typeface="Calibri"/>
              </a:rPr>
              <a:t>Classical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Fair Division:</a:t>
            </a:r>
            <a:r>
              <a:rPr lang="en-US" sz="2000" dirty="0">
                <a:latin typeface="Calibri"/>
                <a:ea typeface="Calibri"/>
                <a:cs typeface="Calibri"/>
              </a:rPr>
              <a:t> Divisible goods like land or food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.</a:t>
            </a:r>
          </a:p>
          <a:p>
            <a:pPr marL="0" indent="0">
              <a:buNone/>
            </a:pPr>
            <a:r>
              <a:rPr lang="en-US" sz="1600" dirty="0" smtClean="0"/>
              <a:t>       Example: Divide 1 cake among 3 people → x₁ + x₂ + x₃ = 1</a:t>
            </a:r>
          </a:p>
          <a:p>
            <a:pPr marL="0" indent="0">
              <a:buNone/>
            </a:pPr>
            <a:r>
              <a:rPr lang="en-US" sz="1600" dirty="0" smtClean="0"/>
              <a:t>                      Each prefers their own piece → envy-free and efficient.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 dirty="0">
                <a:latin typeface="Calibri"/>
                <a:ea typeface="Calibri"/>
                <a:cs typeface="Calibri"/>
              </a:rPr>
              <a:t>Claims Problems:</a:t>
            </a:r>
            <a:r>
              <a:rPr lang="en-US" sz="2000" dirty="0">
                <a:latin typeface="Calibri"/>
                <a:ea typeface="Calibri"/>
                <a:cs typeface="Calibri"/>
              </a:rPr>
              <a:t> Claims exceed resources 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(e.g., bankruptcy).</a:t>
            </a:r>
          </a:p>
          <a:p>
            <a:pPr lvl="0"/>
            <a:endParaRPr lang="en-GB" sz="2000" dirty="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 dirty="0" smtClean="0">
                <a:latin typeface="Calibri"/>
                <a:ea typeface="Calibri"/>
                <a:cs typeface="Calibri"/>
              </a:rPr>
              <a:t>Object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Allocation:</a:t>
            </a:r>
            <a:r>
              <a:rPr lang="en-US" sz="2000" dirty="0">
                <a:latin typeface="Calibri"/>
                <a:ea typeface="Calibri"/>
                <a:cs typeface="Calibri"/>
              </a:rPr>
              <a:t> Indivisible goods like rooms, laptops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.</a:t>
            </a:r>
          </a:p>
          <a:p>
            <a:pPr lvl="0"/>
            <a:endParaRPr lang="en-GB" sz="2000" dirty="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 dirty="0">
                <a:latin typeface="Calibri"/>
                <a:ea typeface="Calibri"/>
                <a:cs typeface="Calibri"/>
              </a:rPr>
              <a:t>Priority  </a:t>
            </a:r>
            <a:r>
              <a:rPr lang="en-US" sz="2000" b="1" dirty="0" smtClean="0">
                <a:latin typeface="Calibri"/>
                <a:ea typeface="Calibri"/>
                <a:cs typeface="Calibri"/>
              </a:rPr>
              <a:t>Based Allocation</a:t>
            </a:r>
            <a:r>
              <a:rPr lang="en-US" sz="2000" b="1" dirty="0">
                <a:latin typeface="Calibri"/>
                <a:ea typeface="Calibri"/>
                <a:cs typeface="Calibri"/>
              </a:rPr>
              <a:t>:</a:t>
            </a:r>
            <a:r>
              <a:rPr lang="en-US" sz="2000" dirty="0">
                <a:latin typeface="Calibri"/>
                <a:ea typeface="Calibri"/>
                <a:cs typeface="Calibri"/>
              </a:rPr>
              <a:t> School seat allocation with 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quotas.</a:t>
            </a:r>
            <a:endParaRPr lang="en-GB" sz="2000" dirty="0" smtClean="0">
              <a:latin typeface="Calibri"/>
              <a:ea typeface="Calibri"/>
              <a:cs typeface="Calibri"/>
            </a:endParaRPr>
          </a:p>
          <a:p>
            <a:pPr marL="0" lvl="0" indent="0">
              <a:buNone/>
            </a:pPr>
            <a:endParaRPr lang="en-GB" sz="2000" dirty="0">
              <a:latin typeface="Calibri"/>
              <a:ea typeface="Calibri"/>
              <a:cs typeface="Calibri"/>
            </a:endParaRPr>
          </a:p>
          <a:p>
            <a:pPr lvl="0"/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13207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 dirty="0">
                <a:solidFill>
                  <a:srgbClr val="4C94D8"/>
                </a:solidFill>
                <a:latin typeface="Calibri"/>
                <a:ea typeface="Calibri"/>
                <a:cs typeface="Calibri"/>
              </a:rPr>
              <a:t>Mathematical Expressions</a:t>
            </a:r>
            <a:endParaRPr lang="en-US" dirty="0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677332" y="2160590"/>
            <a:ext cx="8596667" cy="4697410"/>
          </a:xfrm>
        </p:spPr>
        <p:txBody>
          <a:bodyPr/>
          <a:lstStyle/>
          <a:p>
            <a:pPr lvl="0"/>
            <a:r>
              <a:rPr lang="en-US" sz="2000" b="1" dirty="0">
                <a:latin typeface="Calibri"/>
                <a:ea typeface="Calibri"/>
                <a:cs typeface="Calibri"/>
              </a:rPr>
              <a:t>Pareto Efficiency:</a:t>
            </a:r>
            <a:br>
              <a:rPr lang="en-US" sz="2000" b="1" dirty="0">
                <a:latin typeface="Calibri"/>
                <a:ea typeface="Calibri"/>
                <a:cs typeface="Calibri"/>
              </a:rPr>
            </a:br>
            <a:r>
              <a:rPr lang="en-US" sz="2000" dirty="0">
                <a:latin typeface="Calibri"/>
                <a:ea typeface="Calibri"/>
                <a:cs typeface="Calibri"/>
              </a:rPr>
              <a:t>x is efficient if there is no x′ such that</a:t>
            </a:r>
            <a:r>
              <a:rPr lang="en-US" sz="2000" b="1" dirty="0">
                <a:latin typeface="Calibri"/>
                <a:ea typeface="Calibri"/>
                <a:cs typeface="Calibri"/>
              </a:rPr>
              <a:t> </a:t>
            </a:r>
            <a:r>
              <a:rPr lang="en-US" sz="2000" dirty="0">
                <a:latin typeface="Cambria Math"/>
                <a:ea typeface="Cambria Math"/>
              </a:rPr>
              <a:t>∀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smtClean="0"/>
              <a:t> , </a:t>
            </a:r>
            <a:r>
              <a:rPr lang="en-US" sz="2000" b="1" dirty="0" smtClean="0"/>
              <a:t>x’ᵢ </a:t>
            </a:r>
            <a:r>
              <a:rPr lang="en-US" sz="2000" dirty="0">
                <a:latin typeface="Arial"/>
                <a:cs typeface="Arial"/>
              </a:rPr>
              <a:t> </a:t>
            </a:r>
            <a:r>
              <a:rPr lang="en-US" sz="2000" b="1" dirty="0" smtClean="0"/>
              <a:t>≽ᵢ</a:t>
            </a:r>
            <a:r>
              <a:rPr lang="en-US" sz="2000" dirty="0" smtClean="0"/>
              <a:t> </a:t>
            </a:r>
            <a:r>
              <a:rPr lang="en-US" sz="2000" dirty="0">
                <a:latin typeface="Arial"/>
                <a:cs typeface="Arial"/>
              </a:rPr>
              <a:t> </a:t>
            </a:r>
            <a:r>
              <a:rPr lang="en-US" sz="2000" b="1" dirty="0" smtClean="0"/>
              <a:t>xᵢ</a:t>
            </a:r>
            <a:r>
              <a:rPr lang="en-US" sz="2000" dirty="0" smtClean="0"/>
              <a:t> </a:t>
            </a:r>
            <a:r>
              <a:rPr lang="en-US" sz="2000" dirty="0">
                <a:latin typeface="Arial"/>
                <a:cs typeface="Arial"/>
              </a:rPr>
              <a:t> </a:t>
            </a:r>
            <a:r>
              <a:rPr lang="en-US" sz="2000" dirty="0"/>
              <a:t>, </a:t>
            </a:r>
            <a:r>
              <a:rPr lang="en-US" sz="2000" dirty="0" smtClean="0"/>
              <a:t> </a:t>
            </a:r>
            <a:r>
              <a:rPr lang="en-US" sz="2000" dirty="0" smtClean="0">
                <a:latin typeface="Cambria Math"/>
                <a:ea typeface="Cambria Math"/>
              </a:rPr>
              <a:t>∃</a:t>
            </a:r>
            <a:r>
              <a:rPr lang="en-US" sz="2000" dirty="0"/>
              <a:t>j , </a:t>
            </a:r>
            <a:r>
              <a:rPr lang="en-US" sz="2000" b="1" dirty="0" smtClean="0"/>
              <a:t> x’ⱼ</a:t>
            </a:r>
            <a:r>
              <a:rPr lang="en-US" sz="2000" dirty="0" smtClean="0"/>
              <a:t> </a:t>
            </a:r>
            <a:r>
              <a:rPr lang="en-US" sz="2000" dirty="0">
                <a:latin typeface="Arial"/>
                <a:cs typeface="Arial"/>
              </a:rPr>
              <a:t> </a:t>
            </a:r>
            <a:r>
              <a:rPr lang="en-US" sz="2000" b="1" dirty="0" smtClean="0"/>
              <a:t>≽ⱼ 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b="1" dirty="0" smtClean="0"/>
              <a:t>xⱼ </a:t>
            </a:r>
            <a:r>
              <a:rPr lang="en-US" sz="2000" dirty="0">
                <a:latin typeface="Arial"/>
                <a:cs typeface="Arial"/>
              </a:rPr>
              <a:t> </a:t>
            </a:r>
            <a:r>
              <a:rPr lang="en-US" sz="2000" dirty="0" smtClean="0">
                <a:latin typeface="Arial"/>
                <a:cs typeface="Arial"/>
              </a:rPr>
              <a:t>.</a:t>
            </a:r>
            <a:r>
              <a:rPr lang="en-US" sz="2000" dirty="0">
                <a:latin typeface="Arial"/>
                <a:cs typeface="Arial"/>
              </a:rPr>
              <a:t/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Meaning: No one can be made better off without making someone else worse off.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 dirty="0">
                <a:latin typeface="Calibri"/>
                <a:ea typeface="Calibri"/>
                <a:cs typeface="Calibri"/>
              </a:rPr>
              <a:t>No Envy Condition:</a:t>
            </a:r>
            <a:br>
              <a:rPr lang="en-US" sz="2000" b="1" dirty="0">
                <a:latin typeface="Calibri"/>
                <a:ea typeface="Calibri"/>
                <a:cs typeface="Calibri"/>
              </a:rPr>
            </a:br>
            <a:r>
              <a:rPr lang="en-US" sz="2000" b="1" dirty="0" smtClean="0">
                <a:latin typeface="Calibri"/>
                <a:ea typeface="Calibri"/>
                <a:cs typeface="Calibri"/>
              </a:rPr>
              <a:t>                                     ∄</a:t>
            </a:r>
            <a:r>
              <a:rPr lang="en-US" sz="2000" dirty="0">
                <a:latin typeface="Calibri"/>
                <a:ea typeface="Calibri"/>
                <a:cs typeface="Calibri"/>
              </a:rPr>
              <a:t>(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i,j</a:t>
            </a:r>
            <a:r>
              <a:rPr lang="en-US" sz="2000" dirty="0">
                <a:latin typeface="Calibri"/>
                <a:ea typeface="Calibri"/>
                <a:cs typeface="Calibri"/>
              </a:rPr>
              <a:t>) 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: </a:t>
            </a:r>
            <a:r>
              <a:rPr lang="en-US" sz="2000" dirty="0" err="1" smtClean="0">
                <a:latin typeface="Calibri"/>
                <a:ea typeface="Calibri"/>
                <a:cs typeface="Calibri"/>
              </a:rPr>
              <a:t>x</a:t>
            </a:r>
            <a:r>
              <a:rPr lang="en-US" sz="2000" baseline="-25000" dirty="0" err="1" smtClean="0">
                <a:latin typeface="Calibri"/>
                <a:ea typeface="Calibri"/>
                <a:cs typeface="Calibri"/>
              </a:rPr>
              <a:t>j</a:t>
            </a:r>
            <a:r>
              <a:rPr lang="en-US" sz="2000" baseline="-25000" dirty="0" smtClean="0">
                <a:latin typeface="Calibri"/>
                <a:ea typeface="Calibri"/>
                <a:cs typeface="Calibri"/>
              </a:rPr>
              <a:t> </a:t>
            </a:r>
            <a:r>
              <a:rPr lang="en-US" sz="2000" dirty="0" smtClean="0">
                <a:latin typeface="Cambria Math"/>
                <a:ea typeface="Cambria Math"/>
              </a:rPr>
              <a:t>≻</a:t>
            </a:r>
            <a:r>
              <a:rPr lang="en-US" sz="2000" baseline="-25000" dirty="0" err="1" smtClean="0">
                <a:latin typeface="Calibri"/>
                <a:ea typeface="Calibri"/>
                <a:cs typeface="Calibri"/>
              </a:rPr>
              <a:t>i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 x</a:t>
            </a:r>
            <a:r>
              <a:rPr lang="en-US" sz="2000" baseline="-25000" dirty="0" smtClean="0">
                <a:latin typeface="Calibri"/>
                <a:ea typeface="Calibri"/>
                <a:cs typeface="Calibri"/>
              </a:rPr>
              <a:t>i</a:t>
            </a:r>
            <a:r>
              <a:rPr lang="en-US" sz="2000" dirty="0">
                <a:latin typeface="Calibri"/>
                <a:ea typeface="Calibri"/>
                <a:cs typeface="Calibri"/>
              </a:rPr>
              <a:t/>
            </a:r>
            <a:br>
              <a:rPr lang="en-US" sz="2000" dirty="0">
                <a:latin typeface="Calibri"/>
                <a:ea typeface="Calibri"/>
                <a:cs typeface="Calibri"/>
              </a:rPr>
            </a:br>
            <a:r>
              <a:rPr lang="en-US" sz="2000" dirty="0">
                <a:latin typeface="Calibri"/>
                <a:ea typeface="Calibri"/>
                <a:cs typeface="Calibri"/>
              </a:rPr>
              <a:t>Meaning: 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smtClean="0">
                <a:ea typeface="Calibri"/>
                <a:cs typeface="Calibri"/>
              </a:rPr>
              <a:t>there do not exist agent </a:t>
            </a:r>
            <a:r>
              <a:rPr lang="en-US" sz="2000" dirty="0" err="1" smtClean="0">
                <a:ea typeface="Calibri"/>
                <a:cs typeface="Calibri"/>
              </a:rPr>
              <a:t>i,j</a:t>
            </a:r>
            <a:r>
              <a:rPr lang="en-US" sz="2000" dirty="0" smtClean="0">
                <a:ea typeface="Calibri"/>
                <a:cs typeface="Calibri"/>
              </a:rPr>
              <a:t> such that </a:t>
            </a:r>
            <a:r>
              <a:rPr lang="en-US" sz="2000" dirty="0" err="1" smtClean="0">
                <a:ea typeface="Calibri"/>
                <a:cs typeface="Calibri"/>
              </a:rPr>
              <a:t>i</a:t>
            </a:r>
            <a:r>
              <a:rPr lang="en-US" sz="2000" dirty="0" smtClean="0">
                <a:ea typeface="Calibri"/>
                <a:cs typeface="Calibri"/>
              </a:rPr>
              <a:t> prefers </a:t>
            </a:r>
            <a:r>
              <a:rPr lang="en-IN" sz="2000" dirty="0" smtClean="0"/>
              <a:t>j’s share over their own.</a:t>
            </a:r>
            <a:endParaRPr lang="en-US" sz="2000" dirty="0" smtClean="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 dirty="0" smtClean="0">
                <a:latin typeface="Calibri"/>
                <a:ea typeface="Calibri"/>
                <a:cs typeface="Calibri"/>
              </a:rPr>
              <a:t>Egalitarian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Equivalence:</a:t>
            </a:r>
            <a:br>
              <a:rPr lang="en-US" sz="2000" b="1" dirty="0">
                <a:latin typeface="Calibri"/>
                <a:ea typeface="Calibri"/>
                <a:cs typeface="Calibri"/>
              </a:rPr>
            </a:br>
            <a:r>
              <a:rPr lang="en-US" sz="2000" b="1" dirty="0">
                <a:latin typeface="Calibri"/>
                <a:ea typeface="Calibri"/>
                <a:cs typeface="Calibri"/>
              </a:rPr>
              <a:t>∃</a:t>
            </a:r>
            <a:r>
              <a:rPr lang="en-US" sz="2000" dirty="0">
                <a:latin typeface="Calibri"/>
                <a:ea typeface="Calibri"/>
                <a:cs typeface="Calibri"/>
              </a:rPr>
              <a:t>x</a:t>
            </a:r>
            <a:r>
              <a:rPr lang="en-US" sz="2000" baseline="-25000" dirty="0">
                <a:latin typeface="Calibri"/>
                <a:ea typeface="Calibri"/>
                <a:cs typeface="Calibri"/>
              </a:rPr>
              <a:t>0 </a:t>
            </a:r>
            <a:r>
              <a:rPr lang="en-US" sz="2000" dirty="0">
                <a:latin typeface="Calibri"/>
                <a:ea typeface="Calibri"/>
                <a:cs typeface="Calibri"/>
              </a:rPr>
              <a:t>: </a:t>
            </a:r>
            <a:r>
              <a:rPr lang="en-US" sz="2000" dirty="0" smtClean="0">
                <a:latin typeface="Cambria Math"/>
                <a:ea typeface="Cambria Math"/>
              </a:rPr>
              <a:t>∀</a:t>
            </a:r>
            <a:r>
              <a:rPr lang="en-US" sz="2000" dirty="0" err="1" smtClean="0">
                <a:latin typeface="Calibri"/>
                <a:ea typeface="Calibri"/>
                <a:cs typeface="Calibri"/>
              </a:rPr>
              <a:t>i</a:t>
            </a:r>
            <a:r>
              <a:rPr lang="en-US" sz="2000" dirty="0" smtClean="0">
                <a:latin typeface="Calibri"/>
                <a:ea typeface="Calibri"/>
                <a:cs typeface="Calibri"/>
              </a:rPr>
              <a:t>,  </a:t>
            </a:r>
            <a:r>
              <a:rPr lang="en-US" sz="2000" dirty="0">
                <a:latin typeface="Calibri"/>
                <a:ea typeface="Calibri"/>
                <a:cs typeface="Calibri"/>
              </a:rPr>
              <a:t>x</a:t>
            </a:r>
            <a:r>
              <a:rPr lang="en-US" sz="2000" baseline="-25000" dirty="0">
                <a:latin typeface="Calibri"/>
                <a:ea typeface="Calibri"/>
                <a:cs typeface="Calibri"/>
              </a:rPr>
              <a:t>i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>
                <a:latin typeface="Cambria Math"/>
                <a:ea typeface="Cambria Math"/>
              </a:rPr>
              <a:t>∼</a:t>
            </a:r>
            <a:r>
              <a:rPr lang="en-US" sz="2000" baseline="-250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2000" dirty="0">
                <a:latin typeface="Calibri"/>
                <a:ea typeface="Calibri"/>
                <a:cs typeface="Calibri"/>
              </a:rPr>
              <a:t> x</a:t>
            </a:r>
            <a:r>
              <a:rPr lang="en-US" sz="2000" baseline="-25000" dirty="0">
                <a:latin typeface="Calibri"/>
                <a:ea typeface="Calibri"/>
                <a:cs typeface="Calibri"/>
              </a:rPr>
              <a:t>0</a:t>
            </a:r>
            <a:r>
              <a:rPr lang="en-US" sz="2000" dirty="0">
                <a:latin typeface="Calibri"/>
                <a:ea typeface="Calibri"/>
                <a:cs typeface="Calibri"/>
              </a:rPr>
              <a:t/>
            </a:r>
            <a:br>
              <a:rPr lang="en-US" sz="2000" dirty="0">
                <a:latin typeface="Calibri"/>
                <a:ea typeface="Calibri"/>
                <a:cs typeface="Calibri"/>
              </a:rPr>
            </a:br>
            <a:r>
              <a:rPr lang="en-US" sz="2000" dirty="0">
                <a:latin typeface="Calibri"/>
                <a:ea typeface="Calibri"/>
                <a:cs typeface="Calibri"/>
              </a:rPr>
              <a:t>Meaning: Each agent’s allocation is as good as a common reference bundle.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0"/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13207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Axiomatic Principles (with Examples)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b="1">
                <a:latin typeface="Calibri"/>
                <a:ea typeface="Calibri"/>
                <a:cs typeface="Calibri"/>
              </a:rPr>
              <a:t>Equal Treatment of Equals:</a:t>
            </a:r>
            <a:r>
              <a:rPr lang="en-US" sz="2000">
                <a:latin typeface="Calibri"/>
                <a:ea typeface="Calibri"/>
                <a:cs typeface="Calibri"/>
              </a:rPr>
              <a:t> Identical agents get identical allocations.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Example: Two workers with same skill should get equal wages.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>
                <a:latin typeface="Calibri"/>
                <a:ea typeface="Calibri"/>
                <a:cs typeface="Calibri"/>
              </a:rPr>
              <a:t>No Domination by Equal Division:</a:t>
            </a:r>
            <a:r>
              <a:rPr lang="en-US" sz="2000">
                <a:latin typeface="Calibri"/>
                <a:ea typeface="Calibri"/>
                <a:cs typeface="Calibri"/>
              </a:rPr>
              <a:t> No one should get strictly more than an equal share.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Example: If dividing 10 chocolates among 5 kids, no child should get &gt;2 while others get &lt;2.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>
                <a:latin typeface="Calibri"/>
                <a:ea typeface="Calibri"/>
                <a:cs typeface="Calibri"/>
              </a:rPr>
              <a:t>Solidarity (Monotonicity):</a:t>
            </a:r>
            <a:r>
              <a:rPr lang="en-US" sz="2000">
                <a:latin typeface="Calibri"/>
                <a:ea typeface="Calibri"/>
                <a:cs typeface="Calibri"/>
              </a:rPr>
              <a:t> Everyone benefits or loses together.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Example: If total cake increases, everyone’s piece should increase or stay same.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lvl="0"/>
            <a:r>
              <a:rPr lang="en-US" sz="2000" b="1">
                <a:latin typeface="Calibri"/>
                <a:ea typeface="Calibri"/>
                <a:cs typeface="Calibri"/>
              </a:rPr>
              <a:t>Consistency:</a:t>
            </a:r>
            <a:r>
              <a:rPr lang="en-US" sz="2000">
                <a:latin typeface="Calibri"/>
                <a:ea typeface="Calibri"/>
                <a:cs typeface="Calibri"/>
              </a:rPr>
              <a:t> After some people leave with their shares, the remaining allocation should remain fair.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Example: If 2 out of 5 friends leave with their part of the cake, the division among the rest should still be fair.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lvl="0"/>
            <a:endParaRPr lang="en-GB" sz="2000">
              <a:latin typeface="Calibri"/>
              <a:ea typeface="Calibri"/>
              <a:cs typeface="Calibri"/>
            </a:endParaRPr>
          </a:p>
          <a:p>
            <a:pPr lvl="0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3" y="104168"/>
            <a:ext cx="10515600" cy="12003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Rules for Fair Allocation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838203" y="1303705"/>
            <a:ext cx="10515600" cy="6136291"/>
          </a:xfrm>
        </p:spPr>
        <p:txBody>
          <a:bodyPr/>
          <a:lstStyle/>
          <a:p>
            <a:r>
              <a:rPr lang="en-US" b="1" dirty="0" smtClean="0"/>
              <a:t>1. Equal Division Rule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Each agent receives an equal share of total resources:</a:t>
            </a:r>
            <a:br>
              <a:rPr lang="en-US" dirty="0" smtClean="0"/>
            </a:br>
            <a:r>
              <a:rPr lang="en-US" dirty="0" smtClean="0"/>
              <a:t>      </a:t>
            </a:r>
            <a:r>
              <a:rPr lang="en-US" b="1" dirty="0" smtClean="0"/>
              <a:t>xᵢ = E / 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➡ Everyone gets the same amount.</a:t>
            </a:r>
          </a:p>
          <a:p>
            <a:pPr marL="0" indent="0">
              <a:buNone/>
            </a:pPr>
            <a:r>
              <a:rPr lang="en-US" dirty="0" smtClean="0"/>
              <a:t>          </a:t>
            </a:r>
            <a:r>
              <a:rPr lang="en-US" i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        If total cake </a:t>
            </a:r>
            <a:r>
              <a:rPr lang="en-US" b="1" dirty="0" smtClean="0"/>
              <a:t>E = 1</a:t>
            </a:r>
            <a:r>
              <a:rPr lang="en-US" dirty="0" smtClean="0"/>
              <a:t>, and </a:t>
            </a:r>
            <a:r>
              <a:rPr lang="en-US" b="1" dirty="0" smtClean="0"/>
              <a:t>n = 4</a:t>
            </a:r>
            <a:r>
              <a:rPr lang="en-US" dirty="0" smtClean="0"/>
              <a:t> people, then each gets </a:t>
            </a:r>
            <a:r>
              <a:rPr lang="en-US" b="1" dirty="0" smtClean="0"/>
              <a:t>1/4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2. Deferred Acceptance Rule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Used in </a:t>
            </a:r>
            <a:r>
              <a:rPr lang="en-US" b="1" dirty="0" smtClean="0"/>
              <a:t>school choice</a:t>
            </a:r>
            <a:r>
              <a:rPr lang="en-US" dirty="0" smtClean="0"/>
              <a:t> and </a:t>
            </a:r>
            <a:r>
              <a:rPr lang="en-US" b="1" dirty="0" smtClean="0"/>
              <a:t>matching problems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  Students apply to preferred schools, schools accept based on priority.</a:t>
            </a:r>
            <a:br>
              <a:rPr lang="en-US" dirty="0" smtClean="0"/>
            </a:br>
            <a:r>
              <a:rPr lang="en-US" dirty="0" smtClean="0"/>
              <a:t>   Produces </a:t>
            </a:r>
            <a:r>
              <a:rPr lang="en-US" b="1" dirty="0" smtClean="0"/>
              <a:t>stable</a:t>
            </a:r>
            <a:r>
              <a:rPr lang="en-US" dirty="0" smtClean="0"/>
              <a:t> and </a:t>
            </a:r>
            <a:r>
              <a:rPr lang="en-US" b="1" dirty="0" smtClean="0"/>
              <a:t>envy-free</a:t>
            </a:r>
            <a:r>
              <a:rPr lang="en-US" dirty="0" smtClean="0"/>
              <a:t> allocations.</a:t>
            </a:r>
          </a:p>
          <a:p>
            <a:r>
              <a:rPr lang="en-US" dirty="0" smtClean="0"/>
              <a:t>  </a:t>
            </a:r>
            <a:r>
              <a:rPr lang="en-US" i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Students ranked by test score; algorithm ensures no student has justified envy.</a:t>
            </a:r>
          </a:p>
          <a:p>
            <a:pPr lvl="0"/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51384" y="1133455"/>
            <a:ext cx="8596667" cy="5679921"/>
          </a:xfrm>
        </p:spPr>
        <p:txBody>
          <a:bodyPr/>
          <a:lstStyle/>
          <a:p>
            <a:r>
              <a:rPr lang="en-US" b="1" dirty="0" smtClean="0"/>
              <a:t>How to Design an Envy-Free Allocation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Step 1: Identify Model Type</a:t>
            </a:r>
            <a:endParaRPr lang="en-US" dirty="0" smtClean="0"/>
          </a:p>
          <a:p>
            <a:r>
              <a:rPr lang="en-US" dirty="0" smtClean="0"/>
              <a:t>Are goods </a:t>
            </a:r>
            <a:r>
              <a:rPr lang="en-US" b="1" dirty="0" smtClean="0"/>
              <a:t>Divisible</a:t>
            </a:r>
            <a:r>
              <a:rPr lang="en-US" dirty="0" smtClean="0"/>
              <a:t> or </a:t>
            </a:r>
            <a:r>
              <a:rPr lang="en-US" b="1" dirty="0" smtClean="0"/>
              <a:t>Indivisible</a:t>
            </a:r>
            <a:r>
              <a:rPr lang="en-US" dirty="0" smtClean="0"/>
              <a:t>?</a:t>
            </a:r>
          </a:p>
          <a:p>
            <a:r>
              <a:rPr lang="en-US" dirty="0" smtClean="0"/>
              <a:t>Are we allowed to use </a:t>
            </a:r>
            <a:r>
              <a:rPr lang="en-US" b="1" dirty="0" smtClean="0"/>
              <a:t>Money</a:t>
            </a:r>
            <a:r>
              <a:rPr lang="en-US" dirty="0" smtClean="0"/>
              <a:t> (compensation).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 smtClean="0"/>
              <a:t>Step 2: Apply Axioms</a:t>
            </a:r>
            <a:endParaRPr lang="en-US" dirty="0" smtClean="0"/>
          </a:p>
          <a:p>
            <a:r>
              <a:rPr lang="en-US" dirty="0" smtClean="0"/>
              <a:t>Check </a:t>
            </a:r>
            <a:r>
              <a:rPr lang="en-US" b="1" dirty="0" smtClean="0"/>
              <a:t>No Envy</a:t>
            </a:r>
            <a:endParaRPr lang="en-US" dirty="0" smtClean="0"/>
          </a:p>
          <a:p>
            <a:r>
              <a:rPr lang="en-US" dirty="0" smtClean="0"/>
              <a:t>Check </a:t>
            </a:r>
            <a:r>
              <a:rPr lang="en-US" b="1" dirty="0" smtClean="0"/>
              <a:t>Pareto Efficiency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Step 3: Use Suitable Rule</a:t>
            </a:r>
            <a:endParaRPr lang="en-US" dirty="0" smtClean="0"/>
          </a:p>
          <a:p>
            <a:r>
              <a:rPr lang="en-US" b="1" dirty="0" smtClean="0"/>
              <a:t>Deferred Acceptance</a:t>
            </a:r>
            <a:r>
              <a:rPr lang="en-US" dirty="0" smtClean="0"/>
              <a:t> → for priority</a:t>
            </a:r>
          </a:p>
          <a:p>
            <a:r>
              <a:rPr lang="en-US" b="1" dirty="0" smtClean="0"/>
              <a:t>Lotteries or money</a:t>
            </a:r>
            <a:r>
              <a:rPr lang="en-US" dirty="0" smtClean="0"/>
              <a:t> → for indivisible goods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055440" y="548680"/>
            <a:ext cx="67576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How to Design an Envy-Free Allocation</a:t>
            </a:r>
            <a:endParaRPr lang="en-US" sz="3200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051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41050" y="260648"/>
            <a:ext cx="8596667" cy="731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 dirty="0">
                <a:solidFill>
                  <a:srgbClr val="4C94D8"/>
                </a:solidFill>
                <a:latin typeface="Calibri"/>
                <a:ea typeface="Calibri"/>
                <a:cs typeface="Calibri"/>
              </a:rPr>
              <a:t>Real-Life Applications</a:t>
            </a:r>
            <a:endParaRPr lang="en-GB" dirty="0">
              <a:solidFill>
                <a:srgbClr val="4C94D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335360" y="980728"/>
            <a:ext cx="8596667" cy="2448272"/>
          </a:xfrm>
        </p:spPr>
        <p:txBody>
          <a:bodyPr/>
          <a:lstStyle/>
          <a:p>
            <a:pPr marL="0" lvl="0" indent="0">
              <a:buNone/>
            </a:pPr>
            <a:endParaRPr lang="en-US" b="1" dirty="0" smtClean="0"/>
          </a:p>
          <a:p>
            <a:pPr lvl="0"/>
            <a:r>
              <a:rPr lang="en-US" b="1" dirty="0" smtClean="0"/>
              <a:t>Economics:</a:t>
            </a:r>
            <a:r>
              <a:rPr lang="en-US" dirty="0" smtClean="0"/>
              <a:t> Bankruptcy settlements, tax allocation.</a:t>
            </a:r>
            <a:endParaRPr lang="en-IN" dirty="0" smtClean="0"/>
          </a:p>
          <a:p>
            <a:pPr lvl="0"/>
            <a:r>
              <a:rPr lang="en-US" b="1" dirty="0" smtClean="0"/>
              <a:t>Computer Science:</a:t>
            </a:r>
            <a:r>
              <a:rPr lang="en-US" dirty="0" smtClean="0"/>
              <a:t> Cloud computing – dividing server time fairly.</a:t>
            </a:r>
            <a:endParaRPr lang="en-IN" dirty="0" smtClean="0"/>
          </a:p>
          <a:p>
            <a:pPr lvl="0"/>
            <a:r>
              <a:rPr lang="en-US" b="1" dirty="0" smtClean="0"/>
              <a:t>Politics:</a:t>
            </a:r>
            <a:r>
              <a:rPr lang="en-US" dirty="0" smtClean="0"/>
              <a:t> Fair distribution of government funds.</a:t>
            </a:r>
            <a:endParaRPr lang="en-IN" dirty="0" smtClean="0"/>
          </a:p>
          <a:p>
            <a:pPr lvl="0"/>
            <a:r>
              <a:rPr lang="en-US" b="1" dirty="0" smtClean="0"/>
              <a:t>Daily Life:</a:t>
            </a:r>
            <a:r>
              <a:rPr lang="en-US" dirty="0" smtClean="0"/>
              <a:t> Roommate rent division, inheritance disputes.</a:t>
            </a:r>
            <a:endParaRPr lang="en-IN" dirty="0" smtClean="0"/>
          </a:p>
          <a:p>
            <a:pPr lvl="0"/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63352" y="3068960"/>
            <a:ext cx="8596667" cy="8031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600" b="0" i="0" u="none" strike="noStrike" kern="1200" cap="none" spc="0" baseline="0">
                <a:solidFill>
                  <a:srgbClr val="90C226"/>
                </a:solidFill>
                <a:uFillTx/>
                <a:latin typeface="Trebuchet MS"/>
              </a:defRPr>
            </a:lvl1pPr>
          </a:lstStyle>
          <a:p>
            <a:r>
              <a:rPr lang="en-IN" dirty="0" smtClean="0">
                <a:solidFill>
                  <a:srgbClr val="4C94D8"/>
                </a:solidFill>
                <a:latin typeface="Calibri"/>
                <a:ea typeface="Calibri"/>
                <a:cs typeface="Calibri"/>
              </a:rPr>
              <a:t> Results and Observations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51384" y="378904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b="1" dirty="0">
                <a:ea typeface="Calibri"/>
                <a:cs typeface="Calibri"/>
              </a:rPr>
              <a:t>Efficient + Envy-Free allocations exist</a:t>
            </a:r>
            <a:r>
              <a:rPr lang="en-US" dirty="0">
                <a:ea typeface="Calibri"/>
                <a:cs typeface="Calibri"/>
              </a:rPr>
              <a:t> in many continuous models.</a:t>
            </a:r>
            <a:endParaRPr lang="en-GB" dirty="0">
              <a:ea typeface="Calibri"/>
              <a:cs typeface="Calibri"/>
            </a:endParaRPr>
          </a:p>
          <a:p>
            <a:pPr lvl="0"/>
            <a:r>
              <a:rPr lang="en-US" b="1" dirty="0">
                <a:ea typeface="Calibri"/>
                <a:cs typeface="Calibri"/>
              </a:rPr>
              <a:t>Discrete cases:</a:t>
            </a:r>
            <a:r>
              <a:rPr lang="en-US" dirty="0">
                <a:ea typeface="Calibri"/>
                <a:cs typeface="Calibri"/>
              </a:rPr>
              <a:t> Envy-free may not exist (e.g., indivisible rooms).</a:t>
            </a:r>
            <a:endParaRPr lang="en-GB" dirty="0">
              <a:ea typeface="Calibri"/>
              <a:cs typeface="Calibri"/>
            </a:endParaRPr>
          </a:p>
          <a:p>
            <a:pPr lvl="0"/>
            <a:r>
              <a:rPr lang="en-US" b="1" dirty="0">
                <a:ea typeface="Calibri"/>
                <a:cs typeface="Calibri"/>
              </a:rPr>
              <a:t>Uniform Rule:</a:t>
            </a:r>
            <a:r>
              <a:rPr lang="en-US" dirty="0">
                <a:ea typeface="Calibri"/>
                <a:cs typeface="Calibri"/>
              </a:rPr>
              <a:t> Effective for single-peaked cases.</a:t>
            </a:r>
            <a:endParaRPr lang="en-GB" dirty="0">
              <a:ea typeface="Calibri"/>
              <a:cs typeface="Calibri"/>
            </a:endParaRPr>
          </a:p>
          <a:p>
            <a:pPr lvl="0"/>
            <a:r>
              <a:rPr lang="en-US" b="1" dirty="0">
                <a:ea typeface="Calibri"/>
                <a:cs typeface="Calibri"/>
              </a:rPr>
              <a:t>Consistency:</a:t>
            </a:r>
            <a:r>
              <a:rPr lang="en-US" dirty="0">
                <a:ea typeface="Calibri"/>
                <a:cs typeface="Calibri"/>
              </a:rPr>
              <a:t> Ensures fairness across different scenarios.</a:t>
            </a:r>
            <a:endParaRPr lang="en-GB" dirty="0">
              <a:ea typeface="Calibri"/>
              <a:cs typeface="Calibri"/>
            </a:endParaRPr>
          </a:p>
          <a:p>
            <a:pPr lvl="0"/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13207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 sz="4000">
                <a:solidFill>
                  <a:srgbClr val="4C94D8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4000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Calibri"/>
                <a:ea typeface="Calibri"/>
                <a:cs typeface="Calibri"/>
              </a:rPr>
              <a:t>Fair allocation blends </a:t>
            </a:r>
            <a:r>
              <a:rPr lang="en-US" b="1">
                <a:latin typeface="Calibri"/>
                <a:ea typeface="Calibri"/>
                <a:cs typeface="Calibri"/>
              </a:rPr>
              <a:t>mathematics, economics, and computation</a:t>
            </a:r>
            <a:r>
              <a:rPr lang="en-US">
                <a:latin typeface="Calibri"/>
                <a:ea typeface="Calibri"/>
                <a:cs typeface="Calibri"/>
              </a:rPr>
              <a:t>.</a:t>
            </a:r>
            <a:endParaRPr lang="en-GB">
              <a:latin typeface="Calibri"/>
              <a:ea typeface="Calibri"/>
              <a:cs typeface="Calibri"/>
            </a:endParaRPr>
          </a:p>
          <a:p>
            <a:pPr lvl="0"/>
            <a:r>
              <a:rPr lang="en-US">
                <a:latin typeface="Calibri"/>
                <a:ea typeface="Calibri"/>
                <a:cs typeface="Calibri"/>
              </a:rPr>
              <a:t>Useful in </a:t>
            </a:r>
            <a:r>
              <a:rPr lang="en-US" b="1">
                <a:latin typeface="Calibri"/>
                <a:ea typeface="Calibri"/>
                <a:cs typeface="Calibri"/>
              </a:rPr>
              <a:t>resource management, scheduling, and social fairness.</a:t>
            </a:r>
            <a:endParaRPr lang="en-GB">
              <a:latin typeface="Calibri"/>
              <a:ea typeface="Calibri"/>
              <a:cs typeface="Calibri"/>
            </a:endParaRPr>
          </a:p>
          <a:p>
            <a:pPr lvl="0"/>
            <a:r>
              <a:rPr lang="en-US" b="1">
                <a:latin typeface="Calibri"/>
                <a:ea typeface="Calibri"/>
                <a:cs typeface="Calibri"/>
              </a:rPr>
              <a:t>Challenges remain:</a:t>
            </a:r>
            <a:r>
              <a:rPr lang="en-US">
                <a:latin typeface="Calibri"/>
                <a:ea typeface="Calibri"/>
                <a:cs typeface="Calibri"/>
              </a:rPr>
              <a:t> balancing fairness vs efficiency, handling indivisible goods.</a:t>
            </a:r>
            <a:endParaRPr lang="en-GB">
              <a:latin typeface="Calibri"/>
              <a:ea typeface="Calibri"/>
              <a:cs typeface="Calibri"/>
            </a:endParaRPr>
          </a:p>
          <a:p>
            <a:pPr lvl="0"/>
            <a:endParaRPr lang="en-GB" sz="1200">
              <a:latin typeface="Calibri"/>
              <a:ea typeface="Calibri"/>
              <a:cs typeface="Calibri"/>
            </a:endParaRPr>
          </a:p>
          <a:p>
            <a:pPr lvl="0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456728" y="2492896"/>
            <a:ext cx="8596667" cy="3880768"/>
          </a:xfrm>
        </p:spPr>
        <p:txBody>
          <a:bodyPr/>
          <a:lstStyle/>
          <a:p>
            <a:pPr lvl="4"/>
            <a:r>
              <a:rPr lang="en-IN" sz="6000" dirty="0" smtClean="0">
                <a:solidFill>
                  <a:schemeClr val="accent3"/>
                </a:solidFill>
              </a:rPr>
              <a:t>      </a:t>
            </a:r>
            <a:r>
              <a:rPr lang="en-IN" sz="6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THANK YOU !</a:t>
            </a:r>
            <a:endParaRPr lang="en-IN" sz="6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232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931</TotalTime>
  <Words>402</Words>
  <Application>Microsoft Office PowerPoint</Application>
  <PresentationFormat>On-screen Show (4:3)</PresentationFormat>
  <Paragraphs>79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Facet</vt:lpstr>
      <vt:lpstr>FAIR ALLOCATION</vt:lpstr>
      <vt:lpstr>Introduction to Fair Allocation</vt:lpstr>
      <vt:lpstr>Components of a Resource Allocation Problem</vt:lpstr>
      <vt:lpstr>Types of Resource Allocation Problems</vt:lpstr>
      <vt:lpstr>Mathematical Expressions</vt:lpstr>
      <vt:lpstr>Axiomatic Principles (with Examples)</vt:lpstr>
      <vt:lpstr>  Rules for Fair Allocation </vt:lpstr>
      <vt:lpstr>PowerPoint Presentation</vt:lpstr>
      <vt:lpstr>Real-Life Applications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 ALLOCATION</dc:title>
  <dc:creator>Abhay</dc:creator>
  <cp:lastModifiedBy>Abhay</cp:lastModifiedBy>
  <cp:revision>110</cp:revision>
  <dcterms:created xsi:type="dcterms:W3CDTF">2025-09-02T08:38:52Z</dcterms:created>
  <dcterms:modified xsi:type="dcterms:W3CDTF">2025-10-09T08:13:14Z</dcterms:modified>
</cp:coreProperties>
</file>