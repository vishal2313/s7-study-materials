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2" r:id="rId6"/>
    <p:sldId id="268" r:id="rId7"/>
    <p:sldId id="269" r:id="rId8"/>
    <p:sldId id="270" r:id="rId9"/>
    <p:sldId id="271" r:id="rId10"/>
    <p:sldId id="272" r:id="rId11"/>
    <p:sldId id="281" r:id="rId12"/>
    <p:sldId id="282" r:id="rId13"/>
    <p:sldId id="283" r:id="rId14"/>
    <p:sldId id="284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4" d="100"/>
          <a:sy n="64" d="100"/>
        </p:scale>
        <p:origin x="-1482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1D770-FB58-4ADE-A11C-6E7F5B4C5B32}" type="datetimeFigureOut">
              <a:rPr lang="en-US" smtClean="0"/>
              <a:pPr/>
              <a:t>11/6/2018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0C2AE5-D3EC-4021-8E56-2B4FC3D7FDC6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1D770-FB58-4ADE-A11C-6E7F5B4C5B32}" type="datetimeFigureOut">
              <a:rPr lang="en-US" smtClean="0"/>
              <a:pPr/>
              <a:t>11/6/2018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0C2AE5-D3EC-4021-8E56-2B4FC3D7FDC6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1D770-FB58-4ADE-A11C-6E7F5B4C5B32}" type="datetimeFigureOut">
              <a:rPr lang="en-US" smtClean="0"/>
              <a:pPr/>
              <a:t>11/6/2018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0C2AE5-D3EC-4021-8E56-2B4FC3D7FDC6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1D770-FB58-4ADE-A11C-6E7F5B4C5B32}" type="datetimeFigureOut">
              <a:rPr lang="en-US" smtClean="0"/>
              <a:pPr/>
              <a:t>11/6/2018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0C2AE5-D3EC-4021-8E56-2B4FC3D7FDC6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1D770-FB58-4ADE-A11C-6E7F5B4C5B32}" type="datetimeFigureOut">
              <a:rPr lang="en-US" smtClean="0"/>
              <a:pPr/>
              <a:t>11/6/2018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0C2AE5-D3EC-4021-8E56-2B4FC3D7FDC6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1D770-FB58-4ADE-A11C-6E7F5B4C5B32}" type="datetimeFigureOut">
              <a:rPr lang="en-US" smtClean="0"/>
              <a:pPr/>
              <a:t>11/6/2018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0C2AE5-D3EC-4021-8E56-2B4FC3D7FDC6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1D770-FB58-4ADE-A11C-6E7F5B4C5B32}" type="datetimeFigureOut">
              <a:rPr lang="en-US" smtClean="0"/>
              <a:pPr/>
              <a:t>11/6/2018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0C2AE5-D3EC-4021-8E56-2B4FC3D7FDC6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1D770-FB58-4ADE-A11C-6E7F5B4C5B32}" type="datetimeFigureOut">
              <a:rPr lang="en-US" smtClean="0"/>
              <a:pPr/>
              <a:t>11/6/2018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0C2AE5-D3EC-4021-8E56-2B4FC3D7FDC6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1D770-FB58-4ADE-A11C-6E7F5B4C5B32}" type="datetimeFigureOut">
              <a:rPr lang="en-US" smtClean="0"/>
              <a:pPr/>
              <a:t>11/6/2018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0C2AE5-D3EC-4021-8E56-2B4FC3D7FDC6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1D770-FB58-4ADE-A11C-6E7F5B4C5B32}" type="datetimeFigureOut">
              <a:rPr lang="en-US" smtClean="0"/>
              <a:pPr/>
              <a:t>11/6/2018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0C2AE5-D3EC-4021-8E56-2B4FC3D7FDC6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1D770-FB58-4ADE-A11C-6E7F5B4C5B32}" type="datetimeFigureOut">
              <a:rPr lang="en-US" smtClean="0"/>
              <a:pPr/>
              <a:t>11/6/2018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0C2AE5-D3EC-4021-8E56-2B4FC3D7FDC6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E1D770-FB58-4ADE-A11C-6E7F5B4C5B32}" type="datetimeFigureOut">
              <a:rPr lang="en-US" smtClean="0"/>
              <a:pPr/>
              <a:t>11/6/2018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0C2AE5-D3EC-4021-8E56-2B4FC3D7FDC6}" type="slidenum">
              <a:rPr lang="en-IN" smtClean="0"/>
              <a:pPr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DDL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endParaRPr lang="en-IN" sz="22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Data Definition Language is used to create and modify the structure of database objects in database.</a:t>
            </a:r>
          </a:p>
          <a:p>
            <a:pPr algn="just">
              <a:buNone/>
            </a:pPr>
            <a:endParaRPr lang="en-IN" sz="22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DDL commands are create, drop, alter and truncate.</a:t>
            </a:r>
          </a:p>
          <a:p>
            <a:pPr algn="just">
              <a:buNone/>
            </a:pPr>
            <a:endParaRPr lang="en-IN" sz="22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IN" sz="2200" b="1" dirty="0" smtClean="0">
                <a:latin typeface="Times New Roman" pitchFamily="18" charset="0"/>
                <a:cs typeface="Times New Roman" pitchFamily="18" charset="0"/>
              </a:rPr>
              <a:t>Create </a:t>
            </a:r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It is used to define new objects.</a:t>
            </a:r>
          </a:p>
          <a:p>
            <a:pPr algn="just"/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Drop    -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It is used to remove the existing objects.</a:t>
            </a:r>
          </a:p>
          <a:p>
            <a:pPr algn="just"/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Alter    –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It is used to</a:t>
            </a: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modify the existing objects.</a:t>
            </a:r>
          </a:p>
          <a:p>
            <a:pPr algn="just"/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Truncate table –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Used to delete complete data from an existing table.</a:t>
            </a:r>
            <a:endParaRPr lang="en-US" sz="22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CREATE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4857403"/>
          </a:xfrm>
        </p:spPr>
        <p:txBody>
          <a:bodyPr>
            <a:normAutofit/>
          </a:bodyPr>
          <a:lstStyle/>
          <a:p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 This statement is used to create  a new table in the database.</a:t>
            </a:r>
            <a:endParaRPr lang="en-IN" sz="22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2200" b="1" dirty="0" smtClean="0">
                <a:latin typeface="Times New Roman" pitchFamily="18" charset="0"/>
                <a:cs typeface="Times New Roman" pitchFamily="18" charset="0"/>
              </a:rPr>
              <a:t>Syntax</a:t>
            </a:r>
          </a:p>
          <a:p>
            <a:pPr>
              <a:buNone/>
            </a:pPr>
            <a:r>
              <a:rPr lang="en-IN" sz="2200" b="1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CREATE </a:t>
            </a: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TABLE table_name </a:t>
            </a:r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(column1 datatype, column2 datatype, </a:t>
            </a: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column3 datatype</a:t>
            </a:r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,</a:t>
            </a: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  </a:t>
            </a:r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....); </a:t>
            </a:r>
            <a:endParaRPr lang="en-IN" sz="2200" dirty="0">
              <a:latin typeface="Times New Roman" pitchFamily="18" charset="0"/>
              <a:cs typeface="Times New Roman" pitchFamily="18" charset="0"/>
            </a:endParaRPr>
          </a:p>
          <a:p>
            <a:endParaRPr lang="en-IN" sz="2200" b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IN" sz="2200" b="1" dirty="0" smtClean="0">
                <a:latin typeface="Times New Roman" pitchFamily="18" charset="0"/>
                <a:cs typeface="Times New Roman" pitchFamily="18" charset="0"/>
              </a:rPr>
              <a:t>Example:</a:t>
            </a:r>
          </a:p>
          <a:p>
            <a:pPr>
              <a:buNone/>
            </a:pP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      CREATE TABLE Student ( Student ID </a:t>
            </a:r>
            <a:r>
              <a:rPr lang="en-IN" sz="2200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, Student Name </a:t>
            </a:r>
            <a:r>
              <a:rPr lang="en-IN" sz="2200" dirty="0" err="1" smtClean="0">
                <a:latin typeface="Times New Roman" pitchFamily="18" charset="0"/>
                <a:cs typeface="Times New Roman" pitchFamily="18" charset="0"/>
              </a:rPr>
              <a:t>varchar</a:t>
            </a:r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(50) , Address </a:t>
            </a:r>
            <a:r>
              <a:rPr lang="en-IN" sz="2200" dirty="0" err="1" smtClean="0">
                <a:latin typeface="Times New Roman" pitchFamily="18" charset="0"/>
                <a:cs typeface="Times New Roman" pitchFamily="18" charset="0"/>
              </a:rPr>
              <a:t>varchar</a:t>
            </a:r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(100),city </a:t>
            </a:r>
            <a:r>
              <a:rPr lang="en-IN" sz="2200" dirty="0" err="1" smtClean="0">
                <a:latin typeface="Times New Roman" pitchFamily="18" charset="0"/>
                <a:cs typeface="Times New Roman" pitchFamily="18" charset="0"/>
              </a:rPr>
              <a:t>varchar</a:t>
            </a:r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(50));</a:t>
            </a:r>
          </a:p>
          <a:p>
            <a:pPr>
              <a:buNone/>
            </a:pPr>
            <a:endParaRPr lang="en-IN" sz="2200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882557406"/>
              </p:ext>
            </p:extLst>
          </p:nvPr>
        </p:nvGraphicFramePr>
        <p:xfrm>
          <a:off x="1547665" y="5013176"/>
          <a:ext cx="5832648" cy="841248"/>
        </p:xfrm>
        <a:graphic>
          <a:graphicData uri="http://schemas.openxmlformats.org/drawingml/2006/table">
            <a:tbl>
              <a:tblPr firstRow="1" firstCol="1" bandRow="1"/>
              <a:tblGrid>
                <a:gridCol w="1249853"/>
                <a:gridCol w="1416500"/>
                <a:gridCol w="1416500"/>
                <a:gridCol w="1749795"/>
              </a:tblGrid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 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Student ID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 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 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Student Name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 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Address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 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City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DROP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IN" sz="22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Drop table statement is used to drop the existing table in the database.</a:t>
            </a:r>
          </a:p>
          <a:p>
            <a:pPr algn="just"/>
            <a:endParaRPr lang="en-IN" sz="22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IN" sz="2200" b="1" dirty="0" smtClean="0">
                <a:latin typeface="Times New Roman" pitchFamily="18" charset="0"/>
                <a:cs typeface="Times New Roman" pitchFamily="18" charset="0"/>
              </a:rPr>
              <a:t>Syntax</a:t>
            </a:r>
          </a:p>
          <a:p>
            <a:pPr>
              <a:buNone/>
            </a:pPr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	DROP </a:t>
            </a: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TABLE table_name</a:t>
            </a:r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>
              <a:buNone/>
            </a:pPr>
            <a:endParaRPr lang="en-IN" sz="22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IN" sz="2200" b="1" dirty="0" smtClean="0">
                <a:latin typeface="Times New Roman" pitchFamily="18" charset="0"/>
                <a:cs typeface="Times New Roman" pitchFamily="18" charset="0"/>
              </a:rPr>
              <a:t>Example:</a:t>
            </a:r>
          </a:p>
          <a:p>
            <a:pPr>
              <a:buNone/>
            </a:pPr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	DROP </a:t>
            </a: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TABLE </a:t>
            </a:r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Employee;</a:t>
            </a:r>
            <a:endParaRPr lang="en-IN" sz="22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ALTER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The ALTER TABLE statement is used to add, delete, or modify columns in an existing table</a:t>
            </a:r>
            <a:endParaRPr lang="en-IN" sz="2200" dirty="0">
              <a:latin typeface="Times New Roman" pitchFamily="18" charset="0"/>
              <a:cs typeface="Times New Roman" pitchFamily="18" charset="0"/>
            </a:endParaRPr>
          </a:p>
          <a:p>
            <a:endParaRPr lang="en-IN" sz="22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IN" sz="2200" b="1" dirty="0" smtClean="0">
                <a:latin typeface="Times New Roman" pitchFamily="18" charset="0"/>
                <a:cs typeface="Times New Roman" pitchFamily="18" charset="0"/>
              </a:rPr>
              <a:t>Syntax</a:t>
            </a:r>
            <a:endParaRPr lang="en-IN" sz="22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ALTER TABLE table_name</a:t>
            </a:r>
            <a:r>
              <a:rPr lang="en-IN" sz="2200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ADD </a:t>
            </a: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column_name datatype; </a:t>
            </a:r>
          </a:p>
          <a:p>
            <a:r>
              <a:rPr lang="en-IN" sz="2200" b="1" dirty="0" smtClean="0">
                <a:latin typeface="Times New Roman" pitchFamily="18" charset="0"/>
                <a:cs typeface="Times New Roman" pitchFamily="18" charset="0"/>
              </a:rPr>
              <a:t>Example:</a:t>
            </a:r>
          </a:p>
          <a:p>
            <a:pPr>
              <a:buNone/>
            </a:pPr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	ALTER </a:t>
            </a: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TABLE </a:t>
            </a:r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Student</a:t>
            </a:r>
            <a:r>
              <a:rPr lang="en-IN" sz="2200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ADD Contact number;</a:t>
            </a:r>
          </a:p>
          <a:p>
            <a:pPr>
              <a:buNone/>
            </a:pPr>
            <a:r>
              <a:rPr lang="en-IN" sz="2400" dirty="0" smtClean="0"/>
              <a:t> </a:t>
            </a:r>
            <a:endParaRPr lang="en-IN" sz="2200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2606126692"/>
              </p:ext>
            </p:extLst>
          </p:nvPr>
        </p:nvGraphicFramePr>
        <p:xfrm>
          <a:off x="899593" y="4797152"/>
          <a:ext cx="7200800" cy="841248"/>
        </p:xfrm>
        <a:graphic>
          <a:graphicData uri="http://schemas.openxmlformats.org/drawingml/2006/table">
            <a:tbl>
              <a:tblPr firstRow="1" firstCol="1" bandRow="1"/>
              <a:tblGrid>
                <a:gridCol w="1296143"/>
                <a:gridCol w="1440160"/>
                <a:gridCol w="1512168"/>
                <a:gridCol w="1296144"/>
                <a:gridCol w="1656185"/>
              </a:tblGrid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 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Student ID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 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 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Student Name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 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Address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 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City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 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Contact number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TRUNCATE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97152"/>
          </a:xfrm>
        </p:spPr>
        <p:txBody>
          <a:bodyPr>
            <a:normAutofit/>
          </a:bodyPr>
          <a:lstStyle/>
          <a:p>
            <a:endParaRPr lang="en-IN" sz="22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Truncate statement is used to delete the data that are present inside the table.</a:t>
            </a:r>
          </a:p>
          <a:p>
            <a:r>
              <a:rPr lang="en-IN" sz="2200" b="1" dirty="0" smtClean="0">
                <a:latin typeface="Times New Roman" pitchFamily="18" charset="0"/>
                <a:cs typeface="Times New Roman" pitchFamily="18" charset="0"/>
              </a:rPr>
              <a:t>Syntax</a:t>
            </a:r>
          </a:p>
          <a:p>
            <a:pPr>
              <a:buNone/>
            </a:pPr>
            <a:r>
              <a:rPr lang="en-IN" sz="2400" dirty="0" smtClean="0"/>
              <a:t>		</a:t>
            </a: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TRUNCATE 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TABLE </a:t>
            </a:r>
            <a:r>
              <a:rPr lang="en-IN" sz="2400" dirty="0" err="1">
                <a:latin typeface="Times New Roman" pitchFamily="18" charset="0"/>
                <a:cs typeface="Times New Roman" pitchFamily="18" charset="0"/>
              </a:rPr>
              <a:t>table_name</a:t>
            </a:r>
            <a:r>
              <a:rPr lang="en-IN" sz="2400" dirty="0" smtClean="0"/>
              <a:t>;</a:t>
            </a:r>
            <a:endParaRPr lang="en-IN" sz="22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Example:</a:t>
            </a:r>
          </a:p>
          <a:p>
            <a:pPr lvl="1">
              <a:buNone/>
            </a:pPr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TRUNCATE </a:t>
            </a: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TABLE </a:t>
            </a:r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Student;</a:t>
            </a:r>
          </a:p>
          <a:p>
            <a:pPr lvl="1">
              <a:buNone/>
            </a:pPr>
            <a:endParaRPr lang="en-IN" sz="2200" dirty="0" smtClean="0">
              <a:latin typeface="Times New Roman" pitchFamily="18" charset="0"/>
              <a:cs typeface="Times New Roman" pitchFamily="18" charset="0"/>
            </a:endParaRPr>
          </a:p>
          <a:p>
            <a:pPr lvl="1">
              <a:buNone/>
            </a:pP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SELECT * FROM Student;</a:t>
            </a:r>
          </a:p>
          <a:p>
            <a:pPr lvl="1">
              <a:buNone/>
            </a:pPr>
            <a:endParaRPr lang="en-IN" sz="2200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2235510933"/>
              </p:ext>
            </p:extLst>
          </p:nvPr>
        </p:nvGraphicFramePr>
        <p:xfrm>
          <a:off x="1043608" y="5661248"/>
          <a:ext cx="6696744" cy="841248"/>
        </p:xfrm>
        <a:graphic>
          <a:graphicData uri="http://schemas.openxmlformats.org/drawingml/2006/table">
            <a:tbl>
              <a:tblPr firstRow="1" firstCol="1" bandRow="1"/>
              <a:tblGrid>
                <a:gridCol w="1512168"/>
                <a:gridCol w="1872208"/>
                <a:gridCol w="1656184"/>
                <a:gridCol w="1656184"/>
              </a:tblGrid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 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Student ID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 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 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Student Name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 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Address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 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City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DML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Data Manipulation Language statements are used to retrieve , insert, update, remove and manage data within the DB objects.</a:t>
            </a:r>
          </a:p>
          <a:p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DML commands are select, insert, update and delete.</a:t>
            </a:r>
          </a:p>
          <a:p>
            <a:endParaRPr lang="en-US" sz="2200" b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Select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– used to retrieve one or more rows from a table.</a:t>
            </a:r>
          </a:p>
          <a:p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Insert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– used to insert one or more rows.</a:t>
            </a:r>
          </a:p>
          <a:p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Update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– changes exiting data in a table.</a:t>
            </a:r>
          </a:p>
          <a:p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Delete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– removes one or more rows from a table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3438694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SELECT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81128"/>
          </a:xfrm>
        </p:spPr>
        <p:txBody>
          <a:bodyPr>
            <a:normAutofit/>
          </a:bodyPr>
          <a:lstStyle/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Select statement is used to select data from a database.</a:t>
            </a:r>
          </a:p>
          <a:p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Syntax</a:t>
            </a:r>
          </a:p>
          <a:p>
            <a:pPr marL="0" indent="0">
              <a:buNone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	SELECT column1, column2, ……FROM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table_name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;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Example:</a:t>
            </a:r>
          </a:p>
          <a:p>
            <a:pPr marL="457200" lvl="1" indent="0">
              <a:buNone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        SELECT (* from) Student ID, Student name FROM Student;</a:t>
            </a:r>
          </a:p>
          <a:p>
            <a:pPr lvl="1"/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4582727"/>
              </p:ext>
            </p:extLst>
          </p:nvPr>
        </p:nvGraphicFramePr>
        <p:xfrm>
          <a:off x="2123728" y="4365103"/>
          <a:ext cx="3240360" cy="1893178"/>
        </p:xfrm>
        <a:graphic>
          <a:graphicData uri="http://schemas.openxmlformats.org/drawingml/2006/table">
            <a:tbl>
              <a:tblPr firstRow="1" firstCol="1" bandRow="1"/>
              <a:tblGrid>
                <a:gridCol w="1584176"/>
                <a:gridCol w="1656184"/>
              </a:tblGrid>
              <a:tr h="77151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 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Student ID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 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 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Student Name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717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111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Arjun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717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112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Alfred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717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113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Robin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717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114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Rasool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="" xmlns:p14="http://schemas.microsoft.com/office/powerpoint/2010/main" val="10386904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INSERT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52736"/>
            <a:ext cx="8229600" cy="5805264"/>
          </a:xfrm>
        </p:spPr>
        <p:txBody>
          <a:bodyPr>
            <a:normAutofit/>
          </a:bodyPr>
          <a:lstStyle/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Insert statement is used to insert data into the table</a:t>
            </a:r>
          </a:p>
          <a:p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Syntax</a:t>
            </a:r>
          </a:p>
          <a:p>
            <a:pPr marL="0" indent="0">
              <a:buNone/>
            </a:pP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INSERT INTO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table_name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( column1, column2, column3,….) 	VALUES (value1, value2, value3,….);</a:t>
            </a:r>
          </a:p>
          <a:p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Example:</a:t>
            </a:r>
          </a:p>
          <a:p>
            <a:pPr marL="0" indent="0">
              <a:buNone/>
            </a:pP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INSERT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INTO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Student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(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Student ID, Student name, Address, 	city)VALUES (‘115’, Ibrahim, ‘128,manali street’,’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Newyork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’);</a:t>
            </a:r>
          </a:p>
          <a:p>
            <a:pPr marL="0" indent="0">
              <a:buNone/>
            </a:pP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sz="2200" b="1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2224503397"/>
              </p:ext>
            </p:extLst>
          </p:nvPr>
        </p:nvGraphicFramePr>
        <p:xfrm>
          <a:off x="1259632" y="4005064"/>
          <a:ext cx="6408712" cy="2804160"/>
        </p:xfrm>
        <a:graphic>
          <a:graphicData uri="http://schemas.openxmlformats.org/drawingml/2006/table">
            <a:tbl>
              <a:tblPr firstRow="1" firstCol="1" bandRow="1"/>
              <a:tblGrid>
                <a:gridCol w="1152128"/>
                <a:gridCol w="1728192"/>
                <a:gridCol w="1512168"/>
                <a:gridCol w="2016224"/>
              </a:tblGrid>
              <a:tr h="64807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 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Student ID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 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 </a:t>
                      </a:r>
                      <a:endParaRPr lang="en-US" sz="16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Student Name</a:t>
                      </a:r>
                      <a:endParaRPr lang="en-US" sz="16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 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Address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 </a:t>
                      </a:r>
                      <a:endParaRPr lang="en-US" sz="16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City</a:t>
                      </a:r>
                      <a:endParaRPr lang="en-US" sz="16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111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Arjun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124, brown street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Redmond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112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Alfred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489, avatar road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Springdale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113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Robin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531, Leicester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Thomasville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114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Rasool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742, red street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Racine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115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Ibrahim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128, </a:t>
                      </a:r>
                      <a:r>
                        <a:rPr lang="en-US" sz="1600" dirty="0" err="1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manali</a:t>
                      </a:r>
                      <a:r>
                        <a:rPr lang="en-US" sz="16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 street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Newyork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="" xmlns:p14="http://schemas.microsoft.com/office/powerpoint/2010/main" val="32017609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UPDATE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Update statement is used to modify the records existing in the table.</a:t>
            </a:r>
          </a:p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Syntax</a:t>
            </a:r>
          </a:p>
          <a:p>
            <a:pPr marL="0" indent="0">
              <a:buNone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	UPDATE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table_name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SET column1= value1,column2 = value2 	, … ..WHERE condition;</a:t>
            </a:r>
          </a:p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Example:</a:t>
            </a:r>
          </a:p>
          <a:p>
            <a:pPr marL="457200" lvl="1" indent="0">
              <a:buNone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UPDATE Student SET Student name = ‘</a:t>
            </a:r>
            <a:r>
              <a:rPr lang="en-US" sz="1800" dirty="0" err="1" smtClean="0">
                <a:latin typeface="Times New Roman" pitchFamily="18" charset="0"/>
                <a:cs typeface="Times New Roman" pitchFamily="18" charset="0"/>
              </a:rPr>
              <a:t>Prithivi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’, City = ‘Manchester’ WHERE Student ID = ‘113’;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3938698033"/>
              </p:ext>
            </p:extLst>
          </p:nvPr>
        </p:nvGraphicFramePr>
        <p:xfrm>
          <a:off x="1115616" y="4221088"/>
          <a:ext cx="6408712" cy="2243328"/>
        </p:xfrm>
        <a:graphic>
          <a:graphicData uri="http://schemas.openxmlformats.org/drawingml/2006/table">
            <a:tbl>
              <a:tblPr firstRow="1" firstCol="1" bandRow="1"/>
              <a:tblGrid>
                <a:gridCol w="1584176"/>
                <a:gridCol w="1584176"/>
                <a:gridCol w="1656184"/>
                <a:gridCol w="1584176"/>
              </a:tblGrid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 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Student ID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 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 </a:t>
                      </a:r>
                      <a:endParaRPr lang="en-US" sz="16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Student Name</a:t>
                      </a:r>
                      <a:endParaRPr lang="en-US" sz="16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 </a:t>
                      </a:r>
                      <a:endParaRPr lang="en-US" sz="16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Address</a:t>
                      </a:r>
                      <a:endParaRPr lang="en-US" sz="16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 </a:t>
                      </a:r>
                      <a:endParaRPr lang="en-US" sz="16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City</a:t>
                      </a:r>
                      <a:endParaRPr lang="en-US" sz="16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111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Arjun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124, brown street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Redmond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112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Alfred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489, avatar road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Springdale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113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Prithivi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531, Leicester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Manchester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114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Rasool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742, red street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Racine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115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Ibrahim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128, </a:t>
                      </a:r>
                      <a:r>
                        <a:rPr lang="en-US" sz="1600" dirty="0" err="1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manali</a:t>
                      </a:r>
                      <a:r>
                        <a:rPr lang="en-US" sz="16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 street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Newyork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="" xmlns:p14="http://schemas.microsoft.com/office/powerpoint/2010/main" val="34574428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DELETE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Delete statement is used to delete existing records in a table.</a:t>
            </a:r>
          </a:p>
          <a:p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Syntax</a:t>
            </a:r>
          </a:p>
          <a:p>
            <a:pPr marL="0" indent="0">
              <a:buNone/>
            </a:pP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DELETE FROM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table_name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WHERE condition;</a:t>
            </a:r>
          </a:p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Example:</a:t>
            </a:r>
          </a:p>
          <a:p>
            <a:pPr marL="0" indent="0">
              <a:buNone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DELETE FROM Student WHERE Student name = ‘Alfred’;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1535673525"/>
              </p:ext>
            </p:extLst>
          </p:nvPr>
        </p:nvGraphicFramePr>
        <p:xfrm>
          <a:off x="1331640" y="4077072"/>
          <a:ext cx="6624736" cy="1985760"/>
        </p:xfrm>
        <a:graphic>
          <a:graphicData uri="http://schemas.openxmlformats.org/drawingml/2006/table">
            <a:tbl>
              <a:tblPr firstRow="1" firstCol="1" bandRow="1"/>
              <a:tblGrid>
                <a:gridCol w="1224136"/>
                <a:gridCol w="1728192"/>
                <a:gridCol w="1944216"/>
                <a:gridCol w="1728192"/>
              </a:tblGrid>
              <a:tr h="86409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 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Student ID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 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 </a:t>
                      </a:r>
                      <a:endParaRPr lang="en-US" sz="16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Student Name</a:t>
                      </a:r>
                      <a:endParaRPr lang="en-US" sz="16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 </a:t>
                      </a:r>
                      <a:endParaRPr lang="en-US" sz="16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Address</a:t>
                      </a:r>
                      <a:endParaRPr lang="en-US" sz="16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 </a:t>
                      </a:r>
                      <a:endParaRPr lang="en-US" sz="16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City</a:t>
                      </a:r>
                      <a:endParaRPr lang="en-US" sz="16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111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Arjun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124, brown street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Redmond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113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Robin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531, Leicester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Thomasville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114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Rasool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742, red street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Racine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115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Ibrahim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128, </a:t>
                      </a:r>
                      <a:r>
                        <a:rPr lang="en-US" sz="1600" dirty="0" err="1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manali</a:t>
                      </a:r>
                      <a:r>
                        <a:rPr lang="en-US" sz="16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 street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Newyork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="" xmlns:p14="http://schemas.microsoft.com/office/powerpoint/2010/main" val="25392104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MIN() FUNCTION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8760"/>
            <a:ext cx="8507288" cy="5472608"/>
          </a:xfrm>
        </p:spPr>
        <p:txBody>
          <a:bodyPr>
            <a:normAutofit/>
          </a:bodyPr>
          <a:lstStyle/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Returns the smallest value of the selected column.</a:t>
            </a:r>
          </a:p>
          <a:p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Syntax</a:t>
            </a:r>
          </a:p>
          <a:p>
            <a:pPr marL="0" indent="0">
              <a:buNone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SELECT MIN(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column_name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) FROM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table_name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WHERE condition;</a:t>
            </a:r>
          </a:p>
          <a:p>
            <a:pPr marL="0" indent="0">
              <a:buNone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 Example:</a:t>
            </a:r>
          </a:p>
          <a:p>
            <a:pPr marL="0" indent="0">
              <a:buNone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	SELECT MIN(Age) AS Youngest FROM Student;</a:t>
            </a:r>
          </a:p>
          <a:p>
            <a:pPr marL="0" indent="0">
              <a:buNone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Youngest</a:t>
            </a:r>
          </a:p>
          <a:p>
            <a:pPr marL="0" indent="0">
              <a:buNone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16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280205515"/>
              </p:ext>
            </p:extLst>
          </p:nvPr>
        </p:nvGraphicFramePr>
        <p:xfrm>
          <a:off x="1403648" y="4077072"/>
          <a:ext cx="7200800" cy="2523744"/>
        </p:xfrm>
        <a:graphic>
          <a:graphicData uri="http://schemas.openxmlformats.org/drawingml/2006/table">
            <a:tbl>
              <a:tblPr firstRow="1" firstCol="1" bandRow="1"/>
              <a:tblGrid>
                <a:gridCol w="1296144"/>
                <a:gridCol w="1584176"/>
                <a:gridCol w="1656184"/>
                <a:gridCol w="1656184"/>
                <a:gridCol w="1008112"/>
              </a:tblGrid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 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Student ID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 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 </a:t>
                      </a:r>
                      <a:endParaRPr lang="en-US" sz="16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Student Name</a:t>
                      </a:r>
                      <a:endParaRPr lang="en-US" sz="16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 </a:t>
                      </a:r>
                      <a:endParaRPr lang="en-US" sz="16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Address</a:t>
                      </a:r>
                      <a:endParaRPr lang="en-US" sz="16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 </a:t>
                      </a:r>
                      <a:endParaRPr lang="en-US" sz="16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City</a:t>
                      </a:r>
                      <a:endParaRPr lang="en-US" sz="16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 </a:t>
                      </a:r>
                      <a:endParaRPr lang="en-US" sz="16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Age</a:t>
                      </a:r>
                      <a:endParaRPr lang="en-US" sz="16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111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Arjun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124, brown street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Redmond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18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112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Alfred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489, avatar road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Springdale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17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113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Robin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531, Leicester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Thomasville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18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114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Rasool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742, red street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Racine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19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115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Ibrahim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128, manali street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Newyork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16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116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Ratan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Red fort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New Delhi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18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="" xmlns:p14="http://schemas.microsoft.com/office/powerpoint/2010/main" val="195327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MAX() FUNCTION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5661248"/>
          </a:xfrm>
        </p:spPr>
        <p:txBody>
          <a:bodyPr>
            <a:normAutofit/>
          </a:bodyPr>
          <a:lstStyle/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Returns the largest value of the selected column.</a:t>
            </a:r>
          </a:p>
          <a:p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Syntax</a:t>
            </a:r>
          </a:p>
          <a:p>
            <a:pPr marL="0" indent="0">
              <a:buNone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	SELECT MAX(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column_name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) FROM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table_name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WHERE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	condition;</a:t>
            </a:r>
          </a:p>
          <a:p>
            <a:pPr marL="0" indent="0">
              <a:buNone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Example:</a:t>
            </a:r>
          </a:p>
          <a:p>
            <a:pPr marL="0" indent="0">
              <a:buNone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	SELECT MAX(Age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) AS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Oldest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FROM Student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 marL="0" indent="0">
              <a:buNone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Oldest</a:t>
            </a:r>
          </a:p>
          <a:p>
            <a:pPr marL="0" indent="0">
              <a:buNone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19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1876431849"/>
              </p:ext>
            </p:extLst>
          </p:nvPr>
        </p:nvGraphicFramePr>
        <p:xfrm>
          <a:off x="1763688" y="4149080"/>
          <a:ext cx="6696744" cy="2523744"/>
        </p:xfrm>
        <a:graphic>
          <a:graphicData uri="http://schemas.openxmlformats.org/drawingml/2006/table">
            <a:tbl>
              <a:tblPr firstRow="1" firstCol="1" bandRow="1"/>
              <a:tblGrid>
                <a:gridCol w="1152128"/>
                <a:gridCol w="1296144"/>
                <a:gridCol w="1656184"/>
                <a:gridCol w="1584176"/>
                <a:gridCol w="1008112"/>
              </a:tblGrid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 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Student ID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 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 </a:t>
                      </a:r>
                      <a:endParaRPr lang="en-US" sz="16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Student Name</a:t>
                      </a:r>
                      <a:endParaRPr lang="en-US" sz="16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 </a:t>
                      </a:r>
                      <a:endParaRPr lang="en-US" sz="16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Address</a:t>
                      </a:r>
                      <a:endParaRPr lang="en-US" sz="16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 </a:t>
                      </a:r>
                      <a:endParaRPr lang="en-US" sz="16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City</a:t>
                      </a:r>
                      <a:endParaRPr lang="en-US" sz="16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 </a:t>
                      </a:r>
                      <a:endParaRPr lang="en-US" sz="16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Age</a:t>
                      </a:r>
                      <a:endParaRPr lang="en-US" sz="16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111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Arjun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124, brown street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Redmond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18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112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Alfred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489, avatar road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Springdale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17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113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Robin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531, Leicester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Thomasville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18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114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Rasool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742, red street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Racine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19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115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Ibrahim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128, manali street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Newyork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16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116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Ratan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Red fort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New Delhi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18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="" xmlns:p14="http://schemas.microsoft.com/office/powerpoint/2010/main" val="24096135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JOIN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A join clause is used to combine two or more tables on basis of related column between them.</a:t>
            </a:r>
          </a:p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Example:</a:t>
            </a:r>
          </a:p>
          <a:p>
            <a:pPr marL="0" indent="0">
              <a:buNone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	SELECT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Orders.Order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ID,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Customers.Customer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name, 	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Orders.Order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country FROM Orders INNER JOIN Customers 	ON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Orders.Customer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ID =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Customers.Customer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ID;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403566007"/>
              </p:ext>
            </p:extLst>
          </p:nvPr>
        </p:nvGraphicFramePr>
        <p:xfrm>
          <a:off x="1547664" y="4221088"/>
          <a:ext cx="5760640" cy="2523744"/>
        </p:xfrm>
        <a:graphic>
          <a:graphicData uri="http://schemas.openxmlformats.org/drawingml/2006/table">
            <a:tbl>
              <a:tblPr firstRow="1" firstCol="1" bandRow="1"/>
              <a:tblGrid>
                <a:gridCol w="1584176"/>
                <a:gridCol w="2088232"/>
                <a:gridCol w="2088232"/>
              </a:tblGrid>
              <a:tr h="64807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 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Order ID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 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 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Customer Name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 </a:t>
                      </a:r>
                      <a:endParaRPr lang="en-US" sz="16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Country</a:t>
                      </a:r>
                      <a:endParaRPr lang="en-US" sz="16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111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Arjun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India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112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Alfred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Britain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113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Robin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Argentina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114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Rasool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Australia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115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Ibrahim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India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116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Ratan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India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="" xmlns:p14="http://schemas.microsoft.com/office/powerpoint/2010/main" val="19364307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2074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6712"/>
            <a:ext cx="8229600" cy="5289451"/>
          </a:xfrm>
        </p:spPr>
        <p:txBody>
          <a:bodyPr/>
          <a:lstStyle/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ORDERS TABLE</a:t>
            </a:r>
          </a:p>
          <a:p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CUSTOMERS TABLE</a:t>
            </a:r>
          </a:p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2903545993"/>
              </p:ext>
            </p:extLst>
          </p:nvPr>
        </p:nvGraphicFramePr>
        <p:xfrm>
          <a:off x="3491880" y="980728"/>
          <a:ext cx="4464496" cy="2208276"/>
        </p:xfrm>
        <a:graphic>
          <a:graphicData uri="http://schemas.openxmlformats.org/drawingml/2006/table">
            <a:tbl>
              <a:tblPr firstRow="1" firstCol="1" bandRow="1"/>
              <a:tblGrid>
                <a:gridCol w="1296144"/>
                <a:gridCol w="1872208"/>
                <a:gridCol w="1296144"/>
              </a:tblGrid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 </a:t>
                      </a:r>
                      <a:endParaRPr lang="en-US" sz="14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Order ID</a:t>
                      </a:r>
                      <a:endParaRPr lang="en-US" sz="14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 </a:t>
                      </a:r>
                      <a:endParaRPr lang="en-US" sz="14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 </a:t>
                      </a:r>
                      <a:endParaRPr lang="en-US" sz="14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Customer ID</a:t>
                      </a:r>
                      <a:endParaRPr lang="en-US" sz="14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 </a:t>
                      </a:r>
                      <a:endParaRPr lang="en-US" sz="14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Country</a:t>
                      </a:r>
                      <a:endParaRPr lang="en-US" sz="14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111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5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India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112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11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Britain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113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13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Argentina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114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19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Australia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115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28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India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78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116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34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India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2696465755"/>
              </p:ext>
            </p:extLst>
          </p:nvPr>
        </p:nvGraphicFramePr>
        <p:xfrm>
          <a:off x="1547664" y="3789040"/>
          <a:ext cx="6480720" cy="2453640"/>
        </p:xfrm>
        <a:graphic>
          <a:graphicData uri="http://schemas.openxmlformats.org/drawingml/2006/table">
            <a:tbl>
              <a:tblPr firstRow="1" firstCol="1" bandRow="1"/>
              <a:tblGrid>
                <a:gridCol w="1047750"/>
                <a:gridCol w="1238250"/>
                <a:gridCol w="2898576"/>
                <a:gridCol w="1296144"/>
              </a:tblGrid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 </a:t>
                      </a:r>
                      <a:endParaRPr lang="en-US" sz="14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Customer ID</a:t>
                      </a:r>
                      <a:endParaRPr lang="en-US" sz="14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 </a:t>
                      </a:r>
                      <a:endParaRPr lang="en-US" sz="14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 </a:t>
                      </a:r>
                      <a:endParaRPr lang="en-US" sz="14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Customer Name</a:t>
                      </a:r>
                      <a:endParaRPr lang="en-US" sz="14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 </a:t>
                      </a:r>
                      <a:endParaRPr lang="en-US" sz="14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Address</a:t>
                      </a:r>
                      <a:endParaRPr lang="en-US" sz="14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 </a:t>
                      </a:r>
                      <a:endParaRPr lang="en-US" sz="14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City</a:t>
                      </a:r>
                      <a:endParaRPr lang="en-US" sz="14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111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err="1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Arjun</a:t>
                      </a:r>
                      <a:endParaRPr lang="en-US" sz="14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124, brown street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Redmond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112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Alfred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489, avatar road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Springdale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113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Robin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531, Leicester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Thomasville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114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Rasool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742, red street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Racine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115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Ibrahim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128, manali street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err="1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Newyork</a:t>
                      </a:r>
                      <a:endParaRPr lang="en-US" sz="14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116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err="1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Ratan</a:t>
                      </a:r>
                      <a:endParaRPr lang="en-US" sz="14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Red fort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New Delhi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="" xmlns:p14="http://schemas.microsoft.com/office/powerpoint/2010/main" val="23392174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423</TotalTime>
  <Words>611</Words>
  <Application>Microsoft Office PowerPoint</Application>
  <PresentationFormat>On-screen Show (4:3)</PresentationFormat>
  <Paragraphs>398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DDL</vt:lpstr>
      <vt:lpstr>CREATE</vt:lpstr>
      <vt:lpstr>DROP</vt:lpstr>
      <vt:lpstr>ALTER</vt:lpstr>
      <vt:lpstr>TRUNCATE</vt:lpstr>
      <vt:lpstr>DML</vt:lpstr>
      <vt:lpstr>SELECT</vt:lpstr>
      <vt:lpstr>INSERT</vt:lpstr>
      <vt:lpstr>UPDATE</vt:lpstr>
      <vt:lpstr>DELETE</vt:lpstr>
      <vt:lpstr>MIN() FUNCTION</vt:lpstr>
      <vt:lpstr>MAX() FUNCTION</vt:lpstr>
      <vt:lpstr>JOIN</vt:lpstr>
      <vt:lpstr>Slide 14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DDL</dc:title>
  <dc:creator>admin</dc:creator>
  <cp:lastModifiedBy>admin</cp:lastModifiedBy>
  <cp:revision>48</cp:revision>
  <dcterms:created xsi:type="dcterms:W3CDTF">2018-10-08T16:32:43Z</dcterms:created>
  <dcterms:modified xsi:type="dcterms:W3CDTF">2018-11-06T17:26:24Z</dcterms:modified>
</cp:coreProperties>
</file>