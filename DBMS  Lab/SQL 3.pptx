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80" r:id="rId8"/>
    <p:sldId id="264" r:id="rId9"/>
    <p:sldId id="281" r:id="rId10"/>
    <p:sldId id="265" r:id="rId11"/>
    <p:sldId id="282" r:id="rId12"/>
    <p:sldId id="266" r:id="rId13"/>
    <p:sldId id="283" r:id="rId14"/>
    <p:sldId id="268" r:id="rId15"/>
    <p:sldId id="269" r:id="rId16"/>
    <p:sldId id="270" r:id="rId17"/>
    <p:sldId id="272" r:id="rId18"/>
    <p:sldId id="273" r:id="rId19"/>
    <p:sldId id="275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7991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521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8111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1952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560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6166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640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9292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7246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88739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933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1D770-FB58-4ADE-A11C-6E7F5B4C5B3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10/16/2018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C2AE5-D3EC-4021-8E56-2B4FC3D7FD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696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MIN() FUNCTION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507288" cy="5826968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Returns the smallest value of the selected column.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MIN(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WHERE condition;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MIN(Age) AS Youngest FROM Student;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Youngest    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0855281"/>
              </p:ext>
            </p:extLst>
          </p:nvPr>
        </p:nvGraphicFramePr>
        <p:xfrm>
          <a:off x="762000" y="3048000"/>
          <a:ext cx="6673552" cy="1928622"/>
        </p:xfrm>
        <a:graphic>
          <a:graphicData uri="http://schemas.openxmlformats.org/drawingml/2006/table">
            <a:tbl>
              <a:tblPr firstRow="1" firstCol="1" bandRow="1"/>
              <a:tblGrid>
                <a:gridCol w="1187152"/>
                <a:gridCol w="1447800"/>
                <a:gridCol w="1752600"/>
                <a:gridCol w="1600200"/>
                <a:gridCol w="685800"/>
              </a:tblGrid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</a:t>
                      </a: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5183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MAX() FUNCTION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Returns the largest value of the selected column.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MAX(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condition;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MAX(Age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Oldest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Student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 Oldest  19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80184809"/>
              </p:ext>
            </p:extLst>
          </p:nvPr>
        </p:nvGraphicFramePr>
        <p:xfrm>
          <a:off x="1524000" y="3429000"/>
          <a:ext cx="6400800" cy="2029216"/>
        </p:xfrm>
        <a:graphic>
          <a:graphicData uri="http://schemas.openxmlformats.org/drawingml/2006/table">
            <a:tbl>
              <a:tblPr firstRow="1" firstCol="1" bandRow="1"/>
              <a:tblGrid>
                <a:gridCol w="1143000"/>
                <a:gridCol w="1468760"/>
                <a:gridCol w="1656184"/>
                <a:gridCol w="1370856"/>
                <a:gridCol w="762000"/>
              </a:tblGrid>
              <a:tr h="34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</a:t>
                      </a: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52278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function returns the number of rows that matches the specified condition.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SELECT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COUNT(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condition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Example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2539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AVG()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function returns the average value of a numeric column.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AVG(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condition;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35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SUM()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function returns the total sum of numeric column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SELECT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SUM(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	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condition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377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LIKE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LIKE operator is used in a WHERE clause to search for a specified pattern in a column.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(%) percent is used as multiple character  representation and ( _ ) underscore represents single character with LIKE operator.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column1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column2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column LIKE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pattern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Example: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* FROM Student WHERE Student Name LIKE ‘r%’;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377401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05378763"/>
              </p:ext>
            </p:extLst>
          </p:nvPr>
        </p:nvGraphicFramePr>
        <p:xfrm>
          <a:off x="914400" y="304800"/>
          <a:ext cx="5334000" cy="2804160"/>
        </p:xfrm>
        <a:graphic>
          <a:graphicData uri="http://schemas.openxmlformats.org/drawingml/2006/table">
            <a:tbl>
              <a:tblPr firstRow="1" firstCol="1" bandRow="1"/>
              <a:tblGrid>
                <a:gridCol w="838200"/>
                <a:gridCol w="914400"/>
                <a:gridCol w="1676400"/>
                <a:gridCol w="1219200"/>
                <a:gridCol w="6858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Name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Age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124, brown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Redmond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489, avatar road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Springdale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Racine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manali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12636873"/>
              </p:ext>
            </p:extLst>
          </p:nvPr>
        </p:nvGraphicFramePr>
        <p:xfrm>
          <a:off x="990600" y="4419600"/>
          <a:ext cx="555498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097280"/>
                <a:gridCol w="1341120"/>
                <a:gridCol w="1295400"/>
                <a:gridCol w="1143000"/>
                <a:gridCol w="67818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Name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Age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Racine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19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>
            <a:off x="3200400" y="3124200"/>
            <a:ext cx="228600" cy="12954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4290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* FROM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LIKE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'_a%';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40723058"/>
              </p:ext>
            </p:extLst>
          </p:nvPr>
        </p:nvGraphicFramePr>
        <p:xfrm>
          <a:off x="1295400" y="4495800"/>
          <a:ext cx="6476999" cy="1402080"/>
        </p:xfrm>
        <a:graphic>
          <a:graphicData uri="http://schemas.openxmlformats.org/drawingml/2006/table">
            <a:tbl>
              <a:tblPr firstRow="1" firstCol="1" bandRow="1"/>
              <a:tblGrid>
                <a:gridCol w="1142999"/>
                <a:gridCol w="1447800"/>
                <a:gridCol w="1524000"/>
                <a:gridCol w="1524000"/>
                <a:gridCol w="8382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02751981"/>
              </p:ext>
            </p:extLst>
          </p:nvPr>
        </p:nvGraphicFramePr>
        <p:xfrm>
          <a:off x="1371600" y="1219200"/>
          <a:ext cx="6400800" cy="2029216"/>
        </p:xfrm>
        <a:graphic>
          <a:graphicData uri="http://schemas.openxmlformats.org/drawingml/2006/table">
            <a:tbl>
              <a:tblPr firstRow="1" firstCol="1" bandRow="1"/>
              <a:tblGrid>
                <a:gridCol w="1143000"/>
                <a:gridCol w="1468760"/>
                <a:gridCol w="1656184"/>
                <a:gridCol w="1370856"/>
                <a:gridCol w="762000"/>
              </a:tblGrid>
              <a:tr h="34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</a:t>
                      </a: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Down Arrow 6"/>
          <p:cNvSpPr/>
          <p:nvPr/>
        </p:nvSpPr>
        <p:spPr>
          <a:xfrm>
            <a:off x="4038600" y="3276600"/>
            <a:ext cx="228600" cy="12192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2453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146628621"/>
              </p:ext>
            </p:extLst>
          </p:nvPr>
        </p:nvGraphicFramePr>
        <p:xfrm>
          <a:off x="1066800" y="1143000"/>
          <a:ext cx="5510982" cy="2584509"/>
        </p:xfrm>
        <a:graphic>
          <a:graphicData uri="http://schemas.openxmlformats.org/drawingml/2006/table">
            <a:tbl>
              <a:tblPr firstRow="1" firstCol="1" bandRow="1"/>
              <a:tblGrid>
                <a:gridCol w="851300"/>
                <a:gridCol w="1002082"/>
                <a:gridCol w="1703541"/>
                <a:gridCol w="1202498"/>
                <a:gridCol w="751561"/>
              </a:tblGrid>
              <a:tr h="9020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</a:t>
                      </a: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</a:t>
                      </a:r>
                      <a:endParaRPr lang="en-US" sz="1600" b="1" dirty="0" smtClean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Name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Age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124, brown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Redmond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489, avatar road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Springdale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Racine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manali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1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457200"/>
            <a:ext cx="655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 * FROM Student WHERE Student Name LIKE ‘%n’;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90717954"/>
              </p:ext>
            </p:extLst>
          </p:nvPr>
        </p:nvGraphicFramePr>
        <p:xfrm>
          <a:off x="609600" y="4522839"/>
          <a:ext cx="6553200" cy="1682496"/>
        </p:xfrm>
        <a:graphic>
          <a:graphicData uri="http://schemas.openxmlformats.org/drawingml/2006/table">
            <a:tbl>
              <a:tblPr firstRow="1" firstCol="1" bandRow="1"/>
              <a:tblGrid>
                <a:gridCol w="1143000"/>
                <a:gridCol w="1447800"/>
                <a:gridCol w="1600200"/>
                <a:gridCol w="1600200"/>
                <a:gridCol w="7620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Down Arrow 6"/>
          <p:cNvSpPr/>
          <p:nvPr/>
        </p:nvSpPr>
        <p:spPr>
          <a:xfrm>
            <a:off x="3429000" y="3771900"/>
            <a:ext cx="190500" cy="7239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7135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BETWEEN operator selects the value within a given range.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Values can be numbers , text and dates.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(s)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BETWEEN value1 AND value2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* FROM Student WHERE age BETWEEN 16 AND 18;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6036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6401355" cy="217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91717293"/>
              </p:ext>
            </p:extLst>
          </p:nvPr>
        </p:nvGraphicFramePr>
        <p:xfrm>
          <a:off x="914400" y="4191000"/>
          <a:ext cx="7391398" cy="2243328"/>
        </p:xfrm>
        <a:graphic>
          <a:graphicData uri="http://schemas.openxmlformats.org/drawingml/2006/table">
            <a:tbl>
              <a:tblPr firstRow="1" firstCol="1" bandRow="1"/>
              <a:tblGrid>
                <a:gridCol w="1206758"/>
                <a:gridCol w="1659294"/>
                <a:gridCol w="2036406"/>
                <a:gridCol w="1583871"/>
                <a:gridCol w="905069"/>
              </a:tblGrid>
              <a:tr h="7304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1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1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1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1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1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876" y="2895600"/>
            <a:ext cx="375950" cy="129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88261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ALIASES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/>
          </a:bodyPr>
          <a:lstStyle/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ALIASES  are used to give a table or a column in a table, a temporary name.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 make column name readable and exists only for duration of the query.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Syntax: ALIAS column syntax:</a:t>
            </a:r>
            <a:endParaRPr lang="en-US" sz="2200" b="1" dirty="0" smtClean="0"/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AS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alias_name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ID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AS ID,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AS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Student;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248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6401355" cy="217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63763907"/>
              </p:ext>
            </p:extLst>
          </p:nvPr>
        </p:nvGraphicFramePr>
        <p:xfrm>
          <a:off x="1905000" y="4343400"/>
          <a:ext cx="2133600" cy="2243328"/>
        </p:xfrm>
        <a:graphic>
          <a:graphicData uri="http://schemas.openxmlformats.org/drawingml/2006/table">
            <a:tbl>
              <a:tblPr firstRow="1" firstCol="1" bandRow="1"/>
              <a:tblGrid>
                <a:gridCol w="640080"/>
                <a:gridCol w="149352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200400"/>
            <a:ext cx="38357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89327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UNION operator is used to combine the result set of two or more  SELECT statements.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statement with UNION must have same number of columns and column must be of  similar data types.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Columns in each SELECT statement must also be in same order.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SELECT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 FROM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table1 UNION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 FROM table2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FROM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Student UNION 	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FROM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Staff ORDER BY city;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414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676511363"/>
              </p:ext>
            </p:extLst>
          </p:nvPr>
        </p:nvGraphicFramePr>
        <p:xfrm>
          <a:off x="6441815" y="1905000"/>
          <a:ext cx="1330585" cy="2877312"/>
        </p:xfrm>
        <a:graphic>
          <a:graphicData uri="http://schemas.openxmlformats.org/drawingml/2006/table">
            <a:tbl>
              <a:tblPr firstRow="1" firstCol="1" bandRow="1"/>
              <a:tblGrid>
                <a:gridCol w="1330585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Nagar</a:t>
                      </a:r>
                      <a:endParaRPr lang="en-US" sz="16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65887549"/>
              </p:ext>
            </p:extLst>
          </p:nvPr>
        </p:nvGraphicFramePr>
        <p:xfrm>
          <a:off x="533400" y="990600"/>
          <a:ext cx="4724400" cy="4767072"/>
        </p:xfrm>
        <a:graphic>
          <a:graphicData uri="http://schemas.openxmlformats.org/drawingml/2006/table">
            <a:tbl>
              <a:tblPr firstRow="1" firstCol="1" bandRow="1"/>
              <a:tblGrid>
                <a:gridCol w="838200"/>
                <a:gridCol w="914400"/>
                <a:gridCol w="1752600"/>
                <a:gridCol w="12192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Name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124, brown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Redmond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489, avatar road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Springdale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manali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Hafeez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541, benedict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nagar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Shaw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224, Nehru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119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Yadav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334, natesan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Labuschenge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684, demonte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Usman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kk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Babar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145,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jj</a:t>
                      </a: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street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06422">
            <a:off x="5607236" y="2794660"/>
            <a:ext cx="508561" cy="1229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4820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UNION ALL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SELECT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(s) FROM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table1 UNION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ALL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(s)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FROM table2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SELECT city FROM  Student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UNION ALL SELECT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city FROM Staff ORDER BY city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Duplicate values are allowed in UNION ALL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0575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Same values are repeated in UNION ALL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733952306"/>
              </p:ext>
            </p:extLst>
          </p:nvPr>
        </p:nvGraphicFramePr>
        <p:xfrm>
          <a:off x="6477000" y="1905000"/>
          <a:ext cx="1600200" cy="3718560"/>
        </p:xfrm>
        <a:graphic>
          <a:graphicData uri="http://schemas.openxmlformats.org/drawingml/2006/table">
            <a:tbl>
              <a:tblPr firstRow="1" firstCol="1" bandRow="1"/>
              <a:tblGrid>
                <a:gridCol w="16002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</a:t>
                      </a: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nagar</a:t>
                      </a:r>
                      <a:endParaRPr lang="en-US" sz="16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  <a:endParaRPr lang="en-US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  <a:endParaRPr lang="en-US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41581250"/>
              </p:ext>
            </p:extLst>
          </p:nvPr>
        </p:nvGraphicFramePr>
        <p:xfrm>
          <a:off x="457200" y="1600200"/>
          <a:ext cx="4724400" cy="4767072"/>
        </p:xfrm>
        <a:graphic>
          <a:graphicData uri="http://schemas.openxmlformats.org/drawingml/2006/table">
            <a:tbl>
              <a:tblPr firstRow="1" firstCol="1" bandRow="1"/>
              <a:tblGrid>
                <a:gridCol w="838200"/>
                <a:gridCol w="914400"/>
                <a:gridCol w="1752600"/>
                <a:gridCol w="12192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Name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124, brown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Redmond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489, avatar road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Springdale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manali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Hafeez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541, benedict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nagar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Shaw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224, Nehru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119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Yadav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334, natesan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Labuschenge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684, demonte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Usman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kk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Babar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145,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jj</a:t>
                      </a: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street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06422">
            <a:off x="5494296" y="3018254"/>
            <a:ext cx="688840" cy="1276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88241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 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GROUP BY statement is used with aggregate functions  (COUNT, MAX,MIN, AVG,SUM) to group the result set by one or more columns.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SELECT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(s) FROM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WHERE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condition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GROUP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BY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(s) ORDER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BY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COUNT(Student ID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City FROM Student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GROUP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3475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0694812"/>
              </p:ext>
            </p:extLst>
          </p:nvPr>
        </p:nvGraphicFramePr>
        <p:xfrm>
          <a:off x="6400800" y="1828800"/>
          <a:ext cx="2057400" cy="2596896"/>
        </p:xfrm>
        <a:graphic>
          <a:graphicData uri="http://schemas.openxmlformats.org/drawingml/2006/table">
            <a:tbl>
              <a:tblPr firstRow="1" firstCol="1" bandRow="1"/>
              <a:tblGrid>
                <a:gridCol w="800100"/>
                <a:gridCol w="1257300"/>
              </a:tblGrid>
              <a:tr h="3535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</a:t>
                      </a: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nagar</a:t>
                      </a:r>
                      <a:endParaRPr lang="en-US" sz="16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50396628"/>
              </p:ext>
            </p:extLst>
          </p:nvPr>
        </p:nvGraphicFramePr>
        <p:xfrm>
          <a:off x="381000" y="838200"/>
          <a:ext cx="4724400" cy="4767072"/>
        </p:xfrm>
        <a:graphic>
          <a:graphicData uri="http://schemas.openxmlformats.org/drawingml/2006/table">
            <a:tbl>
              <a:tblPr firstRow="1" firstCol="1" bandRow="1"/>
              <a:tblGrid>
                <a:gridCol w="838200"/>
                <a:gridCol w="914400"/>
                <a:gridCol w="1752600"/>
                <a:gridCol w="12192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Name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Address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City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124, brown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Redmond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489, avatar road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Springdale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531, Leicester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Thomasville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742, red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Ibrahim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manali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Red fort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Hafeez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541, benedict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Anna nagar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Shaw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224, Nehru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Velachery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119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Yadav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334, natesan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Madurai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Labuschenge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684, demonte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York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Usman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128, kk street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Kozhikode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122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Babar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145,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jj</a:t>
                      </a: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street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New Delhi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06422">
            <a:off x="5417486" y="2593008"/>
            <a:ext cx="688840" cy="1276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66748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110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933</Words>
  <Application>Microsoft Office PowerPoint</Application>
  <PresentationFormat>On-screen Show (4:3)</PresentationFormat>
  <Paragraphs>613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MIN() FUNCTION</vt:lpstr>
      <vt:lpstr>MAX() FUNCTION</vt:lpstr>
      <vt:lpstr>COUNT()</vt:lpstr>
      <vt:lpstr>AVG()</vt:lpstr>
      <vt:lpstr>SUM()</vt:lpstr>
      <vt:lpstr>LIKE</vt:lpstr>
      <vt:lpstr>Slide 7</vt:lpstr>
      <vt:lpstr>Slide 8</vt:lpstr>
      <vt:lpstr>Slide 9</vt:lpstr>
      <vt:lpstr>BETWEEN</vt:lpstr>
      <vt:lpstr>Slide 11</vt:lpstr>
      <vt:lpstr>ALIASES</vt:lpstr>
      <vt:lpstr>Slide 13</vt:lpstr>
      <vt:lpstr>UNION</vt:lpstr>
      <vt:lpstr>Slide 15</vt:lpstr>
      <vt:lpstr>UNION ALL</vt:lpstr>
      <vt:lpstr>  Same values are repeated in UNION ALL</vt:lpstr>
      <vt:lpstr>GROUP BY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34</cp:revision>
  <dcterms:created xsi:type="dcterms:W3CDTF">2018-10-15T11:12:11Z</dcterms:created>
  <dcterms:modified xsi:type="dcterms:W3CDTF">2018-10-16T01:12:38Z</dcterms:modified>
</cp:coreProperties>
</file>