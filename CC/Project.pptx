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</p:sldIdLst>
  <p:sldSz cx="13004800" cy="9753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C358A5C-4C38-46AE-806D-8F50035EADE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F74CBF-18CF-4D90-AB31-FDA73AD0070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2F707C-6C8E-491B-96F2-4A710CE3D8F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7CE2E5-0449-4FD1-AC31-604ACE5FF43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F91A34-2671-4046-A13A-AE5C66C9C94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A1B87F-D018-46E4-8F97-D06EBF85C15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9245358-C0DC-4FD5-A5A4-B6D89B23B59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733738-CEE6-4A40-9D8F-DC47291225C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2E56F2-2268-4683-B096-212E5A5D568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E7B7D31-9065-439B-A14C-887A4B46B99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094B88D-D965-43A9-9621-6A203A8FCA13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9A51A0F-DE42-4236-90DB-104E68872E9C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95934D89-56FE-4AED-99A9-CBC875C585C8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E7FF4DC-CE32-45D8-BFA3-76DAEB52E10E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5D158B6-B383-4B1C-B346-C3592C421D58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852956C8-C808-4139-9E9C-FE6F7E188D4E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CEF2998-BC94-4DD7-8796-23389BA5143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98400" y="444600"/>
            <a:ext cx="5105160" cy="101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Slide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98400" y="1413000"/>
            <a:ext cx="510516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98400" y="3480120"/>
            <a:ext cx="5105160" cy="5592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380880" indent="-380880" defTabSz="1733760">
              <a:lnSpc>
                <a:spcPct val="90000"/>
              </a:lnSpc>
              <a:spcBef>
                <a:spcPts val="3200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bullet text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1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98400" y="3225960"/>
            <a:ext cx="11607480" cy="3301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8200" spc="-165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Section Title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2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98400" y="440280"/>
            <a:ext cx="11607480" cy="101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Slide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98400" y="1413000"/>
            <a:ext cx="1160748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3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98400" y="444600"/>
            <a:ext cx="11607480" cy="101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Agenda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98400" y="1409760"/>
            <a:ext cx="1160748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Agenda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98400" y="2959200"/>
            <a:ext cx="11607480" cy="6095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9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en-US" sz="3800" spc="-38" strike="noStrike">
                <a:solidFill>
                  <a:srgbClr val="000000"/>
                </a:solidFill>
                <a:latin typeface="Helvetica Neue"/>
                <a:ea typeface="Helvetica Neue"/>
              </a:rPr>
              <a:t>Agenda Topics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1301"/>
              </a:spcBef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1301"/>
              </a:spcBef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1301"/>
              </a:spcBef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1301"/>
              </a:spcBef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4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698400" y="3568680"/>
            <a:ext cx="11607480" cy="2617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8200" spc="-165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Statement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5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698400" y="6210000"/>
            <a:ext cx="1160748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17337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Fact information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98400" y="999000"/>
            <a:ext cx="11607480" cy="5210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17600" spc="-177" strike="noStrike">
                <a:solidFill>
                  <a:srgbClr val="000000"/>
                </a:solidFill>
                <a:latin typeface="Helvetica Neue"/>
                <a:ea typeface="Helvetica Neue"/>
              </a:rPr>
              <a:t>100%</a:t>
            </a:r>
            <a:endParaRPr b="0" lang="en-US" sz="176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176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176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176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17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6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736560" y="3720960"/>
            <a:ext cx="11531160" cy="2323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457200" indent="-343080" defTabSz="1733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20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“</a:t>
            </a:r>
            <a:r>
              <a:rPr b="0" lang="en-US" sz="6000" spc="-120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Notable Quote”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  <a:p>
            <a:pPr marL="457200" indent="114480" defTabSz="173376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  <a:p>
            <a:pPr marL="457200" indent="571680" defTabSz="173376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  <a:p>
            <a:pPr marL="457200" indent="1028880" defTabSz="173376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  <a:p>
            <a:pPr marL="457200" indent="1486080" defTabSz="173376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9320" y="6426360"/>
            <a:ext cx="1104876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63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Attribution</a:t>
            </a:r>
            <a:endParaRPr b="0" lang="en-US" sz="23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7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6542280" y="698400"/>
            <a:ext cx="5964840" cy="39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551640" y="5105520"/>
            <a:ext cx="5946480" cy="39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-1371600" y="698400"/>
            <a:ext cx="12572640" cy="83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8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-801360" y="0"/>
            <a:ext cx="14607360" cy="975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9"/>
          </p:nvPr>
        </p:nvSpPr>
        <p:spPr>
          <a:xfrm>
            <a:off x="635328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0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650160" y="389160"/>
            <a:ext cx="11703600" cy="16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50160" y="2282040"/>
            <a:ext cx="1170360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698400" y="8657640"/>
            <a:ext cx="116074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563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Author and Date</a:t>
            </a:r>
            <a:endParaRPr b="0" lang="en-US" sz="23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698400" y="1854360"/>
            <a:ext cx="11608560" cy="3301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"/>
                <a:ea typeface="Helvetica Neue"/>
              </a:rPr>
              <a:t>Presentation Title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98400" y="5105520"/>
            <a:ext cx="1160748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Presentation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11"/>
          </p:nvPr>
        </p:nvSpPr>
        <p:spPr>
          <a:xfrm>
            <a:off x="635328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5966000" cy="10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698400" y="5181480"/>
            <a:ext cx="11607480" cy="3301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"/>
                <a:ea typeface="Helvetica Neue"/>
              </a:rPr>
              <a:t>Presentation Title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98400" y="8432640"/>
            <a:ext cx="11607480" cy="689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Presentation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98400" y="571680"/>
            <a:ext cx="116074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63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Author and Date</a:t>
            </a:r>
            <a:endParaRPr b="0" lang="en-US" sz="23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12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3835440" y="699840"/>
            <a:ext cx="12509280" cy="83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98400" y="5003640"/>
            <a:ext cx="5105160" cy="404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698400" y="692640"/>
            <a:ext cx="5105160" cy="4386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Slide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13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body"/>
          </p:nvPr>
        </p:nvSpPr>
        <p:spPr>
          <a:xfrm>
            <a:off x="698400" y="2959200"/>
            <a:ext cx="11607480" cy="6095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380880" indent="-380880" defTabSz="1733760">
              <a:lnSpc>
                <a:spcPct val="90000"/>
              </a:lnSpc>
              <a:spcBef>
                <a:spcPts val="3200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bullet text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98400" y="1413000"/>
            <a:ext cx="1160748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title"/>
          </p:nvPr>
        </p:nvSpPr>
        <p:spPr>
          <a:xfrm>
            <a:off x="698400" y="440280"/>
            <a:ext cx="11607480" cy="101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Slide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14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698400" y="2959200"/>
            <a:ext cx="11607480" cy="6095520"/>
          </a:xfrm>
          <a:prstGeom prst="rect">
            <a:avLst/>
          </a:prstGeom>
          <a:noFill/>
          <a:ln w="12600">
            <a:noFill/>
          </a:ln>
        </p:spPr>
        <p:txBody>
          <a:bodyPr numCol="2" spcCol="589320" lIns="50760" rIns="50760" tIns="50760" bIns="50760" anchor="t">
            <a:noAutofit/>
          </a:bodyPr>
          <a:p>
            <a:pPr marL="380880" indent="-380880" defTabSz="1733760">
              <a:lnSpc>
                <a:spcPct val="90000"/>
              </a:lnSpc>
              <a:spcBef>
                <a:spcPts val="3200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bullet text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15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3949560" y="698400"/>
            <a:ext cx="12528360" cy="835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698400" y="444600"/>
            <a:ext cx="5105160" cy="101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Slide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98400" y="1413000"/>
            <a:ext cx="510516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698400" y="3480120"/>
            <a:ext cx="5105160" cy="5592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380880" indent="-380880" defTabSz="1733760">
              <a:lnSpc>
                <a:spcPct val="90000"/>
              </a:lnSpc>
              <a:spcBef>
                <a:spcPts val="3200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bullet text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16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98400" y="444600"/>
            <a:ext cx="5105160" cy="1015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-120" strike="noStrike">
                <a:solidFill>
                  <a:srgbClr val="000000"/>
                </a:solidFill>
                <a:latin typeface="Helvetica Neue"/>
                <a:ea typeface="Helvetica Neue"/>
              </a:rPr>
              <a:t>Slide Title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98400" y="1413000"/>
            <a:ext cx="5105160" cy="671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Subtitle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98400" y="3480120"/>
            <a:ext cx="5105160" cy="5592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380880" indent="-380880" defTabSz="1733760">
              <a:lnSpc>
                <a:spcPct val="90000"/>
              </a:lnSpc>
              <a:spcBef>
                <a:spcPts val="3200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Slide bullet text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1733760">
              <a:lnSpc>
                <a:spcPct val="90000"/>
              </a:lnSpc>
              <a:spcBef>
                <a:spcPts val="3200"/>
              </a:spcBef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17"/>
          </p:nvPr>
        </p:nvSpPr>
        <p:spPr>
          <a:xfrm>
            <a:off x="6350040" y="9220320"/>
            <a:ext cx="29736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84640" y="1499040"/>
            <a:ext cx="11608560" cy="3301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88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969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Transformer-ACO for SFC Deployment in Non-Terrestrial Networks (NTN)</a:t>
            </a:r>
            <a:endParaRPr b="0" lang="en-US" sz="6969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577560" y="5838480"/>
            <a:ext cx="5864040" cy="2449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352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US" sz="308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Abhishek Kumar(B220628CS)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  <a:p>
            <a:pPr indent="0" defTabSz="352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US" sz="308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Abhay kumar Bharti(B220628CS)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  <a:p>
            <a:pPr indent="0" defTabSz="352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US" sz="308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Vishal Sonkar(B220589CS)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84640" y="353160"/>
            <a:ext cx="11608560" cy="1617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"/>
                <a:ea typeface="Helvetica Neue"/>
              </a:rPr>
              <a:t>AGENDA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698400" y="2367720"/>
            <a:ext cx="11607480" cy="5775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Introduction &amp; Motivation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 startAt="2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Problem Definition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 startAt="3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Proposed Solution: Transformer-ACO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 startAt="4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Algorithm Details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 startAt="5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Simulation &amp; Experimental Setup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 startAt="6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Results &amp; Performance Analysis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 startAt="7"/>
            </a:pPr>
            <a:r>
              <a:rPr b="1" lang="en-US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Conclusion &amp; Future Work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98040" y="401040"/>
            <a:ext cx="1160856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"/>
                <a:ea typeface="Helvetica Neue"/>
              </a:rPr>
              <a:t>Introduction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98400" y="2495880"/>
            <a:ext cx="11607480" cy="5149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NTNs (satellite networks) have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dynamic topology and constrained resources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SFC deployment requires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routing + VNF placement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under resource and delay constraints.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Traditional approaches: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Greedy: fast, poor load balance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ACO: may explore inefficient paths in large networks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Deep learning: retraining needed when topology changes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Goal: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Combine AI + optimization for efficient, scalable SFC deployment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98040" y="439200"/>
            <a:ext cx="1160856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"/>
                <a:ea typeface="Helvetica Neue"/>
              </a:rPr>
              <a:t>Problem Defintion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698400" y="2949120"/>
            <a:ext cx="11607480" cy="60181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Given: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Network graph </a:t>
            </a:r>
            <a:r>
              <a:rPr b="0" lang="en-US" sz="2500" spc="-1" strike="noStrike">
                <a:solidFill>
                  <a:srgbClr val="000000"/>
                </a:solidFill>
                <a:latin typeface="STIX Two Math Regular"/>
                <a:ea typeface="STIX Two Math Regular"/>
              </a:rPr>
              <a:t>G =(V,E)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SFC request </a:t>
            </a:r>
            <a:r>
              <a:rPr b="0" lang="en-US" sz="2500" spc="-1" strike="noStrike">
                <a:solidFill>
                  <a:srgbClr val="000000"/>
                </a:solidFill>
                <a:latin typeface="STIX Two Math Regular"/>
                <a:ea typeface="STIX Two Math Regular"/>
              </a:rPr>
              <a:t>ρ 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with a sequence of VNFs VNF1 ,...,VNFk and resource demands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Find: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Routing path s∗ from source to destination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VNF embedding v∗ on nodes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Objectives: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Minimize resource variance and deployment cost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Maximize communication success rate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Keep communication delay low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72040" y="615600"/>
            <a:ext cx="1160856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406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Transformer-ACO Overview</a:t>
            </a:r>
            <a:endParaRPr b="0" lang="en-US" sz="73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698400" y="2857320"/>
            <a:ext cx="11607480" cy="4664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Hybrid approach combining: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→ encodes SFC and resource states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ACO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→ searches routing paths guided by neural heuristics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Process: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Neural modules learn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heuristic functions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for routing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Ant colony explores multiple candidate paths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 decoder performs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auto-regressive VNF embedding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97240" y="685800"/>
            <a:ext cx="11608560" cy="1325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52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632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Network Encoder Module (GNN)</a:t>
            </a:r>
            <a:endParaRPr b="0" lang="en-US" sz="632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698400" y="2572560"/>
            <a:ext cx="11607480" cy="4608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20480" indent="-291960" defTabSz="42048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Captures </a:t>
            </a:r>
            <a:r>
              <a:rPr b="1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topology and resource status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of nodes/edges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20480" indent="-291960" defTabSz="42048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Node update equation: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20480" indent="0" defTabSz="420480">
              <a:lnSpc>
                <a:spcPct val="100000"/>
              </a:lnSpc>
              <a:spcBef>
                <a:spcPts val="1100"/>
              </a:spcBef>
              <a:buNone/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indent="0" defTabSz="420480">
              <a:lnSpc>
                <a:spcPct val="100000"/>
              </a:lnSpc>
              <a:spcBef>
                <a:spcPts val="1100"/>
              </a:spcBef>
              <a:buNone/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indent="0" defTabSz="420480">
              <a:lnSpc>
                <a:spcPct val="100000"/>
              </a:lnSpc>
              <a:spcBef>
                <a:spcPts val="1100"/>
              </a:spcBef>
              <a:buNone/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20480" indent="-291960" defTabSz="42048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Edge update equation: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indent="0" defTabSz="420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indent="0" defTabSz="420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indent="0" defTabSz="420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20480" indent="0" defTabSz="420480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20480" indent="-291960" defTabSz="42048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b="0" lang="en-US" sz="2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enriched features Xi , Yi,j for Transformer encoder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Screenshot 2025-12-03 at 10.26.33 PM.png" descr="Screenshot 2025-12-03 at 10.26.33 PM.png"/>
          <p:cNvPicPr/>
          <p:nvPr/>
        </p:nvPicPr>
        <p:blipFill>
          <a:blip r:embed="rId1"/>
          <a:stretch/>
        </p:blipFill>
        <p:spPr>
          <a:xfrm>
            <a:off x="1359360" y="3924720"/>
            <a:ext cx="4584240" cy="875880"/>
          </a:xfrm>
          <a:prstGeom prst="rect">
            <a:avLst/>
          </a:prstGeom>
          <a:ln w="12700">
            <a:noFill/>
          </a:ln>
        </p:spPr>
      </p:pic>
      <p:pic>
        <p:nvPicPr>
          <p:cNvPr id="106" name="Screenshot 2025-12-03 at 10.27.39 PM.png" descr="Screenshot 2025-12-03 at 10.27.39 PM.png"/>
          <p:cNvPicPr/>
          <p:nvPr/>
        </p:nvPicPr>
        <p:blipFill>
          <a:blip r:embed="rId2"/>
          <a:stretch/>
        </p:blipFill>
        <p:spPr>
          <a:xfrm>
            <a:off x="1467360" y="5943600"/>
            <a:ext cx="3790440" cy="84708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98040" y="931680"/>
            <a:ext cx="1160856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SFC Request Encoder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698400" y="3594600"/>
            <a:ext cx="11607480" cy="4646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Input: VNF sequence matrix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Xk representing resource requirements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Self-Attention: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contextual embedding for each VNF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Purpose: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represent SFC request to guide decoder embedding decisions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Screenshot 2025-12-03 at 10.28.09 PM.png" descr="Screenshot 2025-12-03 at 10.28.09 PM.png"/>
          <p:cNvPicPr/>
          <p:nvPr/>
        </p:nvPicPr>
        <p:blipFill>
          <a:blip r:embed="rId1"/>
          <a:stretch/>
        </p:blipFill>
        <p:spPr>
          <a:xfrm>
            <a:off x="776880" y="5216400"/>
            <a:ext cx="5598720" cy="88056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98040" y="1361160"/>
            <a:ext cx="11608560" cy="885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926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52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endParaRPr b="0" lang="en-US" sz="525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698400" y="3302640"/>
            <a:ext cx="11607480" cy="4791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Computes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compatibility score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of each node/edge for embedding VNFs: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Aggregates scores across VNFs for a path: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Effect: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highlights edges/nodes best suited for current VNF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Screenshot 2025-12-03 at 10.28.40 PM.png" descr="Screenshot 2025-12-03 at 10.28.40 PM.png"/>
          <p:cNvPicPr/>
          <p:nvPr/>
        </p:nvPicPr>
        <p:blipFill>
          <a:blip r:embed="rId1"/>
          <a:stretch/>
        </p:blipFill>
        <p:spPr>
          <a:xfrm>
            <a:off x="910440" y="4123440"/>
            <a:ext cx="2679480" cy="647280"/>
          </a:xfrm>
          <a:prstGeom prst="rect">
            <a:avLst/>
          </a:prstGeom>
          <a:ln w="12700">
            <a:noFill/>
          </a:ln>
        </p:spPr>
      </p:pic>
      <p:pic>
        <p:nvPicPr>
          <p:cNvPr id="113" name="Screenshot 2025-12-03 at 10.29.12 PM.png" descr="Screenshot 2025-12-03 at 10.29.12 PM.png"/>
          <p:cNvPicPr/>
          <p:nvPr/>
        </p:nvPicPr>
        <p:blipFill>
          <a:blip r:embed="rId2"/>
          <a:stretch/>
        </p:blipFill>
        <p:spPr>
          <a:xfrm>
            <a:off x="897480" y="5525640"/>
            <a:ext cx="2704680" cy="85068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98040" y="1335960"/>
            <a:ext cx="11608560" cy="1074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1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VNF Embedding Decision Module</a:t>
            </a:r>
            <a:endParaRPr b="0" lang="en-US" sz="615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698400" y="3658320"/>
            <a:ext cx="11607480" cy="4350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 Decoder:</a:t>
            </a: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auto-regressive embedding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Inputs: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7956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Encoded SFC request HE 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7956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Residual path resources </a:t>
            </a:r>
            <a:r>
              <a:rPr b="0" lang="en-US" sz="2170" spc="-1" strike="noStrike">
                <a:solidFill>
                  <a:srgbClr val="000000"/>
                </a:solidFill>
                <a:latin typeface="STIX Two Math Regular"/>
                <a:ea typeface="STIX Two Math Regular"/>
              </a:rPr>
              <a:t>R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Encoder-Decoder Attention: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Softmax</a:t>
            </a: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outputs probability for embedding each VNF on each node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Resources updated after each embedding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Screenshot 2025-12-03 at 10.33.46 PM.png" descr="Screenshot 2025-12-03 at 10.33.46 PM.png"/>
          <p:cNvPicPr/>
          <p:nvPr/>
        </p:nvPicPr>
        <p:blipFill>
          <a:blip r:embed="rId1"/>
          <a:stretch/>
        </p:blipFill>
        <p:spPr>
          <a:xfrm>
            <a:off x="969840" y="5995440"/>
            <a:ext cx="5423040" cy="54216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98040" y="1020240"/>
            <a:ext cx="11608560" cy="12880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4345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79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Loss Function &amp; Training</a:t>
            </a:r>
            <a:endParaRPr b="0" lang="en-US" sz="779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98400" y="2848680"/>
            <a:ext cx="11607480" cy="5969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 Resource variance function: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Training objective:</a:t>
            </a: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minimize expected variance: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Gradient (REINFORCE):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marL="397800" indent="-276120" defTabSz="3978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1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Epsilon-greedy strategy</a:t>
            </a:r>
            <a:r>
              <a:rPr b="0" lang="en-US" sz="21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used to explore node embeddings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spcBef>
                <a:spcPts val="1001"/>
              </a:spcBef>
              <a:buNone/>
              <a:tabLst>
                <a:tab algn="l" pos="114480"/>
                <a:tab algn="l" pos="39384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 defTabSz="3978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Screenshot 2025-12-03 at 10.37.48 PM.png" descr="Screenshot 2025-12-03 at 10.37.48 PM.png"/>
          <p:cNvPicPr/>
          <p:nvPr/>
        </p:nvPicPr>
        <p:blipFill>
          <a:blip r:embed="rId1"/>
          <a:stretch/>
        </p:blipFill>
        <p:spPr>
          <a:xfrm>
            <a:off x="4397400" y="3273480"/>
            <a:ext cx="4393800" cy="596520"/>
          </a:xfrm>
          <a:prstGeom prst="rect">
            <a:avLst/>
          </a:prstGeom>
          <a:ln w="12700">
            <a:noFill/>
          </a:ln>
        </p:spPr>
      </p:pic>
      <p:pic>
        <p:nvPicPr>
          <p:cNvPr id="120" name="Screenshot 2025-12-03 at 10.38.07 PM.png" descr="Screenshot 2025-12-03 at 10.38.07 PM.png"/>
          <p:cNvPicPr/>
          <p:nvPr/>
        </p:nvPicPr>
        <p:blipFill>
          <a:blip r:embed="rId2"/>
          <a:stretch/>
        </p:blipFill>
        <p:spPr>
          <a:xfrm>
            <a:off x="4592520" y="4835160"/>
            <a:ext cx="2679480" cy="482400"/>
          </a:xfrm>
          <a:prstGeom prst="rect">
            <a:avLst/>
          </a:prstGeom>
          <a:ln w="12700">
            <a:noFill/>
          </a:ln>
        </p:spPr>
      </p:pic>
      <p:pic>
        <p:nvPicPr>
          <p:cNvPr id="121" name="Screenshot 2025-12-03 at 10.38.43 PM.png" descr="Screenshot 2025-12-03 at 10.38.43 PM.png"/>
          <p:cNvPicPr/>
          <p:nvPr/>
        </p:nvPicPr>
        <p:blipFill>
          <a:blip r:embed="rId3"/>
          <a:stretch/>
        </p:blipFill>
        <p:spPr>
          <a:xfrm>
            <a:off x="3979800" y="6537240"/>
            <a:ext cx="4647960" cy="54576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98040" y="1361160"/>
            <a:ext cx="1160856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841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89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Heuristic Function Generation</a:t>
            </a:r>
            <a:endParaRPr b="0" lang="en-US" sz="689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698400" y="3755520"/>
            <a:ext cx="11607480" cy="2805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Neural module learns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link-wise heuristic ηθ 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ACO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Guides ants to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low-cost paths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considering resources and SFC requests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Trained via simulation with multiple ants and baseline cost evaluation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98040" y="919080"/>
            <a:ext cx="11608560" cy="1155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153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66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Transformer-ACO Algorithm (Steps)</a:t>
            </a:r>
            <a:endParaRPr b="0" lang="en-US" sz="566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698400" y="2822040"/>
            <a:ext cx="11607480" cy="56527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Initialize pheromones τ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Generate heuristic ηθ using trained Transformer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each ant: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Move from source to destination using combined </a:t>
            </a:r>
            <a:r>
              <a:rPr b="0" lang="en-US" sz="2500" spc="-1" strike="noStrike">
                <a:solidFill>
                  <a:srgbClr val="000000"/>
                </a:solidFill>
                <a:latin typeface="STIX Two Math Regular"/>
                <a:ea typeface="STIX Two Math Regular"/>
              </a:rPr>
              <a:t>τ+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ηθ 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Perform auto-regressive VNF embedding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Evaluate cost of path + embedding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Update pheromones: reinforce low-cost paths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AutoNum type="arabicPeriod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Select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best path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s∗ and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VNF embedding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v∗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98400" y="1530000"/>
            <a:ext cx="11608560" cy="112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6064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en-US" sz="467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Simulation Setup</a:t>
            </a:r>
            <a:endParaRPr b="0" lang="en-US" sz="4670" spc="-1" strike="noStrike">
              <a:solidFill>
                <a:srgbClr val="000000"/>
              </a:solidFill>
              <a:latin typeface="Helvetica Neue"/>
            </a:endParaRPr>
          </a:p>
          <a:p>
            <a:pPr marL="260640" indent="-181080" defTabSz="26064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69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698400" y="3382200"/>
            <a:ext cx="11607480" cy="35971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Topology: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Walker constellation snapshot (66 &amp; 192 satellites)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Software: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Python 3.8, PyTorch 1.12, NetworkX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Hardware: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i7-13700k, RTX 4080 GPU, 32GB RAM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Metrics: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cost, communication success rate, delay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98040" y="666360"/>
            <a:ext cx="11608560" cy="1887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452520">
              <a:lnSpc>
                <a:spcPct val="10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1" lang="en-US" sz="8119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Convergence Analysis</a:t>
            </a:r>
            <a:endParaRPr b="0" lang="en-US" sz="8119" spc="-1" strike="noStrike">
              <a:solidFill>
                <a:srgbClr val="000000"/>
              </a:solidFill>
              <a:latin typeface="Helvetica Neue"/>
            </a:endParaRPr>
          </a:p>
          <a:p>
            <a:pPr marL="452520" indent="-314280" defTabSz="4525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9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98400" y="4165200"/>
            <a:ext cx="11607480" cy="3679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VNF embedding cost drops: 35000 → 0 within 10 iterations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SFC deployment cost stabilizes below 10 after 60 training rounds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 captures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resource-aware embeddings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effectively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98040" y="1272960"/>
            <a:ext cx="11608560" cy="15793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61080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1" lang="en-US" sz="648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Heuristic Function Visualization</a:t>
            </a:r>
            <a:endParaRPr b="0" lang="en-US" sz="648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698400" y="3733560"/>
            <a:ext cx="11607480" cy="3518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Untrained heuristic: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random, ineffective guidance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Trained heuristic: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high intensity along optimal paths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Example: Source 17 → Destination 50: strong links 17→28, 28→39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Helps ants converge to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lower-cost paths faster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98040" y="628200"/>
            <a:ext cx="11608560" cy="1617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45720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8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Cost Performance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698400" y="3191760"/>
            <a:ext cx="11607480" cy="3369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Untrained algorithm: cost &gt; 50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Trained modules: cost ~10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Fully trained Transformer decoder: reduces cost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up to 54.5%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in 192 Walker network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Neural heuristics improve ACO performance significantly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98040" y="1159200"/>
            <a:ext cx="11608560" cy="1595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79440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1" lang="en-US" sz="681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Communication Success Rate</a:t>
            </a:r>
            <a:endParaRPr b="0" lang="en-US" sz="6810" spc="-1" strike="noStrike">
              <a:solidFill>
                <a:srgbClr val="000000"/>
              </a:solidFill>
              <a:latin typeface="Helvetica Neue"/>
            </a:endParaRPr>
          </a:p>
          <a:p>
            <a:pPr marL="379440" indent="-263520" defTabSz="37944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89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698400" y="3372480"/>
            <a:ext cx="11607480" cy="410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Success rate (%):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66 Walker: 73.5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192 Walker: 98.3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Larger network: 100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Outperforms: Greedy Optimal, ACO-ManyToOne, untrained models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Better resource utilization and load balancing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98040" y="1222200"/>
            <a:ext cx="11608560" cy="1596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79440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1" lang="en-US" sz="681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Delay Performance</a:t>
            </a:r>
            <a:endParaRPr b="0" lang="en-US" sz="6810" spc="-1" strike="noStrike">
              <a:solidFill>
                <a:srgbClr val="000000"/>
              </a:solidFill>
              <a:latin typeface="Helvetica Neue"/>
            </a:endParaRPr>
          </a:p>
          <a:p>
            <a:pPr marL="379440" indent="-263520" defTabSz="37944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89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698400" y="3718800"/>
            <a:ext cx="11607480" cy="4229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Average delay (ms):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66 Walker: 38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192 Walker: 67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Larger network: 82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Slightly higher than greedy/ACO-ManyToOne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Reason: path selection avoids overloaded or under-resourced nodes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creenshot 2025-12-03 at 11.13.49 PM.png" descr="Screenshot 2025-12-03 at 11.13.49 PM.png"/>
          <p:cNvPicPr/>
          <p:nvPr/>
        </p:nvPicPr>
        <p:blipFill>
          <a:blip r:embed="rId1"/>
          <a:stretch/>
        </p:blipFill>
        <p:spPr>
          <a:xfrm>
            <a:off x="72000" y="746280"/>
            <a:ext cx="12860640" cy="758232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98040" y="211320"/>
            <a:ext cx="11608560" cy="1226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5778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7460" spc="-151" strike="noStrike">
                <a:solidFill>
                  <a:srgbClr val="000000"/>
                </a:solidFill>
                <a:latin typeface="Helvetica Neue"/>
                <a:ea typeface="Helvetica Neue"/>
              </a:rPr>
              <a:t>Modification</a:t>
            </a:r>
            <a:endParaRPr b="0" lang="en-US" sz="746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98400" y="1662480"/>
            <a:ext cx="11607480" cy="7284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9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New Proposed Method: Genetic Algorithm (GA)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This is inspired by Darwin’s theory of natural evolution. It uses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 population of potential solutions that evolve through selection, crossover, and mutation to achieve optimization.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GA Workflow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1. Initialization: Create random routes as initial solutions.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2. Fitness Evaluation: Measure route efficiency based on total cost (delay, energy,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CPU).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3. Selection: Choose the best-performing routes for reproduction.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4. Crossover: Mix segments of parent routes to form new routes.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5. Mutation: Swap or modify nodes randomly to maintain diversity.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6. Termination: Repeat until cost converges or generations complete.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98040" y="906480"/>
            <a:ext cx="11608560" cy="907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7584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5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Cost Function</a:t>
            </a:r>
            <a:endParaRPr b="0" lang="en-US" sz="525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ubTitle"/>
          </p:nvPr>
        </p:nvSpPr>
        <p:spPr>
          <a:xfrm>
            <a:off x="698400" y="2454120"/>
            <a:ext cx="11607480" cy="5186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Total Cost = 0.5 × Delay + 0.3 × Energy + 0.2 × CPU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The goal is to minimize this total cost value across generations.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GA Parameters Used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•  </a:t>
            </a: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Population Size: 30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• </a:t>
            </a: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Generations: 80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•  </a:t>
            </a: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Crossover Rate: 0.8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•  </a:t>
            </a: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Mutation Rate: 0.2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GA Results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•  </a:t>
            </a: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Best Route Found: [2, 24, 25, 10, 26]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58716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•  </a:t>
            </a:r>
            <a:r>
              <a:rPr b="0" lang="en-US" sz="2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Minimum Cost: 292.2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98040" y="1291680"/>
            <a:ext cx="11608560" cy="1544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374760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1" lang="en-US" sz="6719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Key Takeaways</a:t>
            </a:r>
            <a:endParaRPr b="0" lang="en-US" sz="6719" spc="-1" strike="noStrike">
              <a:solidFill>
                <a:srgbClr val="000000"/>
              </a:solidFill>
              <a:latin typeface="Helvetica Neue"/>
            </a:endParaRPr>
          </a:p>
          <a:p>
            <a:pPr marL="374760" indent="-260280" defTabSz="37476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8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698400" y="3702960"/>
            <a:ext cx="11607480" cy="42613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Transformer-ACO efficiently combines </a:t>
            </a: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learning + optimization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Achieves: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Lower cost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High success rate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◦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Balanced resource utilization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Neural heuristic guides ACO and improves convergence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Future: integrate LLMs for more granular routing policies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98040" y="603000"/>
            <a:ext cx="11608560" cy="14562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"/>
                <a:ea typeface="Helvetica Neue"/>
              </a:rPr>
              <a:t>Future Work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698400" y="2796120"/>
            <a:ext cx="11607480" cy="512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Neural Heuristic Fine-Tuning: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Adjust heuristic function using pheromone updates to improve solution quality.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Large-Scale &amp; Multi-Policy Deployment: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Extend to bigger constellations and multiple SFCs with policy-aware routing.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LLM-based Heuristics: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Use large language models for more adaptive and granular routing strategies.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Real-Time Deployment:</a:t>
            </a: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Enable online learning and dynamic VNF embedding for changing network conditions.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98040" y="752760"/>
            <a:ext cx="11608560" cy="1718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45720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8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698400" y="2895840"/>
            <a:ext cx="11607480" cy="4979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Transformer-ACO effectively: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Encodes SFC and network states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Guides ants to low-cost routing paths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Embeds VNFs considering node resources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Achieves: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 defTabSz="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123000"/>
              <a:buFont typeface="Times Roman"/>
              <a:buChar char="•"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Lower cost, higher success rate, balanced load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Future work: integrate LLM-based heuristics for finer routing policies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685800" y="2286000"/>
            <a:ext cx="11607480" cy="2617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173376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8200" spc="-165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Thank You</a:t>
            </a:r>
            <a:r>
              <a:rPr b="0" lang="en-US" sz="8200" spc="-165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 !</a:t>
            </a:r>
            <a:endParaRPr b="0" lang="en-US" sz="82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2025-12-03T23:54:59Z</dcterms:modified>
  <cp:revision>3</cp:revision>
  <dc:subject/>
  <dc:title/>
</cp:coreProperties>
</file>