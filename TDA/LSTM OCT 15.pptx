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3" r:id="rId3"/>
    <p:sldId id="271" r:id="rId4"/>
    <p:sldId id="258" r:id="rId5"/>
    <p:sldId id="272" r:id="rId6"/>
    <p:sldId id="259" r:id="rId7"/>
    <p:sldId id="260" r:id="rId8"/>
    <p:sldId id="268" r:id="rId9"/>
    <p:sldId id="261" r:id="rId10"/>
    <p:sldId id="269" r:id="rId11"/>
    <p:sldId id="262" r:id="rId12"/>
    <p:sldId id="284" r:id="rId13"/>
    <p:sldId id="285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82" r:id="rId22"/>
    <p:sldId id="279" r:id="rId23"/>
    <p:sldId id="265" r:id="rId24"/>
    <p:sldId id="266" r:id="rId25"/>
    <p:sldId id="286" r:id="rId26"/>
    <p:sldId id="267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T4kbF31e5rSXuAK4IbTpqSngj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89328af3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g1089328af3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089328a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1089328a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089328af3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1089328af3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89328af3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g1089328af3c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089328af3c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089328af3c_0_1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1089328af3c_0_1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89328af3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089328af3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7900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89328af3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1089328af3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8187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089328af3c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089328af3c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089328af3c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089328af3c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89328af3c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1089328af3c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peech_recogni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n.wikipedia.org/wiki/Anomaly_detection" TargetMode="External"/><Relationship Id="rId4" Type="http://schemas.openxmlformats.org/officeDocument/2006/relationships/hyperlink" Target="https://en.wikipedia.org/wiki/Sign_language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 txBox="1"/>
          <p:nvPr/>
        </p:nvSpPr>
        <p:spPr>
          <a:xfrm>
            <a:off x="2235300" y="1725700"/>
            <a:ext cx="77214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chemeClr val="dk1"/>
                </a:solidFill>
              </a:rPr>
              <a:t>Long Short Term Memory (LSTM)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1729900" y="3752800"/>
            <a:ext cx="101262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dirty="0" smtClean="0">
                <a:solidFill>
                  <a:schemeClr val="dk1"/>
                </a:solidFill>
              </a:rPr>
              <a:t>Jayaraj P B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smtClean="0">
                <a:solidFill>
                  <a:schemeClr val="dk1"/>
                </a:solidFill>
              </a:rPr>
              <a:t>Associate </a:t>
            </a:r>
            <a:r>
              <a:rPr lang="en-US" sz="2100" dirty="0">
                <a:solidFill>
                  <a:schemeClr val="dk1"/>
                </a:solidFill>
              </a:rPr>
              <a:t>Professor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</a:rPr>
              <a:t>Department of Computer Science and Engineering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</a:rPr>
              <a:t>National Institute of Technology Calicut, Kerala, </a:t>
            </a:r>
            <a:r>
              <a:rPr lang="en-US" sz="2100" dirty="0" smtClean="0">
                <a:solidFill>
                  <a:schemeClr val="dk1"/>
                </a:solidFill>
              </a:rPr>
              <a:t>India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16" y="1519311"/>
            <a:ext cx="9014026" cy="282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98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8068" y="5387926"/>
            <a:ext cx="9144000" cy="868680"/>
          </a:xfrm>
        </p:spPr>
        <p:txBody>
          <a:bodyPr/>
          <a:lstStyle/>
          <a:p>
            <a:r>
              <a:rPr lang="en-IN" dirty="0" smtClean="0"/>
              <a:t>RNN will fail to identify this mistake</a:t>
            </a:r>
          </a:p>
          <a:p>
            <a:r>
              <a:rPr lang="en-IN" dirty="0" smtClean="0"/>
              <a:t>If fails to remember the words that appeared long before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45" y="583597"/>
            <a:ext cx="10193880" cy="419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05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089328af3c_0_10"/>
          <p:cNvSpPr txBox="1"/>
          <p:nvPr/>
        </p:nvSpPr>
        <p:spPr>
          <a:xfrm>
            <a:off x="365300" y="1295225"/>
            <a:ext cx="44502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Pascanu, Razvan &amp; Mikolov, Tomas &amp; Bengio, Y.. (2012). On the difficulty of training Recurrent Neural Networks. 30th International Conference on Machine Learning, ICML 2013. 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There are two widely known issues with properly training Recurrent Neural Networks, the vanishing and the exploding gradient problems detailed in Bengio et al. (1994).</a:t>
            </a:r>
            <a:endParaRPr i="1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i="1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Given the BPTT equations rewritten such that the gradients are represented in sum-of-products form - transport the error “in time“ from step t back to step k.</a:t>
            </a:r>
            <a:endParaRPr i="1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i="1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“Long term and short term contributions, where long term refers to components for which k &lt;&lt; t and short term to everything else”.</a:t>
            </a:r>
            <a:endParaRPr i="1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i="1"/>
          </a:p>
        </p:txBody>
      </p:sp>
      <p:pic>
        <p:nvPicPr>
          <p:cNvPr id="47" name="Google Shape;47;g1089328af3c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650" y="119250"/>
            <a:ext cx="4686550" cy="589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0000"/>
          </a:xfrm>
        </p:spPr>
        <p:txBody>
          <a:bodyPr/>
          <a:lstStyle/>
          <a:p>
            <a:r>
              <a:rPr lang="en-IN" dirty="0" smtClean="0"/>
              <a:t>Vanishing Gradient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707" y="1491175"/>
            <a:ext cx="11000935" cy="4600136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The vanishing gradient problem occurs when the gradients used to update network weights during backpropagation become extremely small</a:t>
            </a:r>
            <a:r>
              <a:rPr lang="en-US" dirty="0" smtClean="0"/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algn="l"/>
            <a:r>
              <a:rPr lang="en-US" b="1" u="sng" dirty="0"/>
              <a:t>Why It Happens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During Backpropagation Through Time (BPTT), gradient terms are repeatedly multiplied by the same weight matrices across time steps.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If weight magnitudes are less than 1, repeated multiplication makes gradients exponentially smaller.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Activation functions like sigmoid and </a:t>
            </a:r>
            <a:r>
              <a:rPr lang="en-US" dirty="0" err="1"/>
              <a:t>tanh</a:t>
            </a:r>
            <a:r>
              <a:rPr lang="en-US" dirty="0"/>
              <a:t> exacerbate this since their derivatives are below 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46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89328af3c_0_46"/>
          <p:cNvSpPr txBox="1"/>
          <p:nvPr/>
        </p:nvSpPr>
        <p:spPr>
          <a:xfrm>
            <a:off x="1034511" y="2249098"/>
            <a:ext cx="9589200" cy="187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As introduced in </a:t>
            </a:r>
            <a:r>
              <a:rPr lang="en-US" sz="2200" dirty="0" err="1"/>
              <a:t>Bengio</a:t>
            </a:r>
            <a:r>
              <a:rPr lang="en-US" sz="2200" dirty="0"/>
              <a:t> et al. (1994), the exploding gradients problem refers to </a:t>
            </a:r>
            <a:r>
              <a:rPr lang="en-US" sz="2200" b="1" dirty="0"/>
              <a:t>the large increase in the norm of the gradient </a:t>
            </a:r>
            <a:r>
              <a:rPr lang="en-US" sz="2200" dirty="0"/>
              <a:t>during training. Such events are caused by the explosion of the long term components, which can grow exponentially more then short term ones. </a:t>
            </a:r>
            <a:endParaRPr sz="22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sp>
        <p:nvSpPr>
          <p:cNvPr id="58" name="Google Shape;58;g1089328af3c_0_46"/>
          <p:cNvSpPr txBox="1"/>
          <p:nvPr/>
        </p:nvSpPr>
        <p:spPr>
          <a:xfrm>
            <a:off x="1677150" y="498150"/>
            <a:ext cx="7788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 smtClean="0"/>
              <a:t>Exploding Gradient </a:t>
            </a:r>
            <a:r>
              <a:rPr lang="en-US" sz="3100" b="1" dirty="0"/>
              <a:t>Problem</a:t>
            </a:r>
            <a:endParaRPr sz="3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089328af3c_0_70"/>
          <p:cNvSpPr txBox="1"/>
          <p:nvPr/>
        </p:nvSpPr>
        <p:spPr>
          <a:xfrm>
            <a:off x="830250" y="5496350"/>
            <a:ext cx="689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http://colah.github.io/posts/2015-08-Understanding-LSTMs/</a:t>
            </a:r>
            <a:endParaRPr sz="1600"/>
          </a:p>
        </p:txBody>
      </p:sp>
      <p:sp>
        <p:nvSpPr>
          <p:cNvPr id="69" name="Google Shape;69;g1089328af3c_0_70"/>
          <p:cNvSpPr txBox="1"/>
          <p:nvPr/>
        </p:nvSpPr>
        <p:spPr>
          <a:xfrm>
            <a:off x="591300" y="1482374"/>
            <a:ext cx="110094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Sometimes, we only need to look at recent information to perform the present task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Case 1: “The clouds are in the </a:t>
            </a:r>
            <a:r>
              <a:rPr lang="en-US" sz="1750" b="1" i="1" dirty="0">
                <a:solidFill>
                  <a:srgbClr val="333333"/>
                </a:solidFill>
                <a:highlight>
                  <a:srgbClr val="FFFFFF"/>
                </a:highlight>
              </a:rPr>
              <a:t>sky</a:t>
            </a: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,” - The gap between the relevant information and the place that it’s needed is small, RNNs can learn to use the past information.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 smtClean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dirty="0" smtClean="0">
                <a:solidFill>
                  <a:srgbClr val="333333"/>
                </a:solidFill>
                <a:highlight>
                  <a:srgbClr val="FFFFFF"/>
                </a:highlight>
              </a:rPr>
              <a:t>No further context is needed.</a:t>
            </a:r>
            <a:endParaRPr sz="1750" dirty="0" smtClean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Case 2: “I grew up in France… I speak fluent </a:t>
            </a:r>
            <a:r>
              <a:rPr lang="en-US" sz="1750" b="1" i="1" dirty="0">
                <a:solidFill>
                  <a:srgbClr val="333333"/>
                </a:solidFill>
                <a:highlight>
                  <a:srgbClr val="FFFFFF"/>
                </a:highlight>
              </a:rPr>
              <a:t>French</a:t>
            </a:r>
            <a:r>
              <a:rPr lang="en-US" sz="1750" i="1" dirty="0">
                <a:solidFill>
                  <a:srgbClr val="333333"/>
                </a:solidFill>
                <a:highlight>
                  <a:srgbClr val="FFFFFF"/>
                </a:highlight>
              </a:rPr>
              <a:t>” - </a:t>
            </a: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The gap between the relevant information and the point where it is needed becomes very large.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dirty="0">
                <a:solidFill>
                  <a:srgbClr val="333333"/>
                </a:solidFill>
                <a:highlight>
                  <a:srgbClr val="FFFFFF"/>
                </a:highlight>
              </a:rPr>
              <a:t>Then, RNNs become unable to learn to connect the information.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50"/>
              <a:buChar char="●"/>
            </a:pPr>
            <a:r>
              <a:rPr lang="en-US" sz="1750" b="1" dirty="0">
                <a:solidFill>
                  <a:srgbClr val="333333"/>
                </a:solidFill>
                <a:highlight>
                  <a:srgbClr val="FFFFFF"/>
                </a:highlight>
              </a:rPr>
              <a:t>Thankfully, LSTMs don’t have this problem!</a:t>
            </a: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 dirty="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70" name="Google Shape;70;g1089328af3c_0_70"/>
          <p:cNvSpPr txBox="1"/>
          <p:nvPr/>
        </p:nvSpPr>
        <p:spPr>
          <a:xfrm>
            <a:off x="1926225" y="459050"/>
            <a:ext cx="67749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/>
              <a:t>Shortcomings of RNNs</a:t>
            </a:r>
            <a:endParaRPr sz="39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7563" y="841009"/>
            <a:ext cx="9144000" cy="790843"/>
          </a:xfrm>
        </p:spPr>
        <p:txBody>
          <a:bodyPr/>
          <a:lstStyle/>
          <a:p>
            <a:r>
              <a:rPr lang="en-IN" dirty="0" smtClean="0"/>
              <a:t>LSTM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5926" y="2222695"/>
            <a:ext cx="9852074" cy="3657600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LSTM, or Long Short-Term Memory, is a type of recurrent neural network (RNN) </a:t>
            </a:r>
            <a:r>
              <a:rPr lang="en-US" dirty="0" smtClean="0"/>
              <a:t>to </a:t>
            </a:r>
            <a:r>
              <a:rPr lang="en-US" dirty="0"/>
              <a:t>process sequential </a:t>
            </a:r>
            <a:r>
              <a:rPr lang="en-US" dirty="0" smtClean="0"/>
              <a:t>data </a:t>
            </a:r>
            <a:r>
              <a:rPr lang="en-US" dirty="0"/>
              <a:t>by using memory cells and gates to retain information for extended periods. </a:t>
            </a:r>
            <a:endParaRPr lang="en-US" dirty="0" smtClean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This structure allows LSTMs to overcome the vanishing gradient problem found in traditional RNNs and is effective for tasks that require understanding long-term dependencies in data</a:t>
            </a:r>
            <a:r>
              <a:rPr lang="en-US" dirty="0" smtClean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/>
              <a:t>Common applications include speech recognition, natural language processing, and time-series forecasting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144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g1089328af3c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0186" y="857250"/>
            <a:ext cx="413385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1089328af3c_0_54"/>
          <p:cNvSpPr txBox="1"/>
          <p:nvPr/>
        </p:nvSpPr>
        <p:spPr>
          <a:xfrm>
            <a:off x="415150" y="2607050"/>
            <a:ext cx="46329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highlight>
                  <a:srgbClr val="FFFFFF"/>
                </a:highlight>
              </a:rPr>
              <a:t>LSTMs are introduced by Hochreiter &amp; Schmidhuber (1997)</a:t>
            </a:r>
            <a:endParaRPr sz="3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82" name="Google Shape;82;g1089328af3c_0_54"/>
          <p:cNvSpPr txBox="1"/>
          <p:nvPr/>
        </p:nvSpPr>
        <p:spPr>
          <a:xfrm>
            <a:off x="1676275" y="332100"/>
            <a:ext cx="5546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/>
              <a:t>Long Short Term Memory</a:t>
            </a:r>
            <a:endParaRPr sz="34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5372" y="131743"/>
            <a:ext cx="9144000" cy="1146591"/>
          </a:xfrm>
        </p:spPr>
        <p:txBody>
          <a:bodyPr/>
          <a:lstStyle/>
          <a:p>
            <a:r>
              <a:rPr lang="en-IN" dirty="0" smtClean="0"/>
              <a:t>How it works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5371" y="1568620"/>
            <a:ext cx="10159999" cy="4745094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b="1" dirty="0"/>
              <a:t>Memory cells: </a:t>
            </a:r>
            <a:r>
              <a:rPr lang="en-US" dirty="0"/>
              <a:t>LSTMs contain a cell state, which acts as a long-term memory or a "conveyor belt" for information. Information can flow along this state with only minor linear interactions, making it easy for it to be preserved unchanged</a:t>
            </a:r>
            <a:r>
              <a:rPr lang="en-US" dirty="0" smtClean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b="1" dirty="0" smtClean="0"/>
              <a:t>Gates: </a:t>
            </a:r>
            <a:r>
              <a:rPr lang="en-US" dirty="0" smtClean="0"/>
              <a:t>The </a:t>
            </a:r>
            <a:r>
              <a:rPr lang="en-US" dirty="0"/>
              <a:t>cell state's flow is regulated by three gates—input, forget, and output—which are composed of a sigmoid neural net layer and a multiplication operation.</a:t>
            </a:r>
          </a:p>
          <a:p>
            <a:pPr algn="just"/>
            <a:r>
              <a:rPr lang="en-US" sz="2100" b="1" dirty="0" smtClean="0"/>
              <a:t>	* Forget </a:t>
            </a:r>
            <a:r>
              <a:rPr lang="en-US" sz="2100" b="1" dirty="0"/>
              <a:t>gate: </a:t>
            </a:r>
            <a:r>
              <a:rPr lang="en-US" sz="2100" dirty="0"/>
              <a:t>Decides what information to throw away from the cell state.</a:t>
            </a:r>
          </a:p>
          <a:p>
            <a:pPr lvl="2" algn="just"/>
            <a:r>
              <a:rPr lang="en-US" sz="2100" b="1" dirty="0" smtClean="0"/>
              <a:t>               * Input </a:t>
            </a:r>
            <a:r>
              <a:rPr lang="en-US" sz="2100" b="1" dirty="0"/>
              <a:t>gate: </a:t>
            </a:r>
            <a:r>
              <a:rPr lang="en-US" sz="2100" dirty="0"/>
              <a:t>Decides what new information to store in the cell state.</a:t>
            </a:r>
          </a:p>
          <a:p>
            <a:pPr algn="just"/>
            <a:r>
              <a:rPr lang="en-US" sz="2100" b="1" dirty="0" smtClean="0"/>
              <a:t>	* Output </a:t>
            </a:r>
            <a:r>
              <a:rPr lang="en-US" sz="2100" b="1" dirty="0"/>
              <a:t>gate: </a:t>
            </a:r>
            <a:r>
              <a:rPr lang="en-US" sz="2100" dirty="0"/>
              <a:t>Decides what to output based on the cell state</a:t>
            </a:r>
            <a:r>
              <a:rPr lang="en-US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104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1089328af3c_0_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00" y="1625875"/>
            <a:ext cx="5294126" cy="22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1089328af3c_0_178"/>
          <p:cNvSpPr txBox="1"/>
          <p:nvPr/>
        </p:nvSpPr>
        <p:spPr>
          <a:xfrm>
            <a:off x="282275" y="1212175"/>
            <a:ext cx="529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33333"/>
                </a:solidFill>
                <a:highlight>
                  <a:srgbClr val="FFFFFF"/>
                </a:highlight>
              </a:rPr>
              <a:t>The repeating module in a standard RNN contains a single layer</a:t>
            </a:r>
            <a:endParaRPr b="1"/>
          </a:p>
        </p:txBody>
      </p:sp>
      <p:pic>
        <p:nvPicPr>
          <p:cNvPr id="90" name="Google Shape;90;g1089328af3c_0_1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0800" y="3475838"/>
            <a:ext cx="5697050" cy="21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1089328af3c_0_178"/>
          <p:cNvSpPr txBox="1"/>
          <p:nvPr/>
        </p:nvSpPr>
        <p:spPr>
          <a:xfrm>
            <a:off x="116225" y="6359825"/>
            <a:ext cx="689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http://colah.github.io/posts/2015-08-Understanding-LSTMs/</a:t>
            </a:r>
            <a:endParaRPr sz="1600"/>
          </a:p>
        </p:txBody>
      </p:sp>
      <p:sp>
        <p:nvSpPr>
          <p:cNvPr id="92" name="Google Shape;92;g1089328af3c_0_178"/>
          <p:cNvSpPr txBox="1"/>
          <p:nvPr/>
        </p:nvSpPr>
        <p:spPr>
          <a:xfrm>
            <a:off x="5828475" y="3161950"/>
            <a:ext cx="586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33333"/>
                </a:solidFill>
                <a:highlight>
                  <a:srgbClr val="FFFFFF"/>
                </a:highlight>
              </a:rPr>
              <a:t>The repeating module in an LSTM contains four interacting layers.</a:t>
            </a:r>
            <a:endParaRPr b="1"/>
          </a:p>
        </p:txBody>
      </p:sp>
      <p:sp>
        <p:nvSpPr>
          <p:cNvPr id="93" name="Google Shape;93;g1089328af3c_0_178"/>
          <p:cNvSpPr txBox="1"/>
          <p:nvPr/>
        </p:nvSpPr>
        <p:spPr>
          <a:xfrm>
            <a:off x="846875" y="348700"/>
            <a:ext cx="9830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Architectural difference  - RNN &amp; LSTM</a:t>
            </a:r>
            <a:endParaRPr sz="2800" b="1" dirty="0"/>
          </a:p>
        </p:txBody>
      </p:sp>
      <p:pic>
        <p:nvPicPr>
          <p:cNvPr id="94" name="Google Shape;94;g1089328af3c_0_1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0800" y="5858725"/>
            <a:ext cx="4633575" cy="7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1089328af3c_0_78"/>
          <p:cNvPicPr preferRelativeResize="0"/>
          <p:nvPr/>
        </p:nvPicPr>
        <p:blipFill rotWithShape="1">
          <a:blip r:embed="rId3">
            <a:alphaModFix amt="79000"/>
          </a:blip>
          <a:srcRect/>
          <a:stretch/>
        </p:blipFill>
        <p:spPr>
          <a:xfrm>
            <a:off x="10801368" y="225433"/>
            <a:ext cx="975033" cy="852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1089328af3c_0_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0294" y="208639"/>
            <a:ext cx="834567" cy="98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1089328af3c_0_78"/>
          <p:cNvPicPr preferRelativeResize="0"/>
          <p:nvPr/>
        </p:nvPicPr>
        <p:blipFill rotWithShape="1">
          <a:blip r:embed="rId3">
            <a:alphaModFix amt="79000"/>
          </a:blip>
          <a:srcRect/>
          <a:stretch/>
        </p:blipFill>
        <p:spPr>
          <a:xfrm>
            <a:off x="10801368" y="225433"/>
            <a:ext cx="975033" cy="852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1089328af3c_0_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223" y="208639"/>
            <a:ext cx="796828" cy="86946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1089328af3c_0_78"/>
          <p:cNvSpPr txBox="1"/>
          <p:nvPr/>
        </p:nvSpPr>
        <p:spPr>
          <a:xfrm>
            <a:off x="996300" y="1046200"/>
            <a:ext cx="5430000" cy="50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972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The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key to LSTMs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 is the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cell state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, the horizontal line running through the top of the diagram</a:t>
            </a:r>
            <a:endParaRPr sz="17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LSTM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 has the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ability to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remove or add information to the cell state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, carefully regulated by structures called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gates.</a:t>
            </a:r>
            <a:endParaRPr sz="1750" b="1" i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Gates</a:t>
            </a: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 are a way to optionally let information through - </a:t>
            </a:r>
            <a:r>
              <a:rPr lang="en-US" sz="1750" b="1" i="1">
                <a:solidFill>
                  <a:srgbClr val="333333"/>
                </a:solidFill>
                <a:highlight>
                  <a:srgbClr val="FFFFFF"/>
                </a:highlight>
              </a:rPr>
              <a:t>composed out of a sigmoid neural net layer and a pointwise multiplication operation</a:t>
            </a:r>
            <a:endParaRPr sz="1750" b="1" i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The sigmoid layer outputs numbers between zero and one, describing how much of each component should be let through. </a:t>
            </a:r>
            <a:endParaRPr sz="17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3972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50"/>
              <a:buChar char="●"/>
            </a:pPr>
            <a:r>
              <a:rPr lang="en-US" sz="1750">
                <a:solidFill>
                  <a:srgbClr val="333333"/>
                </a:solidFill>
                <a:highlight>
                  <a:srgbClr val="FFFFFF"/>
                </a:highlight>
              </a:rPr>
              <a:t>A value of zero means “let nothing through,” while a value of one means “let everything through!”.</a:t>
            </a:r>
            <a:endParaRPr sz="17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58775" algn="just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50"/>
              <a:buChar char="●"/>
            </a:pPr>
            <a:r>
              <a:rPr lang="en-US" sz="1650">
                <a:solidFill>
                  <a:srgbClr val="333333"/>
                </a:solidFill>
                <a:highlight>
                  <a:srgbClr val="FFFFFF"/>
                </a:highlight>
              </a:rPr>
              <a:t>An </a:t>
            </a:r>
            <a:r>
              <a:rPr lang="en-US" sz="1650" b="1" i="1">
                <a:solidFill>
                  <a:srgbClr val="333333"/>
                </a:solidFill>
                <a:highlight>
                  <a:srgbClr val="FFFFFF"/>
                </a:highlight>
              </a:rPr>
              <a:t>LSTM has three of these gates</a:t>
            </a:r>
            <a:r>
              <a:rPr lang="en-US" sz="1650">
                <a:solidFill>
                  <a:srgbClr val="333333"/>
                </a:solidFill>
                <a:highlight>
                  <a:srgbClr val="FFFFFF"/>
                </a:highlight>
              </a:rPr>
              <a:t>, to protect and control the cell state.</a:t>
            </a:r>
            <a:endParaRPr sz="205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pic>
        <p:nvPicPr>
          <p:cNvPr id="105" name="Google Shape;105;g1089328af3c_0_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7450" y="1442175"/>
            <a:ext cx="4076248" cy="161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1089328af3c_0_78"/>
          <p:cNvSpPr txBox="1"/>
          <p:nvPr/>
        </p:nvSpPr>
        <p:spPr>
          <a:xfrm>
            <a:off x="2308150" y="335575"/>
            <a:ext cx="5097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</a:rPr>
              <a:t>LSTM - Closer view</a:t>
            </a:r>
            <a:endParaRPr/>
          </a:p>
        </p:txBody>
      </p:sp>
      <p:pic>
        <p:nvPicPr>
          <p:cNvPr id="107" name="Google Shape;107;g1089328af3c_0_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54600" y="3971650"/>
            <a:ext cx="1509475" cy="1844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1089328af3c_0_78"/>
          <p:cNvSpPr txBox="1"/>
          <p:nvPr/>
        </p:nvSpPr>
        <p:spPr>
          <a:xfrm>
            <a:off x="10244150" y="2002475"/>
            <a:ext cx="1719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Cell State</a:t>
            </a:r>
            <a:endParaRPr sz="2000" b="1"/>
          </a:p>
        </p:txBody>
      </p:sp>
      <p:sp>
        <p:nvSpPr>
          <p:cNvPr id="109" name="Google Shape;109;g1089328af3c_0_78"/>
          <p:cNvSpPr txBox="1"/>
          <p:nvPr/>
        </p:nvSpPr>
        <p:spPr>
          <a:xfrm>
            <a:off x="10004575" y="4655613"/>
            <a:ext cx="796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Gate</a:t>
            </a:r>
            <a:endParaRPr sz="1900" b="1"/>
          </a:p>
        </p:txBody>
      </p:sp>
      <p:sp>
        <p:nvSpPr>
          <p:cNvPr id="110" name="Google Shape;110;g1089328af3c_0_78"/>
          <p:cNvSpPr txBox="1"/>
          <p:nvPr/>
        </p:nvSpPr>
        <p:spPr>
          <a:xfrm>
            <a:off x="182600" y="6331350"/>
            <a:ext cx="5795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http://colah.github.io/posts/2015-08-Understanding-LSTMs/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32893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89328af3c_0_94"/>
          <p:cNvSpPr txBox="1"/>
          <p:nvPr/>
        </p:nvSpPr>
        <p:spPr>
          <a:xfrm>
            <a:off x="2124324" y="347000"/>
            <a:ext cx="6011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3550" b="1" dirty="0">
                <a:solidFill>
                  <a:srgbClr val="333333"/>
                </a:solidFill>
                <a:highlight>
                  <a:srgbClr val="FFFFFF"/>
                </a:highlight>
              </a:rPr>
              <a:t>LSTM Walk Through</a:t>
            </a:r>
            <a:endParaRPr sz="3550" b="1" dirty="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21" name="Google Shape;121;g1089328af3c_0_94"/>
          <p:cNvSpPr txBox="1"/>
          <p:nvPr/>
        </p:nvSpPr>
        <p:spPr>
          <a:xfrm>
            <a:off x="946500" y="1243875"/>
            <a:ext cx="10146000" cy="4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rabi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Decide what information we’re going to throw away from the cell state. This decision is made by a sigmoid layer called the “</a:t>
            </a:r>
            <a:r>
              <a:rPr lang="en-US" sz="2000" b="1" i="1" dirty="0">
                <a:solidFill>
                  <a:srgbClr val="333333"/>
                </a:solidFill>
                <a:highlight>
                  <a:srgbClr val="FFFFFF"/>
                </a:highlight>
              </a:rPr>
              <a:t>forget gate layer”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rabi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Decide what new information we’re going to store in the cell state. 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lphaL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First, a sigmoid layer called the “</a:t>
            </a:r>
            <a:r>
              <a:rPr lang="en-US" sz="2000" b="1" i="1" dirty="0">
                <a:solidFill>
                  <a:srgbClr val="333333"/>
                </a:solidFill>
                <a:highlight>
                  <a:srgbClr val="FFFFFF"/>
                </a:highlight>
              </a:rPr>
              <a:t>input gate layer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” decides which values we’ll update. 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lphaL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Next, a </a:t>
            </a:r>
            <a:r>
              <a:rPr lang="en-US" sz="2000" b="1" i="1" dirty="0" err="1">
                <a:solidFill>
                  <a:srgbClr val="333333"/>
                </a:solidFill>
                <a:highlight>
                  <a:srgbClr val="FFFFFF"/>
                </a:highlight>
              </a:rPr>
              <a:t>tanh</a:t>
            </a:r>
            <a:r>
              <a:rPr lang="en-US" sz="2000" b="1" i="1" dirty="0">
                <a:solidFill>
                  <a:srgbClr val="333333"/>
                </a:solidFill>
                <a:highlight>
                  <a:srgbClr val="FFFFFF"/>
                </a:highlight>
              </a:rPr>
              <a:t> layer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 creates a vector of new candidate values, that could be added to the state. In the next step, we’ll combine these two to create an update to the state.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rabi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Update the old cell state, into the new cell state 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rabi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Finally, decide what we’re going to output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lphaL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Run a </a:t>
            </a:r>
            <a:r>
              <a:rPr lang="en-US" sz="2000" b="1" i="1" dirty="0">
                <a:solidFill>
                  <a:srgbClr val="333333"/>
                </a:solidFill>
                <a:highlight>
                  <a:srgbClr val="FFFFFF"/>
                </a:highlight>
              </a:rPr>
              <a:t>sigmoid layer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 which decides what parts of the cell state we’re going to output. 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AutoNum type="alphaLcPeriod"/>
            </a:pP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Put the cell state through </a:t>
            </a:r>
            <a:r>
              <a:rPr lang="en-US" sz="2000" dirty="0" err="1">
                <a:solidFill>
                  <a:srgbClr val="333333"/>
                </a:solidFill>
                <a:highlight>
                  <a:srgbClr val="FFFFFF"/>
                </a:highlight>
              </a:rPr>
              <a:t>tanh</a:t>
            </a:r>
            <a:r>
              <a:rPr lang="en-US" sz="2000" dirty="0">
                <a:solidFill>
                  <a:srgbClr val="333333"/>
                </a:solidFill>
                <a:highlight>
                  <a:srgbClr val="FFFFFF"/>
                </a:highlight>
              </a:rPr>
              <a:t> and multiply it by the output of the sigmoid gate, so that we only output the parts we decided to.</a:t>
            </a:r>
            <a:endParaRPr sz="2000" dirty="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84589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883" y="773723"/>
            <a:ext cx="5858693" cy="2505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219" y="3854548"/>
            <a:ext cx="5868219" cy="2489981"/>
          </a:xfrm>
          <a:prstGeom prst="rect">
            <a:avLst/>
          </a:prstGeom>
        </p:spPr>
      </p:pic>
      <p:sp>
        <p:nvSpPr>
          <p:cNvPr id="8" name="Google Shape;93;g1089328af3c_0_178"/>
          <p:cNvSpPr txBox="1"/>
          <p:nvPr/>
        </p:nvSpPr>
        <p:spPr>
          <a:xfrm>
            <a:off x="8440615" y="348700"/>
            <a:ext cx="223666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/>
              <a:t>RNN &amp; LSTM Cells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709115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55" y="492369"/>
            <a:ext cx="8759153" cy="27150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55" y="3516924"/>
            <a:ext cx="8857135" cy="295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70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55" y="339841"/>
            <a:ext cx="6125430" cy="28864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254" y="3603323"/>
            <a:ext cx="6237323" cy="29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08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485" y="225083"/>
            <a:ext cx="6609282" cy="26271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326" y="3218007"/>
            <a:ext cx="6509357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5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068" y="687108"/>
            <a:ext cx="9364466" cy="351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24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70" y="1437459"/>
            <a:ext cx="10164471" cy="376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89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025" y="1160302"/>
            <a:ext cx="9477093" cy="443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47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056" y="1209821"/>
            <a:ext cx="9586756" cy="32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24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57" y="1189706"/>
            <a:ext cx="9519491" cy="345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76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089328af3c_0_86"/>
          <p:cNvSpPr txBox="1"/>
          <p:nvPr/>
        </p:nvSpPr>
        <p:spPr>
          <a:xfrm>
            <a:off x="979725" y="1981950"/>
            <a:ext cx="10796700" cy="392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/>
              <a:t>In the forward propagation, gates control the flow of information to the cell state.</a:t>
            </a:r>
            <a:endParaRPr sz="27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/>
              <a:t>During the backward propagation, gates control the flow of gradients.</a:t>
            </a:r>
            <a:endParaRPr sz="27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/>
              <a:t>So gradients vanish only when they should.</a:t>
            </a:r>
            <a:endParaRPr sz="27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/>
          </a:p>
        </p:txBody>
      </p:sp>
      <p:sp>
        <p:nvSpPr>
          <p:cNvPr id="132" name="Google Shape;132;g1089328af3c_0_86"/>
          <p:cNvSpPr txBox="1"/>
          <p:nvPr/>
        </p:nvSpPr>
        <p:spPr>
          <a:xfrm>
            <a:off x="1560900" y="531350"/>
            <a:ext cx="8136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Solving Vanishing /Exploding Gradient problem with LSTM</a:t>
            </a:r>
            <a:endParaRPr sz="28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89328af3c_0_102"/>
          <p:cNvSpPr txBox="1"/>
          <p:nvPr/>
        </p:nvSpPr>
        <p:spPr>
          <a:xfrm>
            <a:off x="1444675" y="1277375"/>
            <a:ext cx="5175900" cy="3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73100" lvl="0" indent="-37465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Time series prediction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Speech recognition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Music composition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Handwriting recognition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Human action recognition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Sign language translation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Time series </a:t>
            </a: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anomaly detection</a:t>
            </a:r>
            <a:endParaRPr sz="2300" baseline="30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6731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So on….</a:t>
            </a:r>
            <a:endParaRPr sz="2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43" name="Google Shape;143;g1089328af3c_0_102"/>
          <p:cNvSpPr txBox="1"/>
          <p:nvPr/>
        </p:nvSpPr>
        <p:spPr>
          <a:xfrm>
            <a:off x="1257250" y="357275"/>
            <a:ext cx="5363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/>
              <a:t>Real world Applications</a:t>
            </a:r>
            <a:endParaRPr sz="33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6203" y="3461362"/>
            <a:ext cx="9144000" cy="1655762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Sitka Heading" pitchFamily="2" charset="0"/>
              </a:rPr>
              <a:t>Gradient clipping </a:t>
            </a:r>
            <a:r>
              <a:rPr lang="en-US" sz="2800" dirty="0">
                <a:latin typeface="Sitka Heading" pitchFamily="2" charset="0"/>
              </a:rPr>
              <a:t>is a method where the error derivative is changed or clipped to a threshold during backward propagation through the network, and the clipped gradients are used to update the weights.</a:t>
            </a:r>
            <a:endParaRPr lang="en-IN" sz="2800" dirty="0">
              <a:latin typeface="Sitka Heading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16592" y="377167"/>
            <a:ext cx="41064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Gradient clipping </a:t>
            </a:r>
            <a:endParaRPr lang="en-IN" sz="3600" dirty="0"/>
          </a:p>
        </p:txBody>
      </p:sp>
      <p:sp>
        <p:nvSpPr>
          <p:cNvPr id="5" name="Rectangle 4"/>
          <p:cNvSpPr/>
          <p:nvPr/>
        </p:nvSpPr>
        <p:spPr>
          <a:xfrm>
            <a:off x="956259" y="2220035"/>
            <a:ext cx="87719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00050">
              <a:buSzPts val="2700"/>
              <a:buChar char="●"/>
            </a:pPr>
            <a:r>
              <a:rPr lang="en-US" sz="2400" dirty="0"/>
              <a:t>Exploding gradient problem is solved by “Gradient Clipping</a:t>
            </a:r>
            <a:r>
              <a:rPr lang="en-US" dirty="0"/>
              <a:t>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91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089328af3c_0_110"/>
          <p:cNvSpPr txBox="1"/>
          <p:nvPr/>
        </p:nvSpPr>
        <p:spPr>
          <a:xfrm>
            <a:off x="3354275" y="2623625"/>
            <a:ext cx="6227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/>
              <a:t>Thank You !!!</a:t>
            </a:r>
            <a:endParaRPr sz="52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930</Words>
  <Application>Microsoft Office PowerPoint</Application>
  <PresentationFormat>Widescreen</PresentationFormat>
  <Paragraphs>97</Paragraphs>
  <Slides>26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Sitka Heading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Vanishing Gradient</vt:lpstr>
      <vt:lpstr>PowerPoint Presentation</vt:lpstr>
      <vt:lpstr>PowerPoint Presentation</vt:lpstr>
      <vt:lpstr>LSTM</vt:lpstr>
      <vt:lpstr>PowerPoint Presentation</vt:lpstr>
      <vt:lpstr>How it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Pebbeti Bhanu prakash</dc:creator>
  <cp:lastModifiedBy>Jayaraj P B</cp:lastModifiedBy>
  <cp:revision>9</cp:revision>
  <dcterms:created xsi:type="dcterms:W3CDTF">2021-12-06T09:03:30Z</dcterms:created>
  <dcterms:modified xsi:type="dcterms:W3CDTF">2025-10-15T11:26:44Z</dcterms:modified>
</cp:coreProperties>
</file>