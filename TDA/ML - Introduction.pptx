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10.jpg" ContentType="image/jpg"/>
  <Override PartName="/ppt/media/image11.jpg" ContentType="image/jpg"/>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media/image20.jpg" ContentType="image/jpg"/>
  <Override PartName="/ppt/media/image21.jpg" ContentType="image/jpg"/>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3"/>
  </p:notesMasterIdLst>
  <p:sldIdLst>
    <p:sldId id="256" r:id="rId2"/>
    <p:sldId id="257" r:id="rId3"/>
    <p:sldId id="337" r:id="rId4"/>
    <p:sldId id="305" r:id="rId5"/>
    <p:sldId id="258" r:id="rId6"/>
    <p:sldId id="259" r:id="rId7"/>
    <p:sldId id="340" r:id="rId8"/>
    <p:sldId id="338" r:id="rId9"/>
    <p:sldId id="339" r:id="rId10"/>
    <p:sldId id="260" r:id="rId11"/>
    <p:sldId id="261" r:id="rId12"/>
    <p:sldId id="262" r:id="rId13"/>
    <p:sldId id="317" r:id="rId14"/>
    <p:sldId id="318" r:id="rId15"/>
    <p:sldId id="319" r:id="rId16"/>
    <p:sldId id="313" r:id="rId17"/>
    <p:sldId id="315" r:id="rId18"/>
    <p:sldId id="306" r:id="rId19"/>
    <p:sldId id="307" r:id="rId20"/>
    <p:sldId id="325" r:id="rId21"/>
    <p:sldId id="320" r:id="rId22"/>
    <p:sldId id="321" r:id="rId23"/>
    <p:sldId id="263" r:id="rId24"/>
    <p:sldId id="271" r:id="rId25"/>
    <p:sldId id="272" r:id="rId26"/>
    <p:sldId id="273" r:id="rId27"/>
    <p:sldId id="275" r:id="rId28"/>
    <p:sldId id="328" r:id="rId29"/>
    <p:sldId id="322" r:id="rId30"/>
    <p:sldId id="276" r:id="rId31"/>
    <p:sldId id="324" r:id="rId32"/>
  </p:sldIdLst>
  <p:sldSz cx="9144000" cy="5143500" type="screen16x9"/>
  <p:notesSz cx="6858000" cy="9144000"/>
  <p:embeddedFontLst>
    <p:embeddedFont>
      <p:font typeface="Trebuchet MS" panose="020B0603020202020204" pitchFamily="34" charset="0"/>
      <p:regular r:id="rId34"/>
      <p:bold r:id="rId35"/>
      <p:italic r:id="rId36"/>
      <p:boldItalic r:id="rId37"/>
    </p:embeddedFont>
    <p:embeddedFont>
      <p:font typeface="Proxima Nova Semibold" panose="020B0604020202020204" charset="0"/>
      <p:regular r:id="rId38"/>
      <p:bold r:id="rId39"/>
      <p:boldItalic r:id="rId40"/>
    </p:embeddedFont>
    <p:embeddedFont>
      <p:font typeface="Roboto" panose="020B0604020202020204" charset="0"/>
      <p:regular r:id="rId41"/>
      <p:bold r:id="rId42"/>
      <p:italic r:id="rId43"/>
      <p:boldItalic r:id="rId44"/>
    </p:embeddedFont>
    <p:embeddedFont>
      <p:font typeface="Calibri Light" panose="020F0302020204030204" pitchFamily="34" charset="0"/>
      <p:regular r:id="rId45"/>
      <p:italic r:id="rId46"/>
    </p:embeddedFont>
    <p:embeddedFont>
      <p:font typeface="Roboto Medium" panose="020B0604020202020204" charset="0"/>
      <p:regular r:id="rId47"/>
      <p:bold r:id="rId48"/>
      <p:italic r:id="rId49"/>
      <p:boldItalic r:id="rId50"/>
    </p:embeddedFont>
    <p:embeddedFont>
      <p:font typeface="Tahoma" panose="020B0604030504040204" pitchFamily="34" charset="0"/>
      <p:regular r:id="rId51"/>
      <p:bold r:id="rId52"/>
    </p:embeddedFont>
    <p:embeddedFont>
      <p:font typeface="Calibri" panose="020F0502020204030204" pitchFamily="34" charset="0"/>
      <p:regular r:id="rId53"/>
      <p:bold r:id="rId54"/>
      <p:italic r:id="rId55"/>
      <p:boldItalic r:id="rId56"/>
    </p:embeddedFont>
    <p:embeddedFont>
      <p:font typeface="Helvetica" panose="020B0604020202020204" pitchFamily="34" charset="0"/>
      <p:regular r:id="rId57"/>
      <p:bold r:id="rId58"/>
      <p:italic r:id="rId59"/>
      <p:boldItalic r:id="rId60"/>
    </p:embeddedFont>
    <p:embeddedFont>
      <p:font typeface="Microsoft Sans Serif" panose="020B0604020202020204" pitchFamily="34" charset="0"/>
      <p:regular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font" Target="fonts/font22.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8" Type="http://schemas.openxmlformats.org/officeDocument/2006/relationships/font" Target="fonts/font25.fntdata"/><Relationship Id="rId5" Type="http://schemas.openxmlformats.org/officeDocument/2006/relationships/slide" Target="slides/slide4.xml"/><Relationship Id="rId61" Type="http://schemas.openxmlformats.org/officeDocument/2006/relationships/font" Target="fonts/font2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font" Target="fonts/font23.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font" Target="fonts/font26.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font" Target="fonts/font21.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 Id="rId57" Type="http://schemas.openxmlformats.org/officeDocument/2006/relationships/font" Target="fonts/font2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font" Target="fonts/font19.fntdata"/><Relationship Id="rId60" Type="http://schemas.openxmlformats.org/officeDocument/2006/relationships/font" Target="fonts/font27.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228769e9f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1228769e9f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2794541d1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g12794541d1a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12794541d1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g12794541d1a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2794541d1a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12794541d1a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72772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2794541d1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12794541d1a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2794541d1a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12794541d1a_0_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2794541d1a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12794541d1a_0_1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D5AC3081-5483-4294-BFCE-C45FC060453E}" type="slidenum">
              <a:rPr lang="en-US" altLang="en-US"/>
              <a:pPr/>
              <a:t>13</a:t>
            </a:fld>
            <a:endParaRPr lang="en-US" altLang="en-US"/>
          </a:p>
        </p:txBody>
      </p:sp>
      <p:sp>
        <p:nvSpPr>
          <p:cNvPr id="34818" name="Slide Image Placeholder 1"/>
          <p:cNvSpPr>
            <a:spLocks noGrp="1" noRot="1" noChangeAspect="1" noTextEdit="1"/>
          </p:cNvSpPr>
          <p:nvPr>
            <p:ph type="sldImg"/>
          </p:nvPr>
        </p:nvSpPr>
        <p:spPr>
          <a:xfrm>
            <a:off x="384175" y="685800"/>
            <a:ext cx="6091238" cy="3427413"/>
          </a:xfrm>
          <a:ln/>
        </p:spPr>
      </p:sp>
      <p:sp>
        <p:nvSpPr>
          <p:cNvPr id="34819" name="Notes Placeholder 2"/>
          <p:cNvSpPr>
            <a:spLocks noGrp="1"/>
          </p:cNvSpPr>
          <p:nvPr>
            <p:ph type="body" idx="1"/>
          </p:nvPr>
        </p:nvSpPr>
        <p:spPr>
          <a:xfrm>
            <a:off x="914400" y="4343400"/>
            <a:ext cx="5029200" cy="4114800"/>
          </a:xfrm>
        </p:spPr>
        <p:txBody>
          <a:bodyPr/>
          <a:lstStyle/>
          <a:p>
            <a:endParaRPr lang="en-US" altLang="en-US"/>
          </a:p>
        </p:txBody>
      </p:sp>
      <p:sp>
        <p:nvSpPr>
          <p:cNvPr id="34820" name="Slide Number Placeholder 3"/>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fld id="{B352F741-11CA-4A78-B8CF-D54F03EDB178}" type="slidenum">
              <a:rPr lang="en-US" altLang="en-US" sz="1200" b="0">
                <a:latin typeface="Times New Roman" panose="02020603050405020304" pitchFamily="18" charset="0"/>
              </a:rPr>
              <a:pPr algn="r"/>
              <a:t>13</a:t>
            </a:fld>
            <a:endParaRPr lang="en-US" altLang="en-US" sz="1200" b="0">
              <a:latin typeface="Times New Roman" panose="02020603050405020304" pitchFamily="18" charset="0"/>
            </a:endParaRPr>
          </a:p>
        </p:txBody>
      </p:sp>
    </p:spTree>
    <p:extLst>
      <p:ext uri="{BB962C8B-B14F-4D97-AF65-F5344CB8AC3E}">
        <p14:creationId xmlns:p14="http://schemas.microsoft.com/office/powerpoint/2010/main" val="1234072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kern="1200" dirty="0">
                <a:solidFill>
                  <a:schemeClr val="tx1"/>
                </a:solidFill>
                <a:effectLst/>
                <a:latin typeface="Trebuchet MS" pitchFamily="34" charset="0"/>
                <a:ea typeface="+mn-ea"/>
                <a:cs typeface="+mn-cs"/>
              </a:rPr>
              <a:t>With children, we expose them to lots of data, and help them learn by supplying the correct answer. A very popular learning technique is “Trail and Error”, where students make a prediction on what is the correct answer, and if they’re wrong, adjust their approach. It turns out that deep learning is very much like this. </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14</a:t>
            </a:fld>
            <a:endParaRPr lang="en-US" dirty="0"/>
          </a:p>
        </p:txBody>
      </p:sp>
    </p:spTree>
    <p:extLst>
      <p:ext uri="{BB962C8B-B14F-4D97-AF65-F5344CB8AC3E}">
        <p14:creationId xmlns:p14="http://schemas.microsoft.com/office/powerpoint/2010/main" val="2140758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2794541d1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794541d1a_0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277d2e505f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1277d2e505f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277d2e505f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g1277d2e505f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277d2e505f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1277d2e505f_0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277d2e505f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1277d2e505f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1228769e9fa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g1228769e9fa_0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extLst>
      <p:ext uri="{BB962C8B-B14F-4D97-AF65-F5344CB8AC3E}">
        <p14:creationId xmlns:p14="http://schemas.microsoft.com/office/powerpoint/2010/main" val="3155414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277d2e505f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1277d2e505f_0_1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Introduction to ML</a:t>
            </a:r>
            <a:endParaRPr lang="en-US" dirty="0"/>
          </a:p>
        </p:txBody>
      </p:sp>
      <p:sp>
        <p:nvSpPr>
          <p:cNvPr id="6" name="Slide Number Placeholder 5"/>
          <p:cNvSpPr>
            <a:spLocks noGrp="1"/>
          </p:cNvSpPr>
          <p:nvPr>
            <p:ph type="sldNum" sz="quarter" idx="12"/>
          </p:nvPr>
        </p:nvSpPr>
        <p:spPr>
          <a:xfrm>
            <a:off x="4361688" y="769779"/>
            <a:ext cx="457200" cy="330994"/>
          </a:xfrm>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301752" y="1145286"/>
            <a:ext cx="8503920" cy="3429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6868388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5290" y="434341"/>
            <a:ext cx="8313420" cy="492443"/>
          </a:xfrm>
        </p:spPr>
        <p:txBody>
          <a:bodyPr/>
          <a:lstStyle>
            <a:lvl1pPr algn="ctr">
              <a:defRPr sz="1750"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30625" y="1752530"/>
            <a:ext cx="8290560" cy="3099104"/>
          </a:xfrm>
        </p:spPr>
        <p:txBody>
          <a:bodyPr/>
          <a:lstStyle>
            <a:lvl1pPr marL="0" indent="0">
              <a:buClr>
                <a:schemeClr val="bg2"/>
              </a:buClr>
              <a:buSzPct val="100000"/>
              <a:buFontTx/>
              <a:buNone/>
              <a:defRPr sz="875">
                <a:solidFill>
                  <a:schemeClr val="accent4"/>
                </a:solidFill>
              </a:defRPr>
            </a:lvl1pPr>
            <a:lvl2pPr marL="357173" indent="0">
              <a:buClr>
                <a:schemeClr val="bg2"/>
              </a:buClr>
              <a:buSzPct val="100000"/>
              <a:buFontTx/>
              <a:buNone/>
              <a:defRPr sz="750">
                <a:solidFill>
                  <a:schemeClr val="accent4"/>
                </a:solidFill>
              </a:defRPr>
            </a:lvl2pPr>
            <a:lvl3pPr marL="680614" indent="0">
              <a:buClr>
                <a:schemeClr val="bg2"/>
              </a:buClr>
              <a:buSzPct val="100000"/>
              <a:buFontTx/>
              <a:buNone/>
              <a:defRPr sz="688">
                <a:solidFill>
                  <a:schemeClr val="accent4"/>
                </a:solidFill>
              </a:defRPr>
            </a:lvl3pPr>
            <a:lvl4pPr marL="1109222" indent="-142869">
              <a:buClr>
                <a:schemeClr val="bg2"/>
              </a:buClr>
              <a:buFont typeface="Wingdings" panose="05000000000000000000" pitchFamily="2" charset="2"/>
              <a:buChar char="§"/>
              <a:defRPr sz="1125">
                <a:solidFill>
                  <a:schemeClr val="tx1"/>
                </a:solidFill>
              </a:defRPr>
            </a:lvl4pPr>
            <a:lvl5pPr marL="1323525" indent="-142869">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415290" y="906780"/>
            <a:ext cx="8313420" cy="437886"/>
          </a:xfrm>
        </p:spPr>
        <p:txBody>
          <a:bodyPr/>
          <a:lstStyle>
            <a:lvl1pPr marL="0" indent="0" algn="ctr">
              <a:buFontTx/>
              <a:buNone/>
              <a:defRPr sz="1125" b="0">
                <a:solidFill>
                  <a:schemeClr val="tx2"/>
                </a:solidFill>
                <a:latin typeface="Trebuchet MS" panose="020B0603020202020204" pitchFamily="34" charset="0"/>
              </a:defRPr>
            </a:lvl1pPr>
            <a:lvl2pPr marL="357173" indent="0" algn="ctr">
              <a:buFontTx/>
              <a:buNone/>
              <a:defRPr sz="1750">
                <a:solidFill>
                  <a:schemeClr val="tx2"/>
                </a:solidFill>
                <a:latin typeface="Trebuchet MS" panose="020B0603020202020204" pitchFamily="34" charset="0"/>
              </a:defRPr>
            </a:lvl2pPr>
            <a:lvl3pPr marL="680614" indent="0" algn="ctr">
              <a:buFontTx/>
              <a:buNone/>
              <a:defRPr sz="1750">
                <a:solidFill>
                  <a:schemeClr val="tx2"/>
                </a:solidFill>
                <a:latin typeface="Trebuchet MS" panose="020B0603020202020204" pitchFamily="34" charset="0"/>
              </a:defRPr>
            </a:lvl3pPr>
            <a:lvl4pPr marL="966352" indent="0" algn="ctr">
              <a:buFontTx/>
              <a:buNone/>
              <a:defRPr sz="1750">
                <a:solidFill>
                  <a:schemeClr val="tx2"/>
                </a:solidFill>
                <a:latin typeface="Trebuchet MS" panose="020B0603020202020204" pitchFamily="34" charset="0"/>
              </a:defRPr>
            </a:lvl4pPr>
            <a:lvl5pPr marL="1180656" indent="0" algn="ctr">
              <a:buFontTx/>
              <a:buNone/>
              <a:defRPr sz="175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761852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1" r:id="rId11"/>
    <p:sldLayoutId id="2147483662" r:id="rId12"/>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gif"/><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gif"/><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a:off x="4348125" y="1491176"/>
            <a:ext cx="4723850" cy="2769375"/>
          </a:xfrm>
          <a:prstGeom prst="rect">
            <a:avLst/>
          </a:prstGeom>
          <a:noFill/>
          <a:ln>
            <a:noFill/>
          </a:ln>
        </p:spPr>
      </p:pic>
      <p:sp>
        <p:nvSpPr>
          <p:cNvPr id="64" name="Google Shape;64;p14"/>
          <p:cNvSpPr txBox="1"/>
          <p:nvPr/>
        </p:nvSpPr>
        <p:spPr>
          <a:xfrm>
            <a:off x="1601363" y="334825"/>
            <a:ext cx="6798358" cy="86943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450" b="1" dirty="0" smtClean="0">
                <a:solidFill>
                  <a:srgbClr val="585656"/>
                </a:solidFill>
                <a:highlight>
                  <a:srgbClr val="FFFFFF"/>
                </a:highlight>
              </a:rPr>
              <a:t>Introduction to </a:t>
            </a:r>
            <a:r>
              <a:rPr lang="en" sz="4450" b="1" dirty="0" smtClean="0">
                <a:solidFill>
                  <a:srgbClr val="585656"/>
                </a:solidFill>
                <a:highlight>
                  <a:srgbClr val="FFFFFF"/>
                </a:highlight>
              </a:rPr>
              <a:t>ML</a:t>
            </a:r>
            <a:endParaRPr sz="4450" b="1" dirty="0">
              <a:solidFill>
                <a:srgbClr val="585656"/>
              </a:solidFill>
              <a:highlight>
                <a:srgbClr val="FFFFFF"/>
              </a:highlight>
            </a:endParaRPr>
          </a:p>
        </p:txBody>
      </p:sp>
      <p:sp>
        <p:nvSpPr>
          <p:cNvPr id="65" name="Google Shape;65;p14"/>
          <p:cNvSpPr txBox="1"/>
          <p:nvPr/>
        </p:nvSpPr>
        <p:spPr>
          <a:xfrm>
            <a:off x="324175" y="2225950"/>
            <a:ext cx="3976500" cy="1736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2000" b="1" dirty="0">
                <a:solidFill>
                  <a:srgbClr val="FF0000"/>
                </a:solidFill>
              </a:rPr>
              <a:t>Dr. Jayaraj P. B </a:t>
            </a:r>
            <a:br>
              <a:rPr lang="en" sz="2000" b="1" dirty="0">
                <a:solidFill>
                  <a:srgbClr val="FF0000"/>
                </a:solidFill>
              </a:rPr>
            </a:br>
            <a:r>
              <a:rPr lang="en" sz="2000" b="1" dirty="0" smtClean="0">
                <a:solidFill>
                  <a:schemeClr val="dk1"/>
                </a:solidFill>
              </a:rPr>
              <a:t>Associate </a:t>
            </a:r>
            <a:r>
              <a:rPr lang="en" sz="2000" b="1" dirty="0">
                <a:solidFill>
                  <a:schemeClr val="dk1"/>
                </a:solidFill>
              </a:rPr>
              <a:t>Professor</a:t>
            </a:r>
            <a:r>
              <a:rPr lang="en" sz="2400" dirty="0">
                <a:solidFill>
                  <a:schemeClr val="dk1"/>
                </a:solidFill>
              </a:rPr>
              <a:t/>
            </a:r>
            <a:br>
              <a:rPr lang="en" sz="2400" dirty="0">
                <a:solidFill>
                  <a:schemeClr val="dk1"/>
                </a:solidFill>
              </a:rPr>
            </a:br>
            <a:r>
              <a:rPr lang="en" sz="1800" b="1" dirty="0">
                <a:solidFill>
                  <a:schemeClr val="dk1"/>
                </a:solidFill>
              </a:rPr>
              <a:t>Department of Computer Science &amp; Engineering,</a:t>
            </a:r>
            <a:br>
              <a:rPr lang="en" sz="1800" b="1" dirty="0">
                <a:solidFill>
                  <a:schemeClr val="dk1"/>
                </a:solidFill>
              </a:rPr>
            </a:br>
            <a:r>
              <a:rPr lang="en" sz="1800" b="1" dirty="0">
                <a:solidFill>
                  <a:schemeClr val="dk1"/>
                </a:solidFill>
              </a:rPr>
              <a:t>National Institute of Technology Calicut, India</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73" name="Google Shape;73;p15"/>
          <p:cNvPicPr preferRelativeResize="0"/>
          <p:nvPr/>
        </p:nvPicPr>
        <p:blipFill rotWithShape="1">
          <a:blip r:embed="rId3">
            <a:alphaModFix/>
          </a:blip>
          <a:srcRect/>
          <a:stretch/>
        </p:blipFill>
        <p:spPr>
          <a:xfrm>
            <a:off x="1681025" y="653125"/>
            <a:ext cx="5307806" cy="3464719"/>
          </a:xfrm>
          <a:prstGeom prst="rect">
            <a:avLst/>
          </a:prstGeom>
          <a:noFill/>
          <a:ln>
            <a:noFill/>
          </a:ln>
        </p:spPr>
      </p:pic>
      <p:sp>
        <p:nvSpPr>
          <p:cNvPr id="74" name="Google Shape;74;p15"/>
          <p:cNvSpPr txBox="1"/>
          <p:nvPr/>
        </p:nvSpPr>
        <p:spPr>
          <a:xfrm>
            <a:off x="278370" y="4117844"/>
            <a:ext cx="8612100" cy="64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solidFill>
                  <a:schemeClr val="dk1"/>
                </a:solidFill>
                <a:latin typeface="Times New Roman"/>
                <a:ea typeface="Times New Roman"/>
                <a:cs typeface="Times New Roman"/>
                <a:sym typeface="Times New Roman"/>
              </a:rPr>
              <a:t>We can only see a short distance ahead, but we can see plenty there that needs to be done                                                                                							-Alan Turing, 1950</a:t>
            </a:r>
            <a:endParaRPr sz="13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4157" y="1060547"/>
            <a:ext cx="3136606" cy="2677656"/>
          </a:xfrm>
          <a:prstGeom prst="rect">
            <a:avLst/>
          </a:prstGeom>
        </p:spPr>
        <p:txBody>
          <a:bodyPr wrap="square">
            <a:spAutoFit/>
          </a:bodyPr>
          <a:lstStyle/>
          <a:p>
            <a:pPr algn="just"/>
            <a:r>
              <a:rPr lang="en-US" dirty="0"/>
              <a:t>In 1950, </a:t>
            </a:r>
            <a:r>
              <a:rPr lang="en-US" b="1" dirty="0"/>
              <a:t>Alan Turing</a:t>
            </a:r>
            <a:r>
              <a:rPr lang="en-US" dirty="0"/>
              <a:t> introduced the Turing Test in his paper </a:t>
            </a:r>
            <a:r>
              <a:rPr lang="en-US" i="1" dirty="0"/>
              <a:t>Computing Machinery and Intelligence</a:t>
            </a:r>
            <a:r>
              <a:rPr lang="en-US" dirty="0"/>
              <a:t> to explore the question, “Can machines think</a:t>
            </a:r>
            <a:r>
              <a:rPr lang="en-US" dirty="0" smtClean="0"/>
              <a:t>?”</a:t>
            </a:r>
          </a:p>
          <a:p>
            <a:pPr algn="just"/>
            <a:r>
              <a:rPr lang="en-US" dirty="0"/>
              <a:t> </a:t>
            </a:r>
            <a:endParaRPr lang="en-US" dirty="0" smtClean="0"/>
          </a:p>
          <a:p>
            <a:pPr algn="just"/>
            <a:r>
              <a:rPr lang="en-US" dirty="0" smtClean="0"/>
              <a:t>He </a:t>
            </a:r>
            <a:r>
              <a:rPr lang="en-US" dirty="0"/>
              <a:t>proposed a way to answer this question through what we now call the Turing Test. This test evaluates whether a machine can mimic human responses so convincingly that a human judge cannot reliably distinguish between the two.</a:t>
            </a:r>
            <a:endParaRPr lang="en-IN" sz="1800" dirty="0"/>
          </a:p>
        </p:txBody>
      </p:sp>
      <p:pic>
        <p:nvPicPr>
          <p:cNvPr id="1028" name="Picture 4" descr="What is the Turing Test? | Definition from TechTarg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3296" y="713449"/>
            <a:ext cx="4953000" cy="3371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980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FA888-6E6D-4685-BFD4-981DDCEF0C68}"/>
              </a:ext>
            </a:extLst>
          </p:cNvPr>
          <p:cNvSpPr>
            <a:spLocks noGrp="1"/>
          </p:cNvSpPr>
          <p:nvPr>
            <p:ph type="title"/>
          </p:nvPr>
        </p:nvSpPr>
        <p:spPr>
          <a:xfrm>
            <a:off x="2675710" y="95242"/>
            <a:ext cx="4554429" cy="723465"/>
          </a:xfrm>
        </p:spPr>
        <p:txBody>
          <a:bodyPr anchor="b">
            <a:normAutofit/>
          </a:bodyPr>
          <a:lstStyle/>
          <a:p>
            <a:r>
              <a:rPr lang="en-IN" sz="2306" dirty="0">
                <a:solidFill>
                  <a:srgbClr val="1F16DA"/>
                </a:solidFill>
              </a:rPr>
              <a:t>What is Artificial Intelligence </a:t>
            </a:r>
            <a:r>
              <a:rPr lang="en-IN" sz="2306" dirty="0"/>
              <a:t>?</a:t>
            </a:r>
            <a:endParaRPr lang="en-IN" sz="2306" dirty="0">
              <a:cs typeface="Calibri Light"/>
            </a:endParaRPr>
          </a:p>
        </p:txBody>
      </p:sp>
      <p:sp>
        <p:nvSpPr>
          <p:cNvPr id="3" name="Content Placeholder 2">
            <a:extLst>
              <a:ext uri="{FF2B5EF4-FFF2-40B4-BE49-F238E27FC236}">
                <a16:creationId xmlns:a16="http://schemas.microsoft.com/office/drawing/2014/main" id="{F045F43E-9279-4FEE-B821-5263FF7CFD54}"/>
              </a:ext>
            </a:extLst>
          </p:cNvPr>
          <p:cNvSpPr>
            <a:spLocks noGrp="1"/>
          </p:cNvSpPr>
          <p:nvPr>
            <p:ph idx="1"/>
          </p:nvPr>
        </p:nvSpPr>
        <p:spPr>
          <a:xfrm>
            <a:off x="4034791" y="1442534"/>
            <a:ext cx="3918362" cy="3331485"/>
          </a:xfrm>
        </p:spPr>
        <p:txBody>
          <a:bodyPr>
            <a:normAutofit lnSpcReduction="10000"/>
          </a:bodyPr>
          <a:lstStyle/>
          <a:p>
            <a:pPr algn="just"/>
            <a:r>
              <a:rPr lang="en-US" dirty="0"/>
              <a:t>Artificial intelligence (AI) refers to the simulation of human intelligence in machines that are programmed to make machines to </a:t>
            </a:r>
            <a:r>
              <a:rPr lang="en-US" b="1" dirty="0">
                <a:solidFill>
                  <a:srgbClr val="7030A0"/>
                </a:solidFill>
              </a:rPr>
              <a:t>think like humans </a:t>
            </a:r>
            <a:r>
              <a:rPr lang="en-US" dirty="0">
                <a:solidFill>
                  <a:srgbClr val="7030A0"/>
                </a:solidFill>
              </a:rPr>
              <a:t>and </a:t>
            </a:r>
            <a:r>
              <a:rPr lang="en-US" b="1" dirty="0">
                <a:solidFill>
                  <a:srgbClr val="7030A0"/>
                </a:solidFill>
              </a:rPr>
              <a:t>mimic their actions</a:t>
            </a:r>
            <a:r>
              <a:rPr lang="en-US" dirty="0"/>
              <a:t>.</a:t>
            </a:r>
          </a:p>
          <a:p>
            <a:pPr algn="just"/>
            <a:endParaRPr lang="en-US" dirty="0"/>
          </a:p>
          <a:p>
            <a:pPr algn="just"/>
            <a:r>
              <a:rPr lang="en-US" dirty="0"/>
              <a:t>Or Simply make Machines mimic Human Behavior or Actions</a:t>
            </a:r>
            <a:endParaRPr lang="en-IN" dirty="0"/>
          </a:p>
        </p:txBody>
      </p:sp>
      <p:pic>
        <p:nvPicPr>
          <p:cNvPr id="5" name="Picture 4" descr="Cute yellow robot">
            <a:extLst>
              <a:ext uri="{FF2B5EF4-FFF2-40B4-BE49-F238E27FC236}">
                <a16:creationId xmlns:a16="http://schemas.microsoft.com/office/drawing/2014/main" id="{44B65EC1-C542-4215-BAF9-4AC035E64126}"/>
              </a:ext>
            </a:extLst>
          </p:cNvPr>
          <p:cNvPicPr>
            <a:picLocks noChangeAspect="1"/>
          </p:cNvPicPr>
          <p:nvPr/>
        </p:nvPicPr>
        <p:blipFill rotWithShape="1">
          <a:blip r:embed="rId2"/>
          <a:srcRect l="50323" r="4561" b="4"/>
          <a:stretch/>
        </p:blipFill>
        <p:spPr>
          <a:xfrm>
            <a:off x="1383671" y="818707"/>
            <a:ext cx="2772350" cy="4101491"/>
          </a:xfrm>
          <a:prstGeom prst="rect">
            <a:avLst/>
          </a:prstGeom>
          <a:effectLst/>
        </p:spPr>
      </p:pic>
      <p:sp>
        <p:nvSpPr>
          <p:cNvPr id="6" name="Footer Placeholder 5"/>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21611553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2" name="Google Shape;82;p16"/>
          <p:cNvSpPr txBox="1"/>
          <p:nvPr/>
        </p:nvSpPr>
        <p:spPr>
          <a:xfrm>
            <a:off x="904300" y="1535250"/>
            <a:ext cx="7928100" cy="23736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375"/>
              </a:spcBef>
              <a:spcAft>
                <a:spcPts val="0"/>
              </a:spcAft>
              <a:buSzPts val="1800"/>
              <a:buFont typeface="Times New Roman"/>
              <a:buChar char="●"/>
            </a:pPr>
            <a:r>
              <a:rPr lang="en" sz="1800">
                <a:solidFill>
                  <a:schemeClr val="dk1"/>
                </a:solidFill>
                <a:latin typeface="Times New Roman"/>
                <a:ea typeface="Times New Roman"/>
                <a:cs typeface="Times New Roman"/>
                <a:sym typeface="Times New Roman"/>
              </a:rPr>
              <a:t>AI is termed as</a:t>
            </a:r>
            <a:r>
              <a:rPr lang="en" sz="1800">
                <a:solidFill>
                  <a:schemeClr val="accent6"/>
                </a:solidFill>
                <a:latin typeface="Times New Roman"/>
                <a:ea typeface="Times New Roman"/>
                <a:cs typeface="Times New Roman"/>
                <a:sym typeface="Times New Roman"/>
              </a:rPr>
              <a:t> </a:t>
            </a:r>
            <a:r>
              <a:rPr lang="en" sz="1800">
                <a:solidFill>
                  <a:srgbClr val="FF9900"/>
                </a:solidFill>
                <a:latin typeface="Times New Roman"/>
                <a:ea typeface="Times New Roman"/>
                <a:cs typeface="Times New Roman"/>
                <a:sym typeface="Times New Roman"/>
              </a:rPr>
              <a:t>‘the new Electricity’</a:t>
            </a:r>
            <a:endParaRPr sz="1800">
              <a:solidFill>
                <a:schemeClr val="accent6"/>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 sz="1800">
                <a:solidFill>
                  <a:srgbClr val="FF9900"/>
                </a:solidFill>
                <a:latin typeface="Times New Roman"/>
                <a:ea typeface="Times New Roman"/>
                <a:cs typeface="Times New Roman"/>
                <a:sym typeface="Times New Roman"/>
              </a:rPr>
              <a:t> The main goal: </a:t>
            </a:r>
            <a:r>
              <a:rPr lang="en" sz="1800">
                <a:solidFill>
                  <a:schemeClr val="accent6"/>
                </a:solidFill>
                <a:latin typeface="Times New Roman"/>
                <a:ea typeface="Times New Roman"/>
                <a:cs typeface="Times New Roman"/>
                <a:sym typeface="Times New Roman"/>
              </a:rPr>
              <a:t> </a:t>
            </a:r>
            <a:r>
              <a:rPr lang="en" sz="1800">
                <a:solidFill>
                  <a:schemeClr val="dk1"/>
                </a:solidFill>
                <a:latin typeface="Times New Roman"/>
                <a:ea typeface="Times New Roman"/>
                <a:cs typeface="Times New Roman"/>
                <a:sym typeface="Times New Roman"/>
              </a:rPr>
              <a:t>To make computers more useful by letting them take over dangerous or tedious tasks from human</a:t>
            </a:r>
            <a:endParaRPr sz="1800">
              <a:solidFill>
                <a:schemeClr val="dk2"/>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 sz="1800">
                <a:solidFill>
                  <a:srgbClr val="FF9900"/>
                </a:solidFill>
                <a:latin typeface="Times New Roman"/>
                <a:ea typeface="Times New Roman"/>
                <a:cs typeface="Times New Roman"/>
                <a:sym typeface="Times New Roman"/>
              </a:rPr>
              <a:t>Computer vision –</a:t>
            </a:r>
            <a:r>
              <a:rPr lang="en" sz="1800">
                <a:solidFill>
                  <a:schemeClr val="accent6"/>
                </a:solidFill>
                <a:latin typeface="Times New Roman"/>
                <a:ea typeface="Times New Roman"/>
                <a:cs typeface="Times New Roman"/>
                <a:sym typeface="Times New Roman"/>
              </a:rPr>
              <a:t> </a:t>
            </a:r>
            <a:r>
              <a:rPr lang="en" sz="1800">
                <a:solidFill>
                  <a:schemeClr val="dk1"/>
                </a:solidFill>
                <a:latin typeface="Times New Roman"/>
                <a:ea typeface="Times New Roman"/>
                <a:cs typeface="Times New Roman"/>
                <a:sym typeface="Times New Roman"/>
              </a:rPr>
              <a:t>a subfield of computer science that applies mathematical techniques to understanding images and videos. </a:t>
            </a:r>
            <a:endParaRPr sz="1800">
              <a:solidFill>
                <a:schemeClr val="dk2"/>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 sz="1800">
                <a:solidFill>
                  <a:schemeClr val="dk1"/>
                </a:solidFill>
                <a:latin typeface="Times New Roman"/>
                <a:ea typeface="Times New Roman"/>
                <a:cs typeface="Times New Roman"/>
                <a:sym typeface="Times New Roman"/>
              </a:rPr>
              <a:t>With a group passionate students, we have formed a</a:t>
            </a:r>
            <a:r>
              <a:rPr lang="en" sz="1800">
                <a:solidFill>
                  <a:schemeClr val="dk2"/>
                </a:solidFill>
                <a:latin typeface="Times New Roman"/>
                <a:ea typeface="Times New Roman"/>
                <a:cs typeface="Times New Roman"/>
                <a:sym typeface="Times New Roman"/>
              </a:rPr>
              <a:t> </a:t>
            </a:r>
            <a:r>
              <a:rPr lang="en" sz="1800">
                <a:solidFill>
                  <a:srgbClr val="FF9900"/>
                </a:solidFill>
                <a:latin typeface="Times New Roman"/>
                <a:ea typeface="Times New Roman"/>
                <a:cs typeface="Times New Roman"/>
                <a:sym typeface="Times New Roman"/>
              </a:rPr>
              <a:t>tech club</a:t>
            </a:r>
            <a:r>
              <a:rPr lang="en" sz="1800">
                <a:solidFill>
                  <a:schemeClr val="accent6"/>
                </a:solidFill>
                <a:latin typeface="Times New Roman"/>
                <a:ea typeface="Times New Roman"/>
                <a:cs typeface="Times New Roman"/>
                <a:sym typeface="Times New Roman"/>
              </a:rPr>
              <a:t> </a:t>
            </a:r>
            <a:r>
              <a:rPr lang="en" sz="1800">
                <a:solidFill>
                  <a:schemeClr val="dk1"/>
                </a:solidFill>
                <a:latin typeface="Times New Roman"/>
                <a:ea typeface="Times New Roman"/>
                <a:cs typeface="Times New Roman"/>
                <a:sym typeface="Times New Roman"/>
              </a:rPr>
              <a:t>at NIT Calicut called</a:t>
            </a:r>
            <a:r>
              <a:rPr lang="en" sz="1800">
                <a:solidFill>
                  <a:schemeClr val="dk2"/>
                </a:solidFill>
                <a:latin typeface="Times New Roman"/>
                <a:ea typeface="Times New Roman"/>
                <a:cs typeface="Times New Roman"/>
                <a:sym typeface="Times New Roman"/>
              </a:rPr>
              <a:t> </a:t>
            </a:r>
            <a:r>
              <a:rPr lang="en" sz="1800">
                <a:solidFill>
                  <a:srgbClr val="FF9900"/>
                </a:solidFill>
                <a:latin typeface="Times New Roman"/>
                <a:ea typeface="Times New Roman"/>
                <a:cs typeface="Times New Roman"/>
                <a:sym typeface="Times New Roman"/>
              </a:rPr>
              <a:t>AI Club</a:t>
            </a:r>
            <a:endParaRPr sz="1800">
              <a:solidFill>
                <a:srgbClr val="FF9900"/>
              </a:solidFill>
              <a:latin typeface="Times New Roman"/>
              <a:ea typeface="Times New Roman"/>
              <a:cs typeface="Times New Roman"/>
              <a:sym typeface="Times New Roman"/>
            </a:endParaRPr>
          </a:p>
        </p:txBody>
      </p:sp>
      <p:sp>
        <p:nvSpPr>
          <p:cNvPr id="83" name="Google Shape;83;p16"/>
          <p:cNvSpPr txBox="1"/>
          <p:nvPr/>
        </p:nvSpPr>
        <p:spPr>
          <a:xfrm>
            <a:off x="2787875" y="312875"/>
            <a:ext cx="4782506" cy="683234"/>
          </a:xfrm>
          <a:prstGeom prst="rect">
            <a:avLst/>
          </a:prstGeom>
          <a:noFill/>
          <a:ln>
            <a:noFill/>
          </a:ln>
        </p:spPr>
        <p:txBody>
          <a:bodyPr spcFirstLastPara="1" wrap="square" lIns="91425" tIns="91425" rIns="91425" bIns="91425" anchor="t" anchorCtr="0">
            <a:spAutoFit/>
          </a:bodyPr>
          <a:lstStyle/>
          <a:p>
            <a:pPr marL="7984" marR="3361" lvl="0" indent="0" algn="ctr" rtl="0">
              <a:lnSpc>
                <a:spcPct val="90000"/>
              </a:lnSpc>
              <a:spcBef>
                <a:spcPts val="0"/>
              </a:spcBef>
              <a:spcAft>
                <a:spcPts val="0"/>
              </a:spcAft>
              <a:buNone/>
            </a:pPr>
            <a:r>
              <a:rPr lang="en" sz="3600" dirty="0" smtClean="0">
                <a:solidFill>
                  <a:schemeClr val="dk1"/>
                </a:solidFill>
                <a:latin typeface="Times New Roman"/>
                <a:ea typeface="Times New Roman"/>
                <a:cs typeface="Times New Roman"/>
                <a:sym typeface="Times New Roman"/>
              </a:rPr>
              <a:t>AI </a:t>
            </a:r>
            <a:endParaRPr sz="36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91" name="Google Shape;91;p17"/>
          <p:cNvSpPr txBox="1"/>
          <p:nvPr/>
        </p:nvSpPr>
        <p:spPr>
          <a:xfrm>
            <a:off x="2420450" y="397925"/>
            <a:ext cx="4344000" cy="627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200" b="1">
                <a:solidFill>
                  <a:schemeClr val="dk1"/>
                </a:solidFill>
                <a:latin typeface="Times New Roman"/>
                <a:ea typeface="Times New Roman"/>
                <a:cs typeface="Times New Roman"/>
                <a:sym typeface="Times New Roman"/>
              </a:rPr>
              <a:t>Artificial Intelligence</a:t>
            </a:r>
            <a:endParaRPr sz="3200">
              <a:solidFill>
                <a:schemeClr val="dk1"/>
              </a:solidFill>
              <a:latin typeface="Times New Roman"/>
              <a:ea typeface="Times New Roman"/>
              <a:cs typeface="Times New Roman"/>
              <a:sym typeface="Times New Roman"/>
            </a:endParaRPr>
          </a:p>
        </p:txBody>
      </p:sp>
      <p:sp>
        <p:nvSpPr>
          <p:cNvPr id="92" name="Google Shape;92;p17"/>
          <p:cNvSpPr txBox="1"/>
          <p:nvPr/>
        </p:nvSpPr>
        <p:spPr>
          <a:xfrm>
            <a:off x="657200" y="1475525"/>
            <a:ext cx="6679800" cy="2569904"/>
          </a:xfrm>
          <a:prstGeom prst="rect">
            <a:avLst/>
          </a:prstGeom>
          <a:noFill/>
          <a:ln>
            <a:noFill/>
          </a:ln>
        </p:spPr>
        <p:txBody>
          <a:bodyPr spcFirstLastPara="1" wrap="square" lIns="91425" tIns="91425" rIns="91425" bIns="91425" anchor="t" anchorCtr="0">
            <a:spAutoFit/>
          </a:bodyPr>
          <a:lstStyle/>
          <a:p>
            <a:pPr marL="171450" lvl="0" indent="-171450" algn="just" rtl="0">
              <a:lnSpc>
                <a:spcPct val="15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It is the science and engineering of making intelligent machines, especially intelligent computer programs.           </a:t>
            </a:r>
            <a:r>
              <a:rPr lang="en" sz="1800" dirty="0">
                <a:solidFill>
                  <a:srgbClr val="FF0000"/>
                </a:solidFill>
                <a:latin typeface="Times New Roman"/>
                <a:ea typeface="Times New Roman"/>
                <a:cs typeface="Times New Roman"/>
                <a:sym typeface="Times New Roman"/>
              </a:rPr>
              <a:t>(</a:t>
            </a:r>
            <a:r>
              <a:rPr lang="en" sz="1800" b="1" dirty="0">
                <a:solidFill>
                  <a:srgbClr val="FF0000"/>
                </a:solidFill>
                <a:latin typeface="Times New Roman"/>
                <a:ea typeface="Times New Roman"/>
                <a:cs typeface="Times New Roman"/>
                <a:sym typeface="Times New Roman"/>
              </a:rPr>
              <a:t>John McCarthy)  </a:t>
            </a:r>
            <a:endParaRPr sz="1800" b="1" dirty="0">
              <a:solidFill>
                <a:srgbClr val="FF0000"/>
              </a:solidFill>
              <a:latin typeface="Times New Roman"/>
              <a:ea typeface="Times New Roman"/>
              <a:cs typeface="Times New Roman"/>
              <a:sym typeface="Times New Roman"/>
            </a:endParaRPr>
          </a:p>
          <a:p>
            <a:pPr marL="0" lvl="0" indent="0" algn="just" rtl="0">
              <a:lnSpc>
                <a:spcPct val="150000"/>
              </a:lnSpc>
              <a:spcBef>
                <a:spcPts val="750"/>
              </a:spcBef>
              <a:spcAft>
                <a:spcPts val="0"/>
              </a:spcAft>
              <a:buNone/>
            </a:pPr>
            <a:r>
              <a:rPr lang="en" sz="1800" b="1" dirty="0">
                <a:solidFill>
                  <a:srgbClr val="FF0000"/>
                </a:solidFill>
                <a:latin typeface="Times New Roman"/>
                <a:ea typeface="Times New Roman"/>
                <a:cs typeface="Times New Roman"/>
                <a:sym typeface="Times New Roman"/>
              </a:rPr>
              <a:t>                                      </a:t>
            </a:r>
            <a:endParaRPr sz="1800" dirty="0">
              <a:solidFill>
                <a:schemeClr val="dk2"/>
              </a:solidFill>
              <a:latin typeface="Times New Roman"/>
              <a:ea typeface="Times New Roman"/>
              <a:cs typeface="Times New Roman"/>
              <a:sym typeface="Times New Roman"/>
            </a:endParaRPr>
          </a:p>
          <a:p>
            <a:pPr marL="171450" lvl="0" indent="-171450" algn="just">
              <a:lnSpc>
                <a:spcPct val="150000"/>
              </a:lnSpc>
              <a:spcBef>
                <a:spcPts val="750"/>
              </a:spcBef>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 </a:t>
            </a:r>
            <a:r>
              <a:rPr lang="en-US" sz="1800" dirty="0">
                <a:solidFill>
                  <a:schemeClr val="dk2"/>
                </a:solidFill>
                <a:latin typeface="Times New Roman"/>
                <a:ea typeface="Times New Roman"/>
                <a:cs typeface="Times New Roman"/>
                <a:sym typeface="Times New Roman"/>
              </a:rPr>
              <a:t>The science of making machines that can perform tasks that would require intelligence if done by </a:t>
            </a:r>
            <a:r>
              <a:rPr lang="en-US" sz="1800" dirty="0" smtClean="0">
                <a:solidFill>
                  <a:schemeClr val="dk2"/>
                </a:solidFill>
                <a:latin typeface="Times New Roman"/>
                <a:ea typeface="Times New Roman"/>
                <a:cs typeface="Times New Roman"/>
                <a:sym typeface="Times New Roman"/>
              </a:rPr>
              <a:t>humans                (</a:t>
            </a:r>
            <a:r>
              <a:rPr lang="en-US" sz="1800" b="1" dirty="0" smtClean="0">
                <a:solidFill>
                  <a:srgbClr val="FF0000"/>
                </a:solidFill>
                <a:latin typeface="Times New Roman"/>
                <a:ea typeface="Times New Roman"/>
                <a:cs typeface="Times New Roman"/>
                <a:sym typeface="Times New Roman"/>
              </a:rPr>
              <a:t>Geffrey Hinton</a:t>
            </a:r>
            <a:r>
              <a:rPr lang="en-US" sz="1800" dirty="0" smtClean="0">
                <a:solidFill>
                  <a:schemeClr val="dk2"/>
                </a:solidFill>
                <a:latin typeface="Times New Roman"/>
                <a:ea typeface="Times New Roman"/>
                <a:cs typeface="Times New Roman"/>
                <a:sym typeface="Times New Roman"/>
              </a:rPr>
              <a:t>)</a:t>
            </a:r>
            <a:endParaRPr sz="1800" dirty="0">
              <a:latin typeface="Times New Roman"/>
              <a:ea typeface="Times New Roman"/>
              <a:cs typeface="Times New Roman"/>
              <a:sym typeface="Times New Roman"/>
            </a:endParaRPr>
          </a:p>
        </p:txBody>
      </p:sp>
      <p:pic>
        <p:nvPicPr>
          <p:cNvPr id="93" name="Google Shape;93;p17" descr="jmccolor"/>
          <p:cNvPicPr preferRelativeResize="0"/>
          <p:nvPr/>
        </p:nvPicPr>
        <p:blipFill rotWithShape="1">
          <a:blip r:embed="rId3">
            <a:alphaModFix/>
          </a:blip>
          <a:srcRect/>
          <a:stretch/>
        </p:blipFill>
        <p:spPr>
          <a:xfrm>
            <a:off x="7640862" y="1475525"/>
            <a:ext cx="978694" cy="135493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7320" y="1284311"/>
            <a:ext cx="4369982" cy="2308324"/>
          </a:xfrm>
          <a:prstGeom prst="rect">
            <a:avLst/>
          </a:prstGeom>
        </p:spPr>
        <p:txBody>
          <a:bodyPr wrap="square">
            <a:spAutoFit/>
          </a:bodyPr>
          <a:lstStyle/>
          <a:p>
            <a:pPr algn="just"/>
            <a:r>
              <a:rPr lang="en-US" sz="1600" dirty="0">
                <a:latin typeface="D-DINExp"/>
              </a:rPr>
              <a:t>John McCarthy is widely regarded as the father of Artificial Intelligence. He was an American computer scientist who co-authored the document that coined the term "artificial intelligence." His work laid the foundation for the field, significantly influencing its development and direction. His contributions are central to the understanding and advancement of AI as we know it today.</a:t>
            </a:r>
            <a:endParaRPr lang="en-IN" sz="1600" dirty="0"/>
          </a:p>
        </p:txBody>
      </p:sp>
      <p:sp>
        <p:nvSpPr>
          <p:cNvPr id="5" name="Title 1"/>
          <p:cNvSpPr>
            <a:spLocks noGrp="1"/>
          </p:cNvSpPr>
          <p:nvPr>
            <p:ph type="title"/>
          </p:nvPr>
        </p:nvSpPr>
        <p:spPr>
          <a:xfrm>
            <a:off x="258538" y="300785"/>
            <a:ext cx="5748857" cy="841800"/>
          </a:xfrm>
        </p:spPr>
        <p:txBody>
          <a:bodyPr/>
          <a:lstStyle/>
          <a:p>
            <a:r>
              <a:rPr lang="en-IN" dirty="0" smtClean="0"/>
              <a:t>Father of AI</a:t>
            </a:r>
            <a:endParaRPr lang="en-IN" dirty="0"/>
          </a:p>
        </p:txBody>
      </p:sp>
      <p:pic>
        <p:nvPicPr>
          <p:cNvPr id="5124" name="Picture 4" descr="https://media.wired.com/photos/59327c782a990b06268ab0b1/master/pass/john-mccarth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0684" y="300785"/>
            <a:ext cx="2991662" cy="279295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95423" y="3734361"/>
            <a:ext cx="3923415" cy="1323439"/>
          </a:xfrm>
          <a:prstGeom prst="rect">
            <a:avLst/>
          </a:prstGeom>
        </p:spPr>
        <p:txBody>
          <a:bodyPr wrap="square">
            <a:spAutoFit/>
          </a:bodyPr>
          <a:lstStyle/>
          <a:p>
            <a:pPr algn="just"/>
            <a:r>
              <a:rPr lang="en-US" sz="1600" dirty="0">
                <a:solidFill>
                  <a:srgbClr val="545D7E"/>
                </a:solidFill>
                <a:latin typeface="Arial" panose="020B0604020202020204" pitchFamily="34" charset="0"/>
              </a:rPr>
              <a:t>He made significant contributions to the development of AI, including the invention of the Lisp programming language, which became a cornerstone for AI research</a:t>
            </a:r>
            <a:endParaRPr lang="en-IN" sz="1600" dirty="0"/>
          </a:p>
        </p:txBody>
      </p:sp>
      <p:sp>
        <p:nvSpPr>
          <p:cNvPr id="7" name="Rectangle 6"/>
          <p:cNvSpPr/>
          <p:nvPr/>
        </p:nvSpPr>
        <p:spPr>
          <a:xfrm>
            <a:off x="4997302" y="3734361"/>
            <a:ext cx="3748960" cy="954107"/>
          </a:xfrm>
          <a:prstGeom prst="rect">
            <a:avLst/>
          </a:prstGeom>
        </p:spPr>
        <p:txBody>
          <a:bodyPr wrap="square">
            <a:spAutoFit/>
          </a:bodyPr>
          <a:lstStyle/>
          <a:p>
            <a:r>
              <a:rPr lang="en-US" dirty="0">
                <a:solidFill>
                  <a:srgbClr val="545D7E"/>
                </a:solidFill>
                <a:latin typeface="Arial" panose="020B0604020202020204" pitchFamily="34" charset="0"/>
              </a:rPr>
              <a:t>McCarthy envisioned machines that could think and reason like humans, and his work laid the foundation for many core concepts in AI. </a:t>
            </a:r>
            <a:endParaRPr lang="en-IN" dirty="0"/>
          </a:p>
        </p:txBody>
      </p:sp>
    </p:spTree>
    <p:extLst>
      <p:ext uri="{BB962C8B-B14F-4D97-AF65-F5344CB8AC3E}">
        <p14:creationId xmlns:p14="http://schemas.microsoft.com/office/powerpoint/2010/main" val="12125547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538" y="300785"/>
            <a:ext cx="8520600" cy="841800"/>
          </a:xfrm>
        </p:spPr>
        <p:txBody>
          <a:bodyPr/>
          <a:lstStyle/>
          <a:p>
            <a:r>
              <a:rPr lang="en-IN" dirty="0" smtClean="0"/>
              <a:t>God Father of AI</a:t>
            </a:r>
            <a:endParaRPr lang="en-IN" dirty="0"/>
          </a:p>
        </p:txBody>
      </p:sp>
      <p:pic>
        <p:nvPicPr>
          <p:cNvPr id="2050" name="Picture 2" descr="Godfather of AI' shortens odds of the technology wiping out humanity over  next 30 years | Artificial intelligence (AI) | The Guardi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4" y="1142585"/>
            <a:ext cx="2762250" cy="16573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46158" y="1460282"/>
            <a:ext cx="3636334" cy="2308324"/>
          </a:xfrm>
          <a:prstGeom prst="rect">
            <a:avLst/>
          </a:prstGeom>
        </p:spPr>
        <p:txBody>
          <a:bodyPr wrap="square">
            <a:spAutoFit/>
          </a:bodyPr>
          <a:lstStyle/>
          <a:p>
            <a:pPr marL="285750" indent="-285750" algn="just">
              <a:buFont typeface="Arial" panose="020B0604020202020204" pitchFamily="34" charset="0"/>
              <a:buChar char="•"/>
            </a:pPr>
            <a:r>
              <a:rPr lang="en-US" sz="1600" dirty="0">
                <a:solidFill>
                  <a:srgbClr val="001D35"/>
                </a:solidFill>
                <a:latin typeface="Google Sans"/>
              </a:rPr>
              <a:t>Geoffrey Hinton is widely known as the "Godfather of AI" due to his groundbreaking work in the field of artificial neural networks and deep learning. His contributions have been foundational to the development of modern AI technologies</a:t>
            </a:r>
            <a:r>
              <a:rPr lang="en-US" sz="1600" dirty="0" smtClean="0">
                <a:solidFill>
                  <a:srgbClr val="001D35"/>
                </a:solidFill>
                <a:latin typeface="Google Sans"/>
              </a:rPr>
              <a:t>.</a:t>
            </a:r>
          </a:p>
          <a:p>
            <a:pPr marL="285750" indent="-285750">
              <a:buFont typeface="Arial" panose="020B0604020202020204" pitchFamily="34" charset="0"/>
              <a:buChar char="•"/>
            </a:pPr>
            <a:endParaRPr lang="en-IN" sz="1600" dirty="0"/>
          </a:p>
        </p:txBody>
      </p:sp>
      <p:sp>
        <p:nvSpPr>
          <p:cNvPr id="7" name="Rectangle 6"/>
          <p:cNvSpPr/>
          <p:nvPr/>
        </p:nvSpPr>
        <p:spPr>
          <a:xfrm>
            <a:off x="577515" y="2975569"/>
            <a:ext cx="4887620" cy="1815882"/>
          </a:xfrm>
          <a:prstGeom prst="rect">
            <a:avLst/>
          </a:prstGeom>
        </p:spPr>
        <p:txBody>
          <a:bodyPr wrap="square">
            <a:spAutoFit/>
          </a:bodyPr>
          <a:lstStyle/>
          <a:p>
            <a:pPr marL="285750" indent="-285750" fontAlgn="base">
              <a:buFont typeface="Arial" panose="020B0604020202020204" pitchFamily="34" charset="0"/>
              <a:buChar char="•"/>
            </a:pPr>
            <a:r>
              <a:rPr lang="en-US" sz="1600" dirty="0">
                <a:solidFill>
                  <a:srgbClr val="2E2A25"/>
                </a:solidFill>
                <a:latin typeface="Alfred Serif"/>
              </a:rPr>
              <a:t>Geoffrey Hinton</a:t>
            </a:r>
            <a:br>
              <a:rPr lang="en-US" sz="1600" dirty="0">
                <a:solidFill>
                  <a:srgbClr val="2E2A25"/>
                </a:solidFill>
                <a:latin typeface="Alfred Serif"/>
              </a:rPr>
            </a:br>
            <a:r>
              <a:rPr lang="en-US" sz="1600" dirty="0">
                <a:solidFill>
                  <a:srgbClr val="2E2A25"/>
                </a:solidFill>
                <a:latin typeface="Alfred Serif"/>
              </a:rPr>
              <a:t>Nobel Prize in Physics 2024</a:t>
            </a:r>
          </a:p>
          <a:p>
            <a:pPr marL="285750" indent="-285750" fontAlgn="base">
              <a:buFont typeface="Arial" panose="020B0604020202020204" pitchFamily="34" charset="0"/>
              <a:buChar char="•"/>
            </a:pPr>
            <a:r>
              <a:rPr lang="en-US" sz="1600" dirty="0">
                <a:solidFill>
                  <a:srgbClr val="2E2A25"/>
                </a:solidFill>
                <a:latin typeface="Alfred Serif"/>
              </a:rPr>
              <a:t>Born: 6 December 1947, London, United Kingdom</a:t>
            </a:r>
          </a:p>
          <a:p>
            <a:pPr marL="285750" indent="-285750" fontAlgn="base">
              <a:buFont typeface="Arial" panose="020B0604020202020204" pitchFamily="34" charset="0"/>
              <a:buChar char="•"/>
            </a:pPr>
            <a:r>
              <a:rPr lang="en-US" sz="1600" dirty="0" smtClean="0">
                <a:solidFill>
                  <a:srgbClr val="2E2A25"/>
                </a:solidFill>
                <a:latin typeface="Alfred Serif"/>
              </a:rPr>
              <a:t>Prize </a:t>
            </a:r>
            <a:r>
              <a:rPr lang="en-US" sz="1600" dirty="0">
                <a:solidFill>
                  <a:srgbClr val="2E2A25"/>
                </a:solidFill>
                <a:latin typeface="Alfred Serif"/>
              </a:rPr>
              <a:t>motivation: “for foundational discoveries and inventions that enable machine learning with artificial neural networks”</a:t>
            </a:r>
          </a:p>
        </p:txBody>
      </p:sp>
    </p:spTree>
    <p:extLst>
      <p:ext uri="{BB962C8B-B14F-4D97-AF65-F5344CB8AC3E}">
        <p14:creationId xmlns:p14="http://schemas.microsoft.com/office/powerpoint/2010/main" val="5610998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71206" y="1357143"/>
            <a:ext cx="6001588" cy="2429214"/>
          </a:xfrm>
          <a:prstGeom prst="rect">
            <a:avLst/>
          </a:prstGeom>
        </p:spPr>
      </p:pic>
      <p:sp>
        <p:nvSpPr>
          <p:cNvPr id="5" name="Rectangle 4"/>
          <p:cNvSpPr/>
          <p:nvPr/>
        </p:nvSpPr>
        <p:spPr>
          <a:xfrm>
            <a:off x="3745856" y="514634"/>
            <a:ext cx="2747868" cy="400110"/>
          </a:xfrm>
          <a:prstGeom prst="rect">
            <a:avLst/>
          </a:prstGeom>
        </p:spPr>
        <p:txBody>
          <a:bodyPr wrap="none">
            <a:spAutoFit/>
          </a:bodyPr>
          <a:lstStyle/>
          <a:p>
            <a:r>
              <a:rPr lang="en-IN" sz="2000" b="1" dirty="0"/>
              <a:t>Fathers of Modern </a:t>
            </a:r>
            <a:r>
              <a:rPr lang="en-IN" sz="2000" b="1" dirty="0" smtClean="0"/>
              <a:t>AI</a:t>
            </a:r>
            <a:endParaRPr lang="en-IN" sz="2000" b="1" dirty="0"/>
          </a:p>
        </p:txBody>
      </p:sp>
    </p:spTree>
    <p:extLst>
      <p:ext uri="{BB962C8B-B14F-4D97-AF65-F5344CB8AC3E}">
        <p14:creationId xmlns:p14="http://schemas.microsoft.com/office/powerpoint/2010/main" val="26249748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1" name="Google Shape;101;p18"/>
          <p:cNvSpPr txBox="1"/>
          <p:nvPr/>
        </p:nvSpPr>
        <p:spPr>
          <a:xfrm>
            <a:off x="3002663" y="283350"/>
            <a:ext cx="3000000" cy="627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200" b="1">
                <a:solidFill>
                  <a:schemeClr val="dk1"/>
                </a:solidFill>
                <a:latin typeface="Times New Roman"/>
                <a:ea typeface="Times New Roman"/>
                <a:cs typeface="Times New Roman"/>
                <a:sym typeface="Times New Roman"/>
              </a:rPr>
              <a:t>History of AI</a:t>
            </a:r>
            <a:endParaRPr sz="3200" b="1">
              <a:solidFill>
                <a:schemeClr val="dk1"/>
              </a:solidFill>
              <a:latin typeface="Times New Roman"/>
              <a:ea typeface="Times New Roman"/>
              <a:cs typeface="Times New Roman"/>
              <a:sym typeface="Times New Roman"/>
            </a:endParaRPr>
          </a:p>
        </p:txBody>
      </p:sp>
      <p:sp>
        <p:nvSpPr>
          <p:cNvPr id="102" name="Google Shape;102;p18"/>
          <p:cNvSpPr txBox="1"/>
          <p:nvPr/>
        </p:nvSpPr>
        <p:spPr>
          <a:xfrm>
            <a:off x="1091375" y="1025825"/>
            <a:ext cx="6818400" cy="3649200"/>
          </a:xfrm>
          <a:prstGeom prst="rect">
            <a:avLst/>
          </a:prstGeom>
          <a:noFill/>
          <a:ln>
            <a:noFill/>
          </a:ln>
        </p:spPr>
        <p:txBody>
          <a:bodyPr spcFirstLastPara="1" wrap="square" lIns="91425" tIns="91425" rIns="91425" bIns="91425" anchor="t" anchorCtr="0">
            <a:spAutoFit/>
          </a:bodyPr>
          <a:lstStyle/>
          <a:p>
            <a:pPr marL="171450" lvl="0" indent="-167005" algn="l" rtl="0">
              <a:lnSpc>
                <a:spcPct val="90000"/>
              </a:lnSpc>
              <a:spcBef>
                <a:spcPts val="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McCulloch and Pitts (1943)</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rgbClr val="FF0000"/>
              </a:buClr>
              <a:buSzPts val="1800"/>
              <a:buFont typeface="Times New Roman"/>
              <a:buChar char="○"/>
            </a:pPr>
            <a:r>
              <a:rPr lang="en" sz="1800">
                <a:solidFill>
                  <a:srgbClr val="FF0000"/>
                </a:solidFill>
                <a:latin typeface="Times New Roman"/>
                <a:ea typeface="Times New Roman"/>
                <a:cs typeface="Times New Roman"/>
                <a:sym typeface="Times New Roman"/>
              </a:rPr>
              <a:t>Neural networks </a:t>
            </a:r>
            <a:r>
              <a:rPr lang="en" sz="1800">
                <a:solidFill>
                  <a:schemeClr val="dk2"/>
                </a:solidFill>
                <a:latin typeface="Times New Roman"/>
                <a:ea typeface="Times New Roman"/>
                <a:cs typeface="Times New Roman"/>
                <a:sym typeface="Times New Roman"/>
              </a:rPr>
              <a:t>that learn</a:t>
            </a:r>
            <a:endParaRPr sz="180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Minsky (1951)</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Built a </a:t>
            </a:r>
            <a:r>
              <a:rPr lang="en" sz="1800">
                <a:solidFill>
                  <a:srgbClr val="FF0000"/>
                </a:solidFill>
                <a:latin typeface="Times New Roman"/>
                <a:ea typeface="Times New Roman"/>
                <a:cs typeface="Times New Roman"/>
                <a:sym typeface="Times New Roman"/>
              </a:rPr>
              <a:t>neural net </a:t>
            </a:r>
            <a:r>
              <a:rPr lang="en" sz="1800">
                <a:solidFill>
                  <a:schemeClr val="dk2"/>
                </a:solidFill>
                <a:latin typeface="Times New Roman"/>
                <a:ea typeface="Times New Roman"/>
                <a:cs typeface="Times New Roman"/>
                <a:sym typeface="Times New Roman"/>
              </a:rPr>
              <a:t>computer</a:t>
            </a:r>
            <a:endParaRPr sz="180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Darmouth conference (1956):</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McCarthy, Minsky, Newell, Simon met,</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The name “</a:t>
            </a:r>
            <a:r>
              <a:rPr lang="en" sz="1800">
                <a:solidFill>
                  <a:srgbClr val="FF0000"/>
                </a:solidFill>
                <a:latin typeface="Times New Roman"/>
                <a:ea typeface="Times New Roman"/>
                <a:cs typeface="Times New Roman"/>
                <a:sym typeface="Times New Roman"/>
              </a:rPr>
              <a:t>Artficial Intelligence</a:t>
            </a:r>
            <a:r>
              <a:rPr lang="en" sz="1800">
                <a:solidFill>
                  <a:schemeClr val="dk2"/>
                </a:solidFill>
                <a:latin typeface="Times New Roman"/>
                <a:ea typeface="Times New Roman"/>
                <a:cs typeface="Times New Roman"/>
                <a:sym typeface="Times New Roman"/>
              </a:rPr>
              <a:t>” was coined.</a:t>
            </a:r>
            <a:endParaRPr sz="180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1952-1969</a:t>
            </a:r>
            <a:endParaRPr sz="1800">
              <a:solidFill>
                <a:schemeClr val="dk2"/>
              </a:solidFill>
              <a:latin typeface="Times New Roman"/>
              <a:ea typeface="Times New Roman"/>
              <a:cs typeface="Times New Roman"/>
              <a:sym typeface="Times New Roman"/>
            </a:endParaRPr>
          </a:p>
          <a:p>
            <a:pPr marL="514350" lvl="1" indent="-177800" algn="l" rtl="0">
              <a:lnSpc>
                <a:spcPct val="90000"/>
              </a:lnSpc>
              <a:spcBef>
                <a:spcPts val="375"/>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McCarthy - </a:t>
            </a:r>
            <a:r>
              <a:rPr lang="en" sz="1800">
                <a:solidFill>
                  <a:srgbClr val="FF0000"/>
                </a:solidFill>
                <a:latin typeface="Times New Roman"/>
                <a:ea typeface="Times New Roman"/>
                <a:cs typeface="Times New Roman"/>
                <a:sym typeface="Times New Roman"/>
              </a:rPr>
              <a:t>Lisp</a:t>
            </a:r>
            <a:r>
              <a:rPr lang="en" sz="1800">
                <a:solidFill>
                  <a:schemeClr val="dk2"/>
                </a:solidFill>
                <a:latin typeface="Times New Roman"/>
                <a:ea typeface="Times New Roman"/>
                <a:cs typeface="Times New Roman"/>
                <a:sym typeface="Times New Roman"/>
              </a:rPr>
              <a:t> (1958)</a:t>
            </a:r>
            <a:endParaRPr sz="1800">
              <a:solidFill>
                <a:schemeClr val="dk2"/>
              </a:solidFill>
              <a:latin typeface="Times New Roman"/>
              <a:ea typeface="Times New Roman"/>
              <a:cs typeface="Times New Roman"/>
              <a:sym typeface="Times New Roman"/>
            </a:endParaRPr>
          </a:p>
          <a:p>
            <a:pPr marL="171450" lvl="0" indent="-171450"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1957 - </a:t>
            </a:r>
            <a:r>
              <a:rPr lang="en" sz="1800">
                <a:solidFill>
                  <a:srgbClr val="FF0000"/>
                </a:solidFill>
                <a:latin typeface="Times New Roman"/>
                <a:ea typeface="Times New Roman"/>
                <a:cs typeface="Times New Roman"/>
                <a:sym typeface="Times New Roman"/>
              </a:rPr>
              <a:t>Perceptron</a:t>
            </a:r>
            <a:r>
              <a:rPr lang="en" sz="1800">
                <a:solidFill>
                  <a:schemeClr val="dk2"/>
                </a:solidFill>
                <a:latin typeface="Times New Roman"/>
                <a:ea typeface="Times New Roman"/>
                <a:cs typeface="Times New Roman"/>
                <a:sym typeface="Times New Roman"/>
              </a:rPr>
              <a:t> was first used by Frank Rosenblatt</a:t>
            </a:r>
            <a:endParaRPr sz="1800">
              <a:solidFill>
                <a:schemeClr val="dk2"/>
              </a:solidFill>
              <a:latin typeface="Times New Roman"/>
              <a:ea typeface="Times New Roman"/>
              <a:cs typeface="Times New Roman"/>
              <a:sym typeface="Times New Roman"/>
            </a:endParaRPr>
          </a:p>
          <a:p>
            <a:pPr marL="171450" lvl="0" indent="-171450" algn="l" rtl="0">
              <a:lnSpc>
                <a:spcPct val="9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1965 – Multilevel Perceptron </a:t>
            </a:r>
            <a:r>
              <a:rPr lang="en" sz="1800">
                <a:solidFill>
                  <a:srgbClr val="FF0000"/>
                </a:solidFill>
                <a:latin typeface="Times New Roman"/>
                <a:ea typeface="Times New Roman"/>
                <a:cs typeface="Times New Roman"/>
                <a:sym typeface="Times New Roman"/>
              </a:rPr>
              <a:t>(MLP) </a:t>
            </a:r>
            <a:r>
              <a:rPr lang="en" sz="1800">
                <a:solidFill>
                  <a:schemeClr val="dk2"/>
                </a:solidFill>
                <a:latin typeface="Times New Roman"/>
                <a:ea typeface="Times New Roman"/>
                <a:cs typeface="Times New Roman"/>
                <a:sym typeface="Times New Roman"/>
              </a:rPr>
              <a:t>was invented</a:t>
            </a:r>
            <a:endParaRPr sz="1800">
              <a:solidFill>
                <a:schemeClr val="dk2"/>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0" name="Google Shape;110;p19"/>
          <p:cNvSpPr txBox="1"/>
          <p:nvPr/>
        </p:nvSpPr>
        <p:spPr>
          <a:xfrm>
            <a:off x="921289" y="500750"/>
            <a:ext cx="7301400" cy="4004143"/>
          </a:xfrm>
          <a:prstGeom prst="rect">
            <a:avLst/>
          </a:prstGeom>
          <a:noFill/>
          <a:ln>
            <a:noFill/>
          </a:ln>
        </p:spPr>
        <p:txBody>
          <a:bodyPr spcFirstLastPara="1" wrap="square" lIns="91425" tIns="91425" rIns="91425" bIns="91425" anchor="t" anchorCtr="0">
            <a:spAutoFit/>
          </a:bodyPr>
          <a:lstStyle/>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1986-present: return to neural networks</a:t>
            </a:r>
            <a:endParaRPr sz="1800" dirty="0">
              <a:solidFill>
                <a:schemeClr val="dk2"/>
              </a:solidFill>
              <a:latin typeface="Times New Roman"/>
              <a:ea typeface="Times New Roman"/>
              <a:cs typeface="Times New Roman"/>
              <a:sym typeface="Times New Roman"/>
            </a:endParaRPr>
          </a:p>
          <a:p>
            <a:pPr marL="514350" lvl="1" indent="-183197" algn="l" rtl="0">
              <a:lnSpc>
                <a:spcPct val="90000"/>
              </a:lnSpc>
              <a:spcBef>
                <a:spcPts val="375"/>
              </a:spcBef>
              <a:spcAft>
                <a:spcPts val="0"/>
              </a:spcAft>
              <a:buClr>
                <a:srgbClr val="FF0000"/>
              </a:buClr>
              <a:buSzPts val="1800"/>
              <a:buFont typeface="Times New Roman"/>
              <a:buChar char="○"/>
            </a:pPr>
            <a:r>
              <a:rPr lang="en" sz="1800" dirty="0">
                <a:solidFill>
                  <a:srgbClr val="FF0000"/>
                </a:solidFill>
                <a:latin typeface="Times New Roman"/>
                <a:ea typeface="Times New Roman"/>
                <a:cs typeface="Times New Roman"/>
                <a:sym typeface="Times New Roman"/>
              </a:rPr>
              <a:t>Back Propagation </a:t>
            </a:r>
            <a:r>
              <a:rPr lang="en" sz="1800" dirty="0">
                <a:solidFill>
                  <a:schemeClr val="dk2"/>
                </a:solidFill>
                <a:latin typeface="Times New Roman"/>
                <a:ea typeface="Times New Roman"/>
                <a:cs typeface="Times New Roman"/>
                <a:sym typeface="Times New Roman"/>
              </a:rPr>
              <a:t>algorithm was found</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1989 – Convolutional Neural Networks (</a:t>
            </a:r>
            <a:r>
              <a:rPr lang="en" sz="1800" dirty="0">
                <a:solidFill>
                  <a:srgbClr val="FF0000"/>
                </a:solidFill>
                <a:latin typeface="Times New Roman"/>
                <a:ea typeface="Times New Roman"/>
                <a:cs typeface="Times New Roman"/>
                <a:sym typeface="Times New Roman"/>
              </a:rPr>
              <a:t>CNN</a:t>
            </a:r>
            <a:r>
              <a:rPr lang="en" sz="1800" dirty="0">
                <a:solidFill>
                  <a:schemeClr val="dk2"/>
                </a:solidFill>
                <a:latin typeface="Times New Roman"/>
                <a:ea typeface="Times New Roman"/>
                <a:cs typeface="Times New Roman"/>
                <a:sym typeface="Times New Roman"/>
              </a:rPr>
              <a:t>) were found</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1991 – Recurrent Neural Networks (</a:t>
            </a:r>
            <a:r>
              <a:rPr lang="en" sz="1800" dirty="0">
                <a:solidFill>
                  <a:srgbClr val="FF0000"/>
                </a:solidFill>
                <a:latin typeface="Times New Roman"/>
                <a:ea typeface="Times New Roman"/>
                <a:cs typeface="Times New Roman"/>
                <a:sym typeface="Times New Roman"/>
              </a:rPr>
              <a:t>RNN</a:t>
            </a:r>
            <a:r>
              <a:rPr lang="en" sz="1800" dirty="0">
                <a:solidFill>
                  <a:schemeClr val="dk2"/>
                </a:solidFill>
                <a:latin typeface="Times New Roman"/>
                <a:ea typeface="Times New Roman"/>
                <a:cs typeface="Times New Roman"/>
                <a:sym typeface="Times New Roman"/>
              </a:rPr>
              <a:t>)</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1997 – </a:t>
            </a:r>
            <a:r>
              <a:rPr lang="en" sz="1800" dirty="0">
                <a:solidFill>
                  <a:srgbClr val="FF0000"/>
                </a:solidFill>
                <a:latin typeface="Times New Roman"/>
                <a:ea typeface="Times New Roman"/>
                <a:cs typeface="Times New Roman"/>
                <a:sym typeface="Times New Roman"/>
              </a:rPr>
              <a:t>LSTM</a:t>
            </a:r>
            <a:r>
              <a:rPr lang="en" sz="1800" dirty="0">
                <a:solidFill>
                  <a:schemeClr val="dk2"/>
                </a:solidFill>
                <a:latin typeface="Times New Roman"/>
                <a:ea typeface="Times New Roman"/>
                <a:cs typeface="Times New Roman"/>
                <a:sym typeface="Times New Roman"/>
              </a:rPr>
              <a:t> (Long Short Term Memory)</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2007 – </a:t>
            </a:r>
            <a:r>
              <a:rPr lang="en" sz="1800" dirty="0">
                <a:solidFill>
                  <a:srgbClr val="FF0000"/>
                </a:solidFill>
                <a:latin typeface="Times New Roman"/>
                <a:ea typeface="Times New Roman"/>
                <a:cs typeface="Times New Roman"/>
                <a:sym typeface="Times New Roman"/>
              </a:rPr>
              <a:t>GPUs</a:t>
            </a:r>
            <a:r>
              <a:rPr lang="en" sz="1800" dirty="0">
                <a:solidFill>
                  <a:schemeClr val="dk2"/>
                </a:solidFill>
                <a:latin typeface="Times New Roman"/>
                <a:ea typeface="Times New Roman"/>
                <a:cs typeface="Times New Roman"/>
                <a:sym typeface="Times New Roman"/>
              </a:rPr>
              <a:t> and </a:t>
            </a:r>
            <a:r>
              <a:rPr lang="en" sz="1800" dirty="0">
                <a:solidFill>
                  <a:srgbClr val="FF0000"/>
                </a:solidFill>
                <a:latin typeface="Times New Roman"/>
                <a:ea typeface="Times New Roman"/>
                <a:cs typeface="Times New Roman"/>
                <a:sym typeface="Times New Roman"/>
              </a:rPr>
              <a:t>CUDA</a:t>
            </a:r>
            <a:r>
              <a:rPr lang="en" sz="1800" dirty="0">
                <a:solidFill>
                  <a:schemeClr val="dk2"/>
                </a:solidFill>
                <a:latin typeface="Times New Roman"/>
                <a:ea typeface="Times New Roman"/>
                <a:cs typeface="Times New Roman"/>
                <a:sym typeface="Times New Roman"/>
              </a:rPr>
              <a:t> frameworks were invented</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2012 – Adam Optimizer </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2014 – Ian Goodfellow invented the </a:t>
            </a:r>
            <a:r>
              <a:rPr lang="en" sz="1800" dirty="0">
                <a:solidFill>
                  <a:srgbClr val="FF0000"/>
                </a:solidFill>
                <a:latin typeface="Times New Roman"/>
                <a:ea typeface="Times New Roman"/>
                <a:cs typeface="Times New Roman"/>
                <a:sym typeface="Times New Roman"/>
              </a:rPr>
              <a:t>GAN</a:t>
            </a:r>
            <a:r>
              <a:rPr lang="en" sz="1800" dirty="0">
                <a:solidFill>
                  <a:schemeClr val="dk2"/>
                </a:solidFill>
                <a:latin typeface="Times New Roman"/>
                <a:ea typeface="Times New Roman"/>
                <a:cs typeface="Times New Roman"/>
                <a:sym typeface="Times New Roman"/>
              </a:rPr>
              <a:t> network</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2016 – </a:t>
            </a:r>
            <a:r>
              <a:rPr lang="en" sz="1800" dirty="0">
                <a:solidFill>
                  <a:srgbClr val="FF0000"/>
                </a:solidFill>
                <a:latin typeface="Times New Roman"/>
                <a:ea typeface="Times New Roman"/>
                <a:cs typeface="Times New Roman"/>
                <a:sym typeface="Times New Roman"/>
              </a:rPr>
              <a:t>Pascal GPUs </a:t>
            </a:r>
            <a:r>
              <a:rPr lang="en" sz="1800" dirty="0">
                <a:solidFill>
                  <a:schemeClr val="dk2"/>
                </a:solidFill>
                <a:latin typeface="Times New Roman"/>
                <a:ea typeface="Times New Roman"/>
                <a:cs typeface="Times New Roman"/>
                <a:sym typeface="Times New Roman"/>
              </a:rPr>
              <a:t>(with unified memory) were released </a:t>
            </a:r>
            <a:endParaRPr sz="1800" dirty="0">
              <a:solidFill>
                <a:schemeClr val="dk2"/>
              </a:solidFill>
              <a:latin typeface="Times New Roman"/>
              <a:ea typeface="Times New Roman"/>
              <a:cs typeface="Times New Roman"/>
              <a:sym typeface="Times New Roman"/>
            </a:endParaRPr>
          </a:p>
          <a:p>
            <a:pPr marL="171450" lvl="0" indent="-167005" algn="l" rtl="0">
              <a:lnSpc>
                <a:spcPct val="90000"/>
              </a:lnSpc>
              <a:spcBef>
                <a:spcPts val="750"/>
              </a:spcBef>
              <a:spcAft>
                <a:spcPts val="0"/>
              </a:spcAft>
              <a:buClr>
                <a:schemeClr val="dk1"/>
              </a:buClr>
              <a:buSzPts val="1800"/>
              <a:buFont typeface="Times New Roman"/>
              <a:buChar char="●"/>
            </a:pPr>
            <a:r>
              <a:rPr lang="en" sz="1800" dirty="0">
                <a:solidFill>
                  <a:schemeClr val="dk2"/>
                </a:solidFill>
                <a:latin typeface="Times New Roman"/>
                <a:ea typeface="Times New Roman"/>
                <a:cs typeface="Times New Roman"/>
                <a:sym typeface="Times New Roman"/>
              </a:rPr>
              <a:t>2017 – </a:t>
            </a:r>
            <a:r>
              <a:rPr lang="en" sz="1800" dirty="0">
                <a:solidFill>
                  <a:srgbClr val="FF0000"/>
                </a:solidFill>
                <a:latin typeface="Times New Roman"/>
                <a:ea typeface="Times New Roman"/>
                <a:cs typeface="Times New Roman"/>
                <a:sym typeface="Times New Roman"/>
              </a:rPr>
              <a:t>Transformers</a:t>
            </a:r>
            <a:r>
              <a:rPr lang="en" sz="1800" dirty="0">
                <a:solidFill>
                  <a:schemeClr val="dk2"/>
                </a:solidFill>
                <a:latin typeface="Times New Roman"/>
                <a:ea typeface="Times New Roman"/>
                <a:cs typeface="Times New Roman"/>
                <a:sym typeface="Times New Roman"/>
              </a:rPr>
              <a:t> were </a:t>
            </a:r>
            <a:r>
              <a:rPr lang="en" sz="1800" dirty="0" smtClean="0">
                <a:solidFill>
                  <a:schemeClr val="dk2"/>
                </a:solidFill>
                <a:latin typeface="Times New Roman"/>
                <a:ea typeface="Times New Roman"/>
                <a:cs typeface="Times New Roman"/>
                <a:sym typeface="Times New Roman"/>
              </a:rPr>
              <a:t>invented</a:t>
            </a:r>
          </a:p>
          <a:p>
            <a:pPr marL="171450" lvl="0" indent="-167005" algn="l" rtl="0">
              <a:lnSpc>
                <a:spcPct val="90000"/>
              </a:lnSpc>
              <a:spcBef>
                <a:spcPts val="750"/>
              </a:spcBef>
              <a:spcAft>
                <a:spcPts val="0"/>
              </a:spcAft>
              <a:buClr>
                <a:schemeClr val="dk1"/>
              </a:buClr>
              <a:buSzPts val="1800"/>
              <a:buFont typeface="Times New Roman"/>
              <a:buChar char="●"/>
            </a:pPr>
            <a:r>
              <a:rPr lang="en" sz="1800" dirty="0" smtClean="0">
                <a:solidFill>
                  <a:schemeClr val="dk2"/>
                </a:solidFill>
                <a:latin typeface="Times New Roman"/>
                <a:cs typeface="Times New Roman"/>
                <a:sym typeface="Times New Roman"/>
              </a:rPr>
              <a:t>2022 - ChatGPT</a:t>
            </a:r>
            <a:endParaRP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8" name="Google Shape;118;p20"/>
          <p:cNvSpPr txBox="1"/>
          <p:nvPr/>
        </p:nvSpPr>
        <p:spPr>
          <a:xfrm>
            <a:off x="1125000" y="443325"/>
            <a:ext cx="6894000" cy="53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2500" b="1">
                <a:solidFill>
                  <a:schemeClr val="dk1"/>
                </a:solidFill>
                <a:latin typeface="Times New Roman"/>
                <a:ea typeface="Times New Roman"/>
                <a:cs typeface="Times New Roman"/>
                <a:sym typeface="Times New Roman"/>
              </a:rPr>
              <a:t>The Birthplace of “</a:t>
            </a:r>
            <a:r>
              <a:rPr lang="en" sz="2500" b="1">
                <a:solidFill>
                  <a:srgbClr val="FF0000"/>
                </a:solidFill>
                <a:latin typeface="Times New Roman"/>
                <a:ea typeface="Times New Roman"/>
                <a:cs typeface="Times New Roman"/>
                <a:sym typeface="Times New Roman"/>
              </a:rPr>
              <a:t>Artificial Intelligence</a:t>
            </a:r>
            <a:r>
              <a:rPr lang="en" sz="2500" b="1">
                <a:solidFill>
                  <a:schemeClr val="dk1"/>
                </a:solidFill>
                <a:latin typeface="Times New Roman"/>
                <a:ea typeface="Times New Roman"/>
                <a:cs typeface="Times New Roman"/>
                <a:sym typeface="Times New Roman"/>
              </a:rPr>
              <a:t>”, </a:t>
            </a:r>
            <a:r>
              <a:rPr lang="en" sz="2500" b="1">
                <a:solidFill>
                  <a:srgbClr val="FF0000"/>
                </a:solidFill>
                <a:latin typeface="Times New Roman"/>
                <a:ea typeface="Times New Roman"/>
                <a:cs typeface="Times New Roman"/>
                <a:sym typeface="Times New Roman"/>
              </a:rPr>
              <a:t>1956</a:t>
            </a:r>
            <a:endParaRPr sz="2100">
              <a:solidFill>
                <a:schemeClr val="dk1"/>
              </a:solidFill>
            </a:endParaRPr>
          </a:p>
        </p:txBody>
      </p:sp>
      <p:sp>
        <p:nvSpPr>
          <p:cNvPr id="119" name="Google Shape;119;p20"/>
          <p:cNvSpPr txBox="1"/>
          <p:nvPr/>
        </p:nvSpPr>
        <p:spPr>
          <a:xfrm>
            <a:off x="680750" y="1537150"/>
            <a:ext cx="8151600" cy="2371800"/>
          </a:xfrm>
          <a:prstGeom prst="rect">
            <a:avLst/>
          </a:prstGeom>
          <a:noFill/>
          <a:ln>
            <a:noFill/>
          </a:ln>
        </p:spPr>
        <p:txBody>
          <a:bodyPr spcFirstLastPara="1" wrap="square" lIns="91425" tIns="91425" rIns="91425" bIns="91425" anchor="t" anchorCtr="0">
            <a:spAutoFit/>
          </a:bodyPr>
          <a:lstStyle/>
          <a:p>
            <a:pPr marL="171450" lvl="0" indent="-146050" algn="l" rtl="0">
              <a:lnSpc>
                <a:spcPct val="8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Dartmouth workshop, 1956: historical meeting of the perceived founders of AI met: </a:t>
            </a:r>
            <a:r>
              <a:rPr lang="en" sz="1800">
                <a:solidFill>
                  <a:srgbClr val="FF0000"/>
                </a:solidFill>
                <a:latin typeface="Times New Roman"/>
                <a:ea typeface="Times New Roman"/>
                <a:cs typeface="Times New Roman"/>
                <a:sym typeface="Times New Roman"/>
              </a:rPr>
              <a:t>John McCarthy</a:t>
            </a:r>
            <a:r>
              <a:rPr lang="en" sz="1800">
                <a:solidFill>
                  <a:schemeClr val="dk2"/>
                </a:solidFill>
                <a:latin typeface="Times New Roman"/>
                <a:ea typeface="Times New Roman"/>
                <a:cs typeface="Times New Roman"/>
                <a:sym typeface="Times New Roman"/>
              </a:rPr>
              <a:t>,</a:t>
            </a:r>
            <a:r>
              <a:rPr lang="en" sz="1800">
                <a:solidFill>
                  <a:srgbClr val="FF0000"/>
                </a:solidFill>
                <a:latin typeface="Times New Roman"/>
                <a:ea typeface="Times New Roman"/>
                <a:cs typeface="Times New Roman"/>
                <a:sym typeface="Times New Roman"/>
              </a:rPr>
              <a:t> Marvin Minsky</a:t>
            </a:r>
            <a:r>
              <a:rPr lang="en" sz="1800">
                <a:solidFill>
                  <a:schemeClr val="dk2"/>
                </a:solidFill>
                <a:latin typeface="Times New Roman"/>
                <a:ea typeface="Times New Roman"/>
                <a:cs typeface="Times New Roman"/>
                <a:sym typeface="Times New Roman"/>
              </a:rPr>
              <a:t>,</a:t>
            </a:r>
            <a:r>
              <a:rPr lang="en" sz="1800">
                <a:solidFill>
                  <a:srgbClr val="FF0000"/>
                </a:solidFill>
                <a:latin typeface="Times New Roman"/>
                <a:ea typeface="Times New Roman"/>
                <a:cs typeface="Times New Roman"/>
                <a:sym typeface="Times New Roman"/>
              </a:rPr>
              <a:t> Alan Newell</a:t>
            </a:r>
            <a:r>
              <a:rPr lang="en" sz="1800">
                <a:solidFill>
                  <a:schemeClr val="dk2"/>
                </a:solidFill>
                <a:latin typeface="Times New Roman"/>
                <a:ea typeface="Times New Roman"/>
                <a:cs typeface="Times New Roman"/>
                <a:sym typeface="Times New Roman"/>
              </a:rPr>
              <a:t>,</a:t>
            </a:r>
            <a:r>
              <a:rPr lang="en" sz="1800">
                <a:solidFill>
                  <a:srgbClr val="FF0000"/>
                </a:solidFill>
                <a:latin typeface="Times New Roman"/>
                <a:ea typeface="Times New Roman"/>
                <a:cs typeface="Times New Roman"/>
                <a:sym typeface="Times New Roman"/>
              </a:rPr>
              <a:t> </a:t>
            </a:r>
            <a:r>
              <a:rPr lang="en" sz="1800">
                <a:solidFill>
                  <a:schemeClr val="dk2"/>
                </a:solidFill>
                <a:latin typeface="Times New Roman"/>
                <a:ea typeface="Times New Roman"/>
                <a:cs typeface="Times New Roman"/>
                <a:sym typeface="Times New Roman"/>
              </a:rPr>
              <a:t>and</a:t>
            </a:r>
            <a:r>
              <a:rPr lang="en" sz="1800">
                <a:solidFill>
                  <a:srgbClr val="FF0000"/>
                </a:solidFill>
                <a:latin typeface="Times New Roman"/>
                <a:ea typeface="Times New Roman"/>
                <a:cs typeface="Times New Roman"/>
                <a:sym typeface="Times New Roman"/>
              </a:rPr>
              <a:t> Herbert Simon</a:t>
            </a:r>
            <a:r>
              <a:rPr lang="en"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a:p>
            <a:pPr marL="171450" lvl="0" indent="-146050" algn="l" rtl="0">
              <a:lnSpc>
                <a:spcPct val="80000"/>
              </a:lnSpc>
              <a:spcBef>
                <a:spcPts val="750"/>
              </a:spcBef>
              <a:spcAft>
                <a:spcPts val="0"/>
              </a:spcAft>
              <a:buClr>
                <a:schemeClr val="dk1"/>
              </a:buClr>
              <a:buSzPts val="1800"/>
              <a:buFont typeface="Times New Roman"/>
              <a:buChar char="●"/>
            </a:pPr>
            <a:r>
              <a:rPr lang="en" sz="1800">
                <a:solidFill>
                  <a:schemeClr val="dk2"/>
                </a:solidFill>
                <a:latin typeface="Times New Roman"/>
                <a:ea typeface="Times New Roman"/>
                <a:cs typeface="Times New Roman"/>
                <a:sym typeface="Times New Roman"/>
              </a:rPr>
              <a:t>A Proposal for the Dartmouth Summer Research Project on Artificial Intelligence. </a:t>
            </a:r>
            <a:endParaRPr sz="1800">
              <a:solidFill>
                <a:schemeClr val="dk2"/>
              </a:solidFill>
              <a:latin typeface="Times New Roman"/>
              <a:ea typeface="Times New Roman"/>
              <a:cs typeface="Times New Roman"/>
              <a:sym typeface="Times New Roman"/>
            </a:endParaRPr>
          </a:p>
          <a:p>
            <a:pPr marL="0" lvl="0" indent="0" algn="l" rtl="0">
              <a:lnSpc>
                <a:spcPct val="80000"/>
              </a:lnSpc>
              <a:spcBef>
                <a:spcPts val="750"/>
              </a:spcBef>
              <a:spcAft>
                <a:spcPts val="0"/>
              </a:spcAft>
              <a:buNone/>
            </a:pPr>
            <a:r>
              <a:rPr lang="en" sz="1800">
                <a:solidFill>
                  <a:schemeClr val="dk2"/>
                </a:solidFill>
                <a:latin typeface="Times New Roman"/>
                <a:ea typeface="Times New Roman"/>
                <a:cs typeface="Times New Roman"/>
                <a:sym typeface="Times New Roman"/>
              </a:rPr>
              <a:t>"</a:t>
            </a:r>
            <a:r>
              <a:rPr lang="en" sz="1800">
                <a:solidFill>
                  <a:srgbClr val="FF0000"/>
                </a:solidFill>
                <a:latin typeface="Times New Roman"/>
                <a:ea typeface="Times New Roman"/>
                <a:cs typeface="Times New Roman"/>
                <a:sym typeface="Times New Roman"/>
              </a:rPr>
              <a:t>We propose that a 2 month, 10 man study of artificial intelligence be carried out during the summer of 1956 at Dartmouth College in Hanover, New Hampshire. The study is to proceed on the basis of the conjecture that every aspect of learning or any other feature of intelligence can in principle be so precisely described that a machine can be made to simulate it." And this marks the debut of the term "artificial intelligence</a:t>
            </a:r>
            <a:r>
              <a:rPr lang="en" sz="1800">
                <a:solidFill>
                  <a:schemeClr val="dk2"/>
                </a:solidFill>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txBox="1">
            <a:spLocks noGrp="1"/>
          </p:cNvSpPr>
          <p:nvPr/>
        </p:nvSpPr>
        <p:spPr bwMode="auto">
          <a:xfrm>
            <a:off x="6343650" y="4800600"/>
            <a:ext cx="14287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fld id="{2E6B24B3-A8CA-4821-B684-2DE2946B61F0}" type="slidenum">
              <a:rPr lang="en-US" altLang="en-US" sz="900">
                <a:latin typeface="Helvetica" panose="020B0604020202020204" pitchFamily="34" charset="0"/>
              </a:rPr>
              <a:pPr algn="r"/>
              <a:t>13</a:t>
            </a:fld>
            <a:endParaRPr lang="en-US" altLang="en-US" sz="900">
              <a:latin typeface="Times New Roman" panose="02020603050405020304" pitchFamily="18" charset="0"/>
            </a:endParaRPr>
          </a:p>
        </p:txBody>
      </p:sp>
      <p:sp>
        <p:nvSpPr>
          <p:cNvPr id="32771" name="Rectangle 2"/>
          <p:cNvSpPr>
            <a:spLocks noGrp="1" noChangeArrowheads="1"/>
          </p:cNvSpPr>
          <p:nvPr>
            <p:ph type="title" idx="4294967295"/>
          </p:nvPr>
        </p:nvSpPr>
        <p:spPr/>
        <p:txBody>
          <a:bodyPr>
            <a:normAutofit fontScale="90000"/>
          </a:bodyPr>
          <a:lstStyle/>
          <a:p>
            <a:r>
              <a:rPr lang="en-US" altLang="en-US"/>
              <a:t>What is Learning?</a:t>
            </a:r>
          </a:p>
        </p:txBody>
      </p:sp>
      <p:sp>
        <p:nvSpPr>
          <p:cNvPr id="32772" name="Rectangle 3"/>
          <p:cNvSpPr>
            <a:spLocks noGrp="1" noChangeArrowheads="1"/>
          </p:cNvSpPr>
          <p:nvPr>
            <p:ph type="body" idx="4294967295"/>
          </p:nvPr>
        </p:nvSpPr>
        <p:spPr/>
        <p:txBody>
          <a:bodyPr>
            <a:normAutofit/>
          </a:bodyPr>
          <a:lstStyle/>
          <a:p>
            <a:pPr>
              <a:lnSpc>
                <a:spcPct val="90000"/>
              </a:lnSpc>
            </a:pPr>
            <a:r>
              <a:rPr lang="en-US" altLang="en-US" dirty="0"/>
              <a:t>Herbert Simon: “Learning is any process by which a system improves performance from experience.”</a:t>
            </a:r>
          </a:p>
          <a:p>
            <a:pPr>
              <a:lnSpc>
                <a:spcPct val="90000"/>
              </a:lnSpc>
            </a:pPr>
            <a:endParaRPr lang="en-US" altLang="en-US" dirty="0"/>
          </a:p>
          <a:p>
            <a:pPr>
              <a:lnSpc>
                <a:spcPct val="90000"/>
              </a:lnSpc>
            </a:pPr>
            <a:r>
              <a:rPr lang="en-US" altLang="en-US" dirty="0"/>
              <a:t>“A computer program is said to </a:t>
            </a:r>
            <a:r>
              <a:rPr lang="en-US" altLang="en-US" b="1" dirty="0"/>
              <a:t>learn</a:t>
            </a:r>
            <a:r>
              <a:rPr lang="en-US" altLang="en-US" dirty="0"/>
              <a:t> from experience E with respect to some class of tasks T and performance measure P, if its performance at tasks in T, as measured by P, improves with experience E.” </a:t>
            </a:r>
          </a:p>
          <a:p>
            <a:pPr>
              <a:lnSpc>
                <a:spcPct val="90000"/>
              </a:lnSpc>
              <a:buFontTx/>
              <a:buNone/>
            </a:pPr>
            <a:r>
              <a:rPr lang="en-US" altLang="en-US" dirty="0"/>
              <a:t>					– Tom Mitchell</a:t>
            </a:r>
          </a:p>
        </p:txBody>
      </p:sp>
      <p:sp>
        <p:nvSpPr>
          <p:cNvPr id="3" name="Footer Placeholder 2"/>
          <p:cNvSpPr>
            <a:spLocks noGrp="1"/>
          </p:cNvSpPr>
          <p:nvPr>
            <p:ph type="ftr" sz="quarter" idx="4294967295"/>
          </p:nvPr>
        </p:nvSpPr>
        <p:spPr>
          <a:xfrm>
            <a:off x="1371600" y="4808136"/>
            <a:ext cx="3200400" cy="274320"/>
          </a:xfrm>
        </p:spPr>
        <p:txBody>
          <a:bodyPr/>
          <a:lstStyle/>
          <a:p>
            <a:r>
              <a:rPr lang="en-US" smtClean="0"/>
              <a:t>Introduction to ML</a:t>
            </a:r>
            <a:endParaRPr lang="en-US" dirty="0"/>
          </a:p>
        </p:txBody>
      </p:sp>
    </p:spTree>
    <p:extLst>
      <p:ext uri="{BB962C8B-B14F-4D97-AF65-F5344CB8AC3E}">
        <p14:creationId xmlns:p14="http://schemas.microsoft.com/office/powerpoint/2010/main" val="6952623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fontScale="90000"/>
          </a:bodyPr>
          <a:lstStyle/>
          <a:p>
            <a:r>
              <a:rPr lang="en-US" sz="2700" dirty="0">
                <a:solidFill>
                  <a:srgbClr val="FF0000"/>
                </a:solidFill>
              </a:rPr>
              <a:t>How Do Children Learn?</a:t>
            </a:r>
          </a:p>
        </p:txBody>
      </p:sp>
      <p:sp>
        <p:nvSpPr>
          <p:cNvPr id="3" name="Content Placeholder 2">
            <a:extLst>
              <a:ext uri="{FF2B5EF4-FFF2-40B4-BE49-F238E27FC236}">
                <a16:creationId xmlns:a16="http://schemas.microsoft.com/office/drawing/2014/main" id="{BC9C6C09-1E64-CA4F-8494-490CAA3DF388}"/>
              </a:ext>
            </a:extLst>
          </p:cNvPr>
          <p:cNvSpPr>
            <a:spLocks noGrp="1"/>
          </p:cNvSpPr>
          <p:nvPr>
            <p:ph idx="1"/>
          </p:nvPr>
        </p:nvSpPr>
        <p:spPr>
          <a:xfrm>
            <a:off x="4446839" y="2037253"/>
            <a:ext cx="3242695" cy="1803645"/>
          </a:xfrm>
        </p:spPr>
        <p:txBody>
          <a:bodyPr/>
          <a:lstStyle/>
          <a:p>
            <a:pPr>
              <a:buClr>
                <a:schemeClr val="bg1"/>
              </a:buClr>
            </a:pPr>
            <a:r>
              <a:rPr lang="en-US" sz="1625" dirty="0">
                <a:solidFill>
                  <a:schemeClr val="tx1"/>
                </a:solidFill>
              </a:rPr>
              <a:t>- Expose them to lots of data</a:t>
            </a:r>
          </a:p>
          <a:p>
            <a:pPr>
              <a:buClr>
                <a:schemeClr val="bg1"/>
              </a:buClr>
            </a:pPr>
            <a:r>
              <a:rPr lang="en-US" sz="1625" dirty="0">
                <a:solidFill>
                  <a:schemeClr val="tx1"/>
                </a:solidFill>
              </a:rPr>
              <a:t>- Give them the “correct answer”</a:t>
            </a:r>
          </a:p>
          <a:p>
            <a:pPr>
              <a:buClr>
                <a:schemeClr val="bg1"/>
              </a:buClr>
            </a:pPr>
            <a:r>
              <a:rPr lang="en-US" sz="1625" dirty="0">
                <a:solidFill>
                  <a:schemeClr val="tx1"/>
                </a:solidFill>
              </a:rPr>
              <a:t>- They will pick up the important</a:t>
            </a:r>
          </a:p>
          <a:p>
            <a:pPr>
              <a:buClr>
                <a:schemeClr val="bg1"/>
              </a:buClr>
            </a:pPr>
            <a:r>
              <a:rPr lang="en-US" sz="1625" dirty="0">
                <a:solidFill>
                  <a:schemeClr val="tx1"/>
                </a:solidFill>
              </a:rPr>
              <a:t>   patterns on their own</a:t>
            </a:r>
          </a:p>
          <a:p>
            <a:pPr marL="214304" indent="-214304">
              <a:buFontTx/>
              <a:buChar char="-"/>
            </a:pPr>
            <a:endParaRPr lang="en-US" dirty="0">
              <a:solidFill>
                <a:srgbClr val="FF0000"/>
              </a:solidFill>
            </a:endParaRPr>
          </a:p>
          <a:p>
            <a:pPr marL="214304" indent="-214304">
              <a:buFontTx/>
              <a:buChar char="-"/>
            </a:pPr>
            <a:endParaRPr lang="en-US" dirty="0">
              <a:solidFill>
                <a:srgbClr val="FF0000"/>
              </a:solidFill>
            </a:endParaRPr>
          </a:p>
        </p:txBody>
      </p:sp>
      <p:pic>
        <p:nvPicPr>
          <p:cNvPr id="7" name="Picture 6" descr="Aspirations to be an astronaut">
            <a:extLst>
              <a:ext uri="{FF2B5EF4-FFF2-40B4-BE49-F238E27FC236}">
                <a16:creationId xmlns:a16="http://schemas.microsoft.com/office/drawing/2014/main" id="{DAFCC191-D8C2-43FB-93C3-BBADAEB17108}"/>
              </a:ext>
            </a:extLst>
          </p:cNvPr>
          <p:cNvPicPr>
            <a:picLocks noChangeAspect="1"/>
          </p:cNvPicPr>
          <p:nvPr/>
        </p:nvPicPr>
        <p:blipFill>
          <a:blip r:embed="rId3"/>
          <a:stretch>
            <a:fillRect/>
          </a:stretch>
        </p:blipFill>
        <p:spPr>
          <a:xfrm>
            <a:off x="415290" y="1640246"/>
            <a:ext cx="3780363" cy="2519627"/>
          </a:xfrm>
          <a:prstGeom prst="rect">
            <a:avLst/>
          </a:prstGeom>
          <a:ln w="38100">
            <a:solidFill>
              <a:schemeClr val="tx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18800841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Machine Learning</a:t>
            </a:r>
            <a:endParaRPr lang="en-IN" dirty="0">
              <a:solidFill>
                <a:srgbClr val="FF0000"/>
              </a:solidFill>
            </a:endParaRPr>
          </a:p>
        </p:txBody>
      </p:sp>
      <p:pic>
        <p:nvPicPr>
          <p:cNvPr id="7" name="object 4"/>
          <p:cNvPicPr>
            <a:picLocks noGrp="1"/>
          </p:cNvPicPr>
          <p:nvPr>
            <p:ph sz="quarter" idx="1"/>
          </p:nvPr>
        </p:nvPicPr>
        <p:blipFill>
          <a:blip r:embed="rId2" cstate="print"/>
          <a:stretch>
            <a:fillRect/>
          </a:stretch>
        </p:blipFill>
        <p:spPr>
          <a:xfrm>
            <a:off x="1510308" y="1145381"/>
            <a:ext cx="6096000" cy="3429000"/>
          </a:xfrm>
          <a:prstGeom prst="rect">
            <a:avLst/>
          </a:prstGeom>
        </p:spPr>
      </p:pic>
      <p:sp>
        <p:nvSpPr>
          <p:cNvPr id="4" name="Footer Placeholder 3">
            <a:extLst>
              <a:ext uri="{FF2B5EF4-FFF2-40B4-BE49-F238E27FC236}">
                <a16:creationId xmlns:a16="http://schemas.microsoft.com/office/drawing/2014/main" id="{63A9D313-63CD-44F6-9FCC-81F690C48904}"/>
              </a:ext>
            </a:extLst>
          </p:cNvPr>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32566008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3228" y="293288"/>
            <a:ext cx="6400800" cy="735413"/>
          </a:xfrm>
        </p:spPr>
        <p:txBody>
          <a:bodyPr>
            <a:normAutofit fontScale="90000"/>
          </a:bodyPr>
          <a:lstStyle/>
          <a:p>
            <a:r>
              <a:rPr lang="en-US" b="1" dirty="0">
                <a:solidFill>
                  <a:srgbClr val="7030A0"/>
                </a:solidFill>
              </a:rPr>
              <a:t>Supervised vs Unsupervised Machine Learning</a:t>
            </a:r>
          </a:p>
        </p:txBody>
      </p:sp>
      <p:sp>
        <p:nvSpPr>
          <p:cNvPr id="3" name="Content Placeholder 2"/>
          <p:cNvSpPr>
            <a:spLocks noGrp="1"/>
          </p:cNvSpPr>
          <p:nvPr>
            <p:ph idx="1"/>
          </p:nvPr>
        </p:nvSpPr>
        <p:spPr>
          <a:xfrm>
            <a:off x="1369314" y="1028701"/>
            <a:ext cx="6400800" cy="3714749"/>
          </a:xfrm>
        </p:spPr>
        <p:txBody>
          <a:bodyPr>
            <a:normAutofit fontScale="92500"/>
          </a:bodyPr>
          <a:lstStyle/>
          <a:p>
            <a:r>
              <a:rPr lang="en-US" dirty="0"/>
              <a:t>When the data we have is </a:t>
            </a:r>
            <a:r>
              <a:rPr lang="en-US" dirty="0">
                <a:solidFill>
                  <a:srgbClr val="1F16DA"/>
                </a:solidFill>
              </a:rPr>
              <a:t>labelled</a:t>
            </a:r>
            <a:r>
              <a:rPr lang="en-US" dirty="0"/>
              <a:t> and use it to train a ML model it is called </a:t>
            </a:r>
            <a:r>
              <a:rPr lang="en-US" dirty="0">
                <a:solidFill>
                  <a:srgbClr val="C00000"/>
                </a:solidFill>
              </a:rPr>
              <a:t>supervised</a:t>
            </a:r>
            <a:r>
              <a:rPr lang="en-US" dirty="0"/>
              <a:t> machine learning</a:t>
            </a:r>
          </a:p>
          <a:p>
            <a:pPr lvl="1"/>
            <a:r>
              <a:rPr lang="en-US" dirty="0"/>
              <a:t>Examples </a:t>
            </a:r>
          </a:p>
          <a:p>
            <a:pPr lvl="2"/>
            <a:r>
              <a:rPr lang="en-US" dirty="0">
                <a:solidFill>
                  <a:srgbClr val="1F16DA"/>
                </a:solidFill>
              </a:rPr>
              <a:t>Classification Problems</a:t>
            </a:r>
          </a:p>
          <a:p>
            <a:pPr lvl="3"/>
            <a:r>
              <a:rPr lang="en-US" dirty="0"/>
              <a:t>You have 1000s of labelled images of cats and dogs and train a ML model to classify a new image as cat or dog </a:t>
            </a:r>
          </a:p>
          <a:p>
            <a:r>
              <a:rPr lang="en-US" dirty="0"/>
              <a:t>When the data we have is </a:t>
            </a:r>
            <a:r>
              <a:rPr lang="en-US" dirty="0">
                <a:solidFill>
                  <a:srgbClr val="1F16DA"/>
                </a:solidFill>
              </a:rPr>
              <a:t>unlabeled</a:t>
            </a:r>
            <a:r>
              <a:rPr lang="en-US" dirty="0"/>
              <a:t> and use it to train a ML model it is called </a:t>
            </a:r>
            <a:r>
              <a:rPr lang="en-US" dirty="0">
                <a:solidFill>
                  <a:srgbClr val="C00000"/>
                </a:solidFill>
              </a:rPr>
              <a:t>unsupervised</a:t>
            </a:r>
            <a:r>
              <a:rPr lang="en-US" dirty="0"/>
              <a:t> machine learning</a:t>
            </a:r>
          </a:p>
          <a:p>
            <a:pPr lvl="1"/>
            <a:r>
              <a:rPr lang="en-US" dirty="0"/>
              <a:t>Examples</a:t>
            </a:r>
          </a:p>
          <a:p>
            <a:pPr lvl="2"/>
            <a:r>
              <a:rPr lang="en-US" dirty="0">
                <a:solidFill>
                  <a:srgbClr val="1F16DA"/>
                </a:solidFill>
              </a:rPr>
              <a:t>Clustering Problems</a:t>
            </a:r>
          </a:p>
          <a:p>
            <a:pPr lvl="3"/>
            <a:r>
              <a:rPr lang="en-US" dirty="0"/>
              <a:t>You have a data of customers and want to segment them into groups but don’t know which criteria to select, a clustering model can help cluster your customers into segments.</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5745318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71851" y="228601"/>
            <a:ext cx="2238602" cy="345946"/>
          </a:xfrm>
          <a:prstGeom prst="rect">
            <a:avLst/>
          </a:prstGeom>
        </p:spPr>
        <p:txBody>
          <a:bodyPr vert="horz" wrap="square" lIns="0" tIns="25481" rIns="0" bIns="0" rtlCol="0">
            <a:spAutoFit/>
          </a:bodyPr>
          <a:lstStyle/>
          <a:p>
            <a:pPr marL="18876">
              <a:spcBef>
                <a:spcPts val="201"/>
              </a:spcBef>
            </a:pPr>
            <a:r>
              <a:rPr sz="2081" spc="-82" dirty="0">
                <a:solidFill>
                  <a:srgbClr val="FF0000"/>
                </a:solidFill>
                <a:latin typeface="Tahoma"/>
                <a:cs typeface="Tahoma"/>
              </a:rPr>
              <a:t>Supervised</a:t>
            </a:r>
            <a:r>
              <a:rPr sz="2081" spc="-8" dirty="0">
                <a:solidFill>
                  <a:srgbClr val="FF0000"/>
                </a:solidFill>
                <a:latin typeface="Tahoma"/>
                <a:cs typeface="Tahoma"/>
              </a:rPr>
              <a:t> </a:t>
            </a:r>
            <a:r>
              <a:rPr sz="2081" spc="-74" dirty="0">
                <a:solidFill>
                  <a:srgbClr val="FF0000"/>
                </a:solidFill>
                <a:latin typeface="Tahoma"/>
                <a:cs typeface="Tahoma"/>
              </a:rPr>
              <a:t>Learning</a:t>
            </a:r>
            <a:endParaRPr sz="2081" dirty="0">
              <a:solidFill>
                <a:srgbClr val="FF0000"/>
              </a:solidFill>
              <a:latin typeface="Tahoma"/>
              <a:cs typeface="Tahoma"/>
            </a:endParaRPr>
          </a:p>
        </p:txBody>
      </p:sp>
      <p:pic>
        <p:nvPicPr>
          <p:cNvPr id="4" name="object 4"/>
          <p:cNvPicPr/>
          <p:nvPr/>
        </p:nvPicPr>
        <p:blipFill>
          <a:blip r:embed="rId2" cstate="print"/>
          <a:stretch>
            <a:fillRect/>
          </a:stretch>
        </p:blipFill>
        <p:spPr>
          <a:xfrm>
            <a:off x="2035375" y="1166550"/>
            <a:ext cx="5222675" cy="3114983"/>
          </a:xfrm>
          <a:prstGeom prst="rect">
            <a:avLst/>
          </a:prstGeom>
        </p:spPr>
      </p:pic>
      <p:sp>
        <p:nvSpPr>
          <p:cNvPr id="5" name="object 5"/>
          <p:cNvSpPr txBox="1"/>
          <p:nvPr/>
        </p:nvSpPr>
        <p:spPr>
          <a:xfrm>
            <a:off x="2035375" y="4281533"/>
            <a:ext cx="5071775" cy="246952"/>
          </a:xfrm>
          <a:prstGeom prst="rect">
            <a:avLst/>
          </a:prstGeom>
        </p:spPr>
        <p:txBody>
          <a:bodyPr vert="horz" wrap="square" lIns="0" tIns="17932" rIns="0" bIns="0" rtlCol="0">
            <a:spAutoFit/>
          </a:bodyPr>
          <a:lstStyle/>
          <a:p>
            <a:pPr marL="18876">
              <a:spcBef>
                <a:spcPts val="141"/>
              </a:spcBef>
            </a:pPr>
            <a:r>
              <a:rPr sz="1487" spc="-52" dirty="0">
                <a:solidFill>
                  <a:srgbClr val="35495F"/>
                </a:solidFill>
                <a:latin typeface="Microsoft Sans Serif"/>
                <a:cs typeface="Microsoft Sans Serif"/>
              </a:rPr>
              <a:t>Figure:</a:t>
            </a:r>
            <a:r>
              <a:rPr sz="1487" spc="97" dirty="0">
                <a:solidFill>
                  <a:srgbClr val="35495F"/>
                </a:solidFill>
                <a:latin typeface="Microsoft Sans Serif"/>
                <a:cs typeface="Microsoft Sans Serif"/>
              </a:rPr>
              <a:t> </a:t>
            </a:r>
            <a:r>
              <a:rPr sz="1487" spc="-89" dirty="0">
                <a:latin typeface="Microsoft Sans Serif"/>
                <a:cs typeface="Microsoft Sans Serif"/>
              </a:rPr>
              <a:t>Supervised</a:t>
            </a:r>
            <a:r>
              <a:rPr sz="1487" spc="104" dirty="0">
                <a:latin typeface="Microsoft Sans Serif"/>
                <a:cs typeface="Microsoft Sans Serif"/>
              </a:rPr>
              <a:t> </a:t>
            </a:r>
            <a:r>
              <a:rPr sz="1487" spc="-74" dirty="0">
                <a:latin typeface="Microsoft Sans Serif"/>
                <a:cs typeface="Microsoft Sans Serif"/>
              </a:rPr>
              <a:t>Learning</a:t>
            </a:r>
            <a:r>
              <a:rPr sz="1487" spc="97" dirty="0">
                <a:latin typeface="Microsoft Sans Serif"/>
                <a:cs typeface="Microsoft Sans Serif"/>
              </a:rPr>
              <a:t> </a:t>
            </a:r>
            <a:r>
              <a:rPr sz="1487" spc="-67" dirty="0">
                <a:latin typeface="Microsoft Sans Serif"/>
                <a:cs typeface="Microsoft Sans Serif"/>
              </a:rPr>
              <a:t>(Source:</a:t>
            </a:r>
            <a:r>
              <a:rPr sz="1487" spc="268" dirty="0">
                <a:latin typeface="Microsoft Sans Serif"/>
                <a:cs typeface="Microsoft Sans Serif"/>
              </a:rPr>
              <a:t> </a:t>
            </a:r>
            <a:r>
              <a:rPr sz="1487" spc="-74" dirty="0">
                <a:latin typeface="Microsoft Sans Serif"/>
                <a:cs typeface="Microsoft Sans Serif"/>
              </a:rPr>
              <a:t>TowardsDataScience.com)</a:t>
            </a:r>
            <a:endParaRPr sz="1487" dirty="0">
              <a:latin typeface="Microsoft Sans Serif"/>
              <a:cs typeface="Microsoft Sans Serif"/>
            </a:endParaRPr>
          </a:p>
        </p:txBody>
      </p:sp>
      <p:sp>
        <p:nvSpPr>
          <p:cNvPr id="6" name="Footer Placeholder 5"/>
          <p:cNvSpPr>
            <a:spLocks noGrp="1"/>
          </p:cNvSpPr>
          <p:nvPr>
            <p:ph type="ftr" sz="quarter" idx="4294967295"/>
          </p:nvPr>
        </p:nvSpPr>
        <p:spPr/>
        <p:txBody>
          <a:bodyPr/>
          <a:lstStyle/>
          <a:p>
            <a:r>
              <a:rPr lang="en-US" smtClean="0"/>
              <a:t>Introduction to ML</a:t>
            </a:r>
            <a:endParaRPr lang="en-US" dirty="0"/>
          </a:p>
        </p:txBody>
      </p:sp>
    </p:spTree>
    <p:extLst>
      <p:ext uri="{BB962C8B-B14F-4D97-AF65-F5344CB8AC3E}">
        <p14:creationId xmlns:p14="http://schemas.microsoft.com/office/powerpoint/2010/main" val="174246257"/>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4D09C-A353-43BE-8B5D-1C72525CA501}"/>
              </a:ext>
            </a:extLst>
          </p:cNvPr>
          <p:cNvSpPr>
            <a:spLocks noGrp="1"/>
          </p:cNvSpPr>
          <p:nvPr>
            <p:ph type="title"/>
          </p:nvPr>
        </p:nvSpPr>
        <p:spPr/>
        <p:txBody>
          <a:bodyPr>
            <a:normAutofit fontScale="90000"/>
          </a:bodyPr>
          <a:lstStyle/>
          <a:p>
            <a:r>
              <a:rPr lang="en-IN" dirty="0" smtClean="0">
                <a:solidFill>
                  <a:schemeClr val="tx1"/>
                </a:solidFill>
              </a:rPr>
              <a:t>Typical Training process of a ML Model</a:t>
            </a:r>
            <a:endParaRPr lang="en-IN" dirty="0">
              <a:solidFill>
                <a:schemeClr val="tx1"/>
              </a:solidFill>
            </a:endParaRPr>
          </a:p>
        </p:txBody>
      </p:sp>
      <p:sp>
        <p:nvSpPr>
          <p:cNvPr id="4" name="Footer Placeholder 3">
            <a:extLst>
              <a:ext uri="{FF2B5EF4-FFF2-40B4-BE49-F238E27FC236}">
                <a16:creationId xmlns:a16="http://schemas.microsoft.com/office/drawing/2014/main" id="{7CFB3FF8-934E-4C4F-ABB9-E834D32DDDB3}"/>
              </a:ext>
            </a:extLst>
          </p:cNvPr>
          <p:cNvSpPr>
            <a:spLocks noGrp="1"/>
          </p:cNvSpPr>
          <p:nvPr>
            <p:ph type="ftr" sz="quarter" idx="11"/>
          </p:nvPr>
        </p:nvSpPr>
        <p:spPr/>
        <p:txBody>
          <a:bodyPr/>
          <a:lstStyle/>
          <a:p>
            <a:r>
              <a:rPr lang="en-US" smtClean="0"/>
              <a:t>Introduction to ML</a:t>
            </a:r>
            <a:endParaRPr lang="en-US" dirty="0"/>
          </a:p>
        </p:txBody>
      </p:sp>
      <p:pic>
        <p:nvPicPr>
          <p:cNvPr id="7" name="Content Placeholder 6">
            <a:extLst>
              <a:ext uri="{FF2B5EF4-FFF2-40B4-BE49-F238E27FC236}">
                <a16:creationId xmlns:a16="http://schemas.microsoft.com/office/drawing/2014/main" id="{6618691D-FF6D-46B1-AC20-E778EB9CD0E7}"/>
              </a:ext>
            </a:extLst>
          </p:cNvPr>
          <p:cNvPicPr>
            <a:picLocks noGrp="1" noChangeAspect="1"/>
          </p:cNvPicPr>
          <p:nvPr>
            <p:ph sz="quarter" idx="1"/>
          </p:nvPr>
        </p:nvPicPr>
        <p:blipFill>
          <a:blip r:embed="rId2"/>
          <a:stretch>
            <a:fillRect/>
          </a:stretch>
        </p:blipFill>
        <p:spPr>
          <a:xfrm>
            <a:off x="1462537" y="1623938"/>
            <a:ext cx="5798302" cy="3060896"/>
          </a:xfrm>
          <a:prstGeom prst="rect">
            <a:avLst/>
          </a:prstGeom>
        </p:spPr>
      </p:pic>
    </p:spTree>
    <p:extLst>
      <p:ext uri="{BB962C8B-B14F-4D97-AF65-F5344CB8AC3E}">
        <p14:creationId xmlns:p14="http://schemas.microsoft.com/office/powerpoint/2010/main" val="4337655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AF942-193B-4DC3-8FD5-08BA0230550E}"/>
              </a:ext>
            </a:extLst>
          </p:cNvPr>
          <p:cNvSpPr>
            <a:spLocks noGrp="1"/>
          </p:cNvSpPr>
          <p:nvPr>
            <p:ph type="title"/>
          </p:nvPr>
        </p:nvSpPr>
        <p:spPr/>
        <p:txBody>
          <a:bodyPr>
            <a:normAutofit fontScale="90000"/>
          </a:bodyPr>
          <a:lstStyle/>
          <a:p>
            <a:r>
              <a:rPr lang="en-US" dirty="0"/>
              <a:t>Train – test splitting</a:t>
            </a:r>
            <a:endParaRPr lang="en-IN" dirty="0"/>
          </a:p>
        </p:txBody>
      </p:sp>
      <p:sp>
        <p:nvSpPr>
          <p:cNvPr id="4" name="Footer Placeholder 3">
            <a:extLst>
              <a:ext uri="{FF2B5EF4-FFF2-40B4-BE49-F238E27FC236}">
                <a16:creationId xmlns:a16="http://schemas.microsoft.com/office/drawing/2014/main" id="{FE6D2008-C815-4054-99D0-5BC0B78F6415}"/>
              </a:ext>
            </a:extLst>
          </p:cNvPr>
          <p:cNvSpPr>
            <a:spLocks noGrp="1"/>
          </p:cNvSpPr>
          <p:nvPr>
            <p:ph type="ftr" sz="quarter" idx="11"/>
          </p:nvPr>
        </p:nvSpPr>
        <p:spPr/>
        <p:txBody>
          <a:bodyPr/>
          <a:lstStyle/>
          <a:p>
            <a:r>
              <a:rPr lang="en-US" smtClean="0"/>
              <a:t>Introduction to ML</a:t>
            </a:r>
            <a:endParaRPr lang="en-US" dirty="0"/>
          </a:p>
        </p:txBody>
      </p:sp>
      <p:pic>
        <p:nvPicPr>
          <p:cNvPr id="7" name="Content Placeholder 6">
            <a:extLst>
              <a:ext uri="{FF2B5EF4-FFF2-40B4-BE49-F238E27FC236}">
                <a16:creationId xmlns:a16="http://schemas.microsoft.com/office/drawing/2014/main" id="{D1C67AA6-8F84-4761-A32C-929D6A7EB487}"/>
              </a:ext>
            </a:extLst>
          </p:cNvPr>
          <p:cNvPicPr>
            <a:picLocks noGrp="1" noChangeAspect="1"/>
          </p:cNvPicPr>
          <p:nvPr>
            <p:ph sz="quarter" idx="1"/>
          </p:nvPr>
        </p:nvPicPr>
        <p:blipFill>
          <a:blip r:embed="rId2"/>
          <a:stretch>
            <a:fillRect/>
          </a:stretch>
        </p:blipFill>
        <p:spPr>
          <a:xfrm>
            <a:off x="1233377" y="1565935"/>
            <a:ext cx="5563422" cy="2869170"/>
          </a:xfrm>
          <a:prstGeom prst="rect">
            <a:avLst/>
          </a:prstGeom>
        </p:spPr>
      </p:pic>
    </p:spTree>
    <p:extLst>
      <p:ext uri="{BB962C8B-B14F-4D97-AF65-F5344CB8AC3E}">
        <p14:creationId xmlns:p14="http://schemas.microsoft.com/office/powerpoint/2010/main" val="26176449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763312" y="2071847"/>
            <a:ext cx="1340891" cy="942638"/>
          </a:xfrm>
          <a:custGeom>
            <a:avLst/>
            <a:gdLst/>
            <a:ahLst/>
            <a:cxnLst/>
            <a:rect l="l" t="t" r="r" b="b"/>
            <a:pathLst>
              <a:path w="2948304" h="2072640">
                <a:moveTo>
                  <a:pt x="2947958" y="0"/>
                </a:moveTo>
                <a:lnTo>
                  <a:pt x="0" y="0"/>
                </a:lnTo>
                <a:lnTo>
                  <a:pt x="0" y="2072522"/>
                </a:lnTo>
                <a:lnTo>
                  <a:pt x="2947958" y="2072522"/>
                </a:lnTo>
                <a:lnTo>
                  <a:pt x="2947958" y="0"/>
                </a:lnTo>
                <a:close/>
              </a:path>
            </a:pathLst>
          </a:custGeom>
          <a:solidFill>
            <a:srgbClr val="F0B500"/>
          </a:solidFill>
        </p:spPr>
        <p:txBody>
          <a:bodyPr wrap="square" lIns="0" tIns="0" rIns="0" bIns="0" rtlCol="0"/>
          <a:lstStyle/>
          <a:p>
            <a:endParaRPr sz="637"/>
          </a:p>
        </p:txBody>
      </p:sp>
      <p:sp>
        <p:nvSpPr>
          <p:cNvPr id="5" name="object 5"/>
          <p:cNvSpPr txBox="1"/>
          <p:nvPr/>
        </p:nvSpPr>
        <p:spPr>
          <a:xfrm>
            <a:off x="3199319" y="2444187"/>
            <a:ext cx="468720" cy="189783"/>
          </a:xfrm>
          <a:prstGeom prst="rect">
            <a:avLst/>
          </a:prstGeom>
        </p:spPr>
        <p:txBody>
          <a:bodyPr vert="horz" wrap="square" lIns="0" tIns="7798" rIns="0" bIns="0" rtlCol="0">
            <a:spAutoFit/>
          </a:bodyPr>
          <a:lstStyle/>
          <a:p>
            <a:pPr marL="5776">
              <a:spcBef>
                <a:spcPts val="61"/>
              </a:spcBef>
            </a:pPr>
            <a:r>
              <a:rPr sz="1182" spc="-5" dirty="0">
                <a:solidFill>
                  <a:srgbClr val="FFFFFF"/>
                </a:solidFill>
                <a:latin typeface="Courier New"/>
                <a:cs typeface="Courier New"/>
              </a:rPr>
              <a:t>Model</a:t>
            </a:r>
            <a:endParaRPr sz="1182">
              <a:latin typeface="Courier New"/>
              <a:cs typeface="Courier New"/>
            </a:endParaRPr>
          </a:p>
        </p:txBody>
      </p:sp>
      <p:sp>
        <p:nvSpPr>
          <p:cNvPr id="6" name="object 6"/>
          <p:cNvSpPr/>
          <p:nvPr/>
        </p:nvSpPr>
        <p:spPr>
          <a:xfrm>
            <a:off x="759257" y="3368555"/>
            <a:ext cx="1644418" cy="780333"/>
          </a:xfrm>
          <a:custGeom>
            <a:avLst/>
            <a:gdLst/>
            <a:ahLst/>
            <a:cxnLst/>
            <a:rect l="l" t="t" r="r" b="b"/>
            <a:pathLst>
              <a:path w="3615690" h="1715770">
                <a:moveTo>
                  <a:pt x="3615274" y="0"/>
                </a:moveTo>
                <a:lnTo>
                  <a:pt x="776436" y="0"/>
                </a:lnTo>
                <a:lnTo>
                  <a:pt x="0" y="1715560"/>
                </a:lnTo>
                <a:lnTo>
                  <a:pt x="2838837" y="1715560"/>
                </a:lnTo>
                <a:lnTo>
                  <a:pt x="3615274" y="0"/>
                </a:lnTo>
                <a:close/>
              </a:path>
            </a:pathLst>
          </a:custGeom>
          <a:solidFill>
            <a:srgbClr val="2CA14A"/>
          </a:solidFill>
        </p:spPr>
        <p:txBody>
          <a:bodyPr wrap="square" lIns="0" tIns="0" rIns="0" bIns="0" rtlCol="0"/>
          <a:lstStyle/>
          <a:p>
            <a:endParaRPr sz="637"/>
          </a:p>
        </p:txBody>
      </p:sp>
      <p:sp>
        <p:nvSpPr>
          <p:cNvPr id="7" name="object 7"/>
          <p:cNvSpPr txBox="1"/>
          <p:nvPr/>
        </p:nvSpPr>
        <p:spPr>
          <a:xfrm>
            <a:off x="1255391" y="3657557"/>
            <a:ext cx="651818" cy="189783"/>
          </a:xfrm>
          <a:prstGeom prst="rect">
            <a:avLst/>
          </a:prstGeom>
        </p:spPr>
        <p:txBody>
          <a:bodyPr vert="horz" wrap="square" lIns="0" tIns="7798" rIns="0" bIns="0" rtlCol="0">
            <a:spAutoFit/>
          </a:bodyPr>
          <a:lstStyle/>
          <a:p>
            <a:pPr marL="5776">
              <a:spcBef>
                <a:spcPts val="61"/>
              </a:spcBef>
            </a:pPr>
            <a:r>
              <a:rPr sz="1182" spc="-5" dirty="0">
                <a:solidFill>
                  <a:srgbClr val="FFFFFF"/>
                </a:solidFill>
                <a:latin typeface="Courier New"/>
                <a:cs typeface="Courier New"/>
              </a:rPr>
              <a:t>Dataset</a:t>
            </a:r>
            <a:endParaRPr sz="1182">
              <a:latin typeface="Courier New"/>
              <a:cs typeface="Courier New"/>
            </a:endParaRPr>
          </a:p>
        </p:txBody>
      </p:sp>
      <p:grpSp>
        <p:nvGrpSpPr>
          <p:cNvPr id="8" name="object 8"/>
          <p:cNvGrpSpPr/>
          <p:nvPr/>
        </p:nvGrpSpPr>
        <p:grpSpPr>
          <a:xfrm>
            <a:off x="1576610" y="2520280"/>
            <a:ext cx="978738" cy="686763"/>
            <a:chOff x="3465889" y="5541506"/>
            <a:chExt cx="2152015" cy="1510030"/>
          </a:xfrm>
        </p:grpSpPr>
        <p:sp>
          <p:nvSpPr>
            <p:cNvPr id="9" name="object 9"/>
            <p:cNvSpPr/>
            <p:nvPr/>
          </p:nvSpPr>
          <p:spPr>
            <a:xfrm>
              <a:off x="3479613" y="5591766"/>
              <a:ext cx="2047875" cy="0"/>
            </a:xfrm>
            <a:custGeom>
              <a:avLst/>
              <a:gdLst/>
              <a:ahLst/>
              <a:cxnLst/>
              <a:rect l="l" t="t" r="r" b="b"/>
              <a:pathLst>
                <a:path w="2047875">
                  <a:moveTo>
                    <a:pt x="0" y="0"/>
                  </a:moveTo>
                  <a:lnTo>
                    <a:pt x="2037228" y="0"/>
                  </a:lnTo>
                  <a:lnTo>
                    <a:pt x="2047698" y="0"/>
                  </a:lnTo>
                </a:path>
              </a:pathLst>
            </a:custGeom>
            <a:ln w="20941">
              <a:solidFill>
                <a:srgbClr val="000000"/>
              </a:solidFill>
            </a:ln>
          </p:spPr>
          <p:txBody>
            <a:bodyPr wrap="square" lIns="0" tIns="0" rIns="0" bIns="0" rtlCol="0"/>
            <a:lstStyle/>
            <a:p>
              <a:endParaRPr sz="637"/>
            </a:p>
          </p:txBody>
        </p:sp>
        <p:sp>
          <p:nvSpPr>
            <p:cNvPr id="10" name="object 10"/>
            <p:cNvSpPr/>
            <p:nvPr/>
          </p:nvSpPr>
          <p:spPr>
            <a:xfrm>
              <a:off x="5516841" y="5541506"/>
              <a:ext cx="100965" cy="100965"/>
            </a:xfrm>
            <a:custGeom>
              <a:avLst/>
              <a:gdLst/>
              <a:ahLst/>
              <a:cxnLst/>
              <a:rect l="l" t="t" r="r" b="b"/>
              <a:pathLst>
                <a:path w="100964" h="100964">
                  <a:moveTo>
                    <a:pt x="0" y="0"/>
                  </a:moveTo>
                  <a:lnTo>
                    <a:pt x="0" y="100520"/>
                  </a:lnTo>
                  <a:lnTo>
                    <a:pt x="100520" y="50260"/>
                  </a:lnTo>
                  <a:lnTo>
                    <a:pt x="0" y="0"/>
                  </a:lnTo>
                  <a:close/>
                </a:path>
              </a:pathLst>
            </a:custGeom>
            <a:solidFill>
              <a:srgbClr val="000000"/>
            </a:solidFill>
          </p:spPr>
          <p:txBody>
            <a:bodyPr wrap="square" lIns="0" tIns="0" rIns="0" bIns="0" rtlCol="0"/>
            <a:lstStyle/>
            <a:p>
              <a:endParaRPr sz="637"/>
            </a:p>
          </p:txBody>
        </p:sp>
        <p:sp>
          <p:nvSpPr>
            <p:cNvPr id="11" name="object 11"/>
            <p:cNvSpPr/>
            <p:nvPr/>
          </p:nvSpPr>
          <p:spPr>
            <a:xfrm>
              <a:off x="3476360" y="5585265"/>
              <a:ext cx="0" cy="1466215"/>
            </a:xfrm>
            <a:custGeom>
              <a:avLst/>
              <a:gdLst/>
              <a:ahLst/>
              <a:cxnLst/>
              <a:rect l="l" t="t" r="r" b="b"/>
              <a:pathLst>
                <a:path h="1466215">
                  <a:moveTo>
                    <a:pt x="0" y="1465923"/>
                  </a:moveTo>
                  <a:lnTo>
                    <a:pt x="0" y="0"/>
                  </a:lnTo>
                </a:path>
              </a:pathLst>
            </a:custGeom>
            <a:ln w="20941">
              <a:solidFill>
                <a:srgbClr val="000000"/>
              </a:solidFill>
            </a:ln>
          </p:spPr>
          <p:txBody>
            <a:bodyPr wrap="square" lIns="0" tIns="0" rIns="0" bIns="0" rtlCol="0"/>
            <a:lstStyle/>
            <a:p>
              <a:endParaRPr sz="637"/>
            </a:p>
          </p:txBody>
        </p:sp>
      </p:grpSp>
      <p:grpSp>
        <p:nvGrpSpPr>
          <p:cNvPr id="12" name="object 12"/>
          <p:cNvGrpSpPr/>
          <p:nvPr/>
        </p:nvGrpSpPr>
        <p:grpSpPr>
          <a:xfrm>
            <a:off x="4314271" y="2520281"/>
            <a:ext cx="732682" cy="45919"/>
            <a:chOff x="9485364" y="5541506"/>
            <a:chExt cx="1610995" cy="100965"/>
          </a:xfrm>
        </p:grpSpPr>
        <p:sp>
          <p:nvSpPr>
            <p:cNvPr id="13" name="object 13"/>
            <p:cNvSpPr/>
            <p:nvPr/>
          </p:nvSpPr>
          <p:spPr>
            <a:xfrm>
              <a:off x="9485364" y="5591766"/>
              <a:ext cx="1521460" cy="0"/>
            </a:xfrm>
            <a:custGeom>
              <a:avLst/>
              <a:gdLst/>
              <a:ahLst/>
              <a:cxnLst/>
              <a:rect l="l" t="t" r="r" b="b"/>
              <a:pathLst>
                <a:path w="1521459">
                  <a:moveTo>
                    <a:pt x="0" y="0"/>
                  </a:moveTo>
                  <a:lnTo>
                    <a:pt x="1510482" y="0"/>
                  </a:lnTo>
                  <a:lnTo>
                    <a:pt x="1520953" y="0"/>
                  </a:lnTo>
                </a:path>
              </a:pathLst>
            </a:custGeom>
            <a:ln w="20941">
              <a:solidFill>
                <a:srgbClr val="000000"/>
              </a:solidFill>
            </a:ln>
          </p:spPr>
          <p:txBody>
            <a:bodyPr wrap="square" lIns="0" tIns="0" rIns="0" bIns="0" rtlCol="0"/>
            <a:lstStyle/>
            <a:p>
              <a:endParaRPr sz="637"/>
            </a:p>
          </p:txBody>
        </p:sp>
        <p:sp>
          <p:nvSpPr>
            <p:cNvPr id="14" name="object 14"/>
            <p:cNvSpPr/>
            <p:nvPr/>
          </p:nvSpPr>
          <p:spPr>
            <a:xfrm>
              <a:off x="10995842" y="5541506"/>
              <a:ext cx="100965" cy="100965"/>
            </a:xfrm>
            <a:custGeom>
              <a:avLst/>
              <a:gdLst/>
              <a:ahLst/>
              <a:cxnLst/>
              <a:rect l="l" t="t" r="r" b="b"/>
              <a:pathLst>
                <a:path w="100965" h="100964">
                  <a:moveTo>
                    <a:pt x="0" y="0"/>
                  </a:moveTo>
                  <a:lnTo>
                    <a:pt x="0" y="100520"/>
                  </a:lnTo>
                  <a:lnTo>
                    <a:pt x="100520" y="50260"/>
                  </a:lnTo>
                  <a:lnTo>
                    <a:pt x="0" y="0"/>
                  </a:lnTo>
                  <a:close/>
                </a:path>
              </a:pathLst>
            </a:custGeom>
            <a:solidFill>
              <a:srgbClr val="000000"/>
            </a:solidFill>
          </p:spPr>
          <p:txBody>
            <a:bodyPr wrap="square" lIns="0" tIns="0" rIns="0" bIns="0" rtlCol="0"/>
            <a:lstStyle/>
            <a:p>
              <a:endParaRPr sz="637"/>
            </a:p>
          </p:txBody>
        </p:sp>
      </p:grpSp>
      <p:sp>
        <p:nvSpPr>
          <p:cNvPr id="15" name="object 15"/>
          <p:cNvSpPr/>
          <p:nvPr/>
        </p:nvSpPr>
        <p:spPr>
          <a:xfrm>
            <a:off x="5126973" y="2305031"/>
            <a:ext cx="1128624" cy="476229"/>
          </a:xfrm>
          <a:custGeom>
            <a:avLst/>
            <a:gdLst/>
            <a:ahLst/>
            <a:cxnLst/>
            <a:rect l="l" t="t" r="r" b="b"/>
            <a:pathLst>
              <a:path w="2481580" h="1047114">
                <a:moveTo>
                  <a:pt x="2241073" y="0"/>
                </a:moveTo>
                <a:lnTo>
                  <a:pt x="240097" y="0"/>
                </a:lnTo>
                <a:lnTo>
                  <a:pt x="192318" y="183"/>
                </a:lnTo>
                <a:lnTo>
                  <a:pt x="153787" y="1470"/>
                </a:lnTo>
                <a:lnTo>
                  <a:pt x="99180" y="11766"/>
                </a:lnTo>
                <a:lnTo>
                  <a:pt x="45778" y="45785"/>
                </a:lnTo>
                <a:lnTo>
                  <a:pt x="11758" y="99184"/>
                </a:lnTo>
                <a:lnTo>
                  <a:pt x="1469" y="153788"/>
                </a:lnTo>
                <a:lnTo>
                  <a:pt x="183" y="192319"/>
                </a:lnTo>
                <a:lnTo>
                  <a:pt x="0" y="240097"/>
                </a:lnTo>
                <a:lnTo>
                  <a:pt x="0" y="806992"/>
                </a:lnTo>
                <a:lnTo>
                  <a:pt x="183" y="854769"/>
                </a:lnTo>
                <a:lnTo>
                  <a:pt x="1469" y="893300"/>
                </a:lnTo>
                <a:lnTo>
                  <a:pt x="11758" y="947904"/>
                </a:lnTo>
                <a:lnTo>
                  <a:pt x="45778" y="1001303"/>
                </a:lnTo>
                <a:lnTo>
                  <a:pt x="99180" y="1035323"/>
                </a:lnTo>
                <a:lnTo>
                  <a:pt x="153787" y="1045617"/>
                </a:lnTo>
                <a:lnTo>
                  <a:pt x="192318" y="1046904"/>
                </a:lnTo>
                <a:lnTo>
                  <a:pt x="240097" y="1047088"/>
                </a:lnTo>
                <a:lnTo>
                  <a:pt x="2241073" y="1047088"/>
                </a:lnTo>
                <a:lnTo>
                  <a:pt x="2288847" y="1046904"/>
                </a:lnTo>
                <a:lnTo>
                  <a:pt x="2327378" y="1045617"/>
                </a:lnTo>
                <a:lnTo>
                  <a:pt x="2381979" y="1035323"/>
                </a:lnTo>
                <a:lnTo>
                  <a:pt x="2435381" y="1001303"/>
                </a:lnTo>
                <a:lnTo>
                  <a:pt x="2469401" y="947904"/>
                </a:lnTo>
                <a:lnTo>
                  <a:pt x="2479699" y="893300"/>
                </a:lnTo>
                <a:lnTo>
                  <a:pt x="2480986" y="854769"/>
                </a:lnTo>
                <a:lnTo>
                  <a:pt x="2481170" y="806992"/>
                </a:lnTo>
                <a:lnTo>
                  <a:pt x="2481170" y="240097"/>
                </a:lnTo>
                <a:lnTo>
                  <a:pt x="2480986" y="192319"/>
                </a:lnTo>
                <a:lnTo>
                  <a:pt x="2479699" y="153788"/>
                </a:lnTo>
                <a:lnTo>
                  <a:pt x="2469401" y="99184"/>
                </a:lnTo>
                <a:lnTo>
                  <a:pt x="2435381" y="45785"/>
                </a:lnTo>
                <a:lnTo>
                  <a:pt x="2381979" y="11766"/>
                </a:lnTo>
                <a:lnTo>
                  <a:pt x="2327378" y="1470"/>
                </a:lnTo>
                <a:lnTo>
                  <a:pt x="2288847" y="183"/>
                </a:lnTo>
                <a:lnTo>
                  <a:pt x="2241073" y="0"/>
                </a:lnTo>
                <a:close/>
              </a:path>
            </a:pathLst>
          </a:custGeom>
          <a:solidFill>
            <a:srgbClr val="929292"/>
          </a:solidFill>
        </p:spPr>
        <p:txBody>
          <a:bodyPr wrap="square" lIns="0" tIns="0" rIns="0" bIns="0" rtlCol="0"/>
          <a:lstStyle/>
          <a:p>
            <a:endParaRPr sz="637"/>
          </a:p>
        </p:txBody>
      </p:sp>
      <p:sp>
        <p:nvSpPr>
          <p:cNvPr id="16" name="object 16"/>
          <p:cNvSpPr txBox="1"/>
          <p:nvPr/>
        </p:nvSpPr>
        <p:spPr>
          <a:xfrm>
            <a:off x="5228270" y="2441904"/>
            <a:ext cx="925888" cy="189783"/>
          </a:xfrm>
          <a:prstGeom prst="rect">
            <a:avLst/>
          </a:prstGeom>
        </p:spPr>
        <p:txBody>
          <a:bodyPr vert="horz" wrap="square" lIns="0" tIns="7798" rIns="0" bIns="0" rtlCol="0">
            <a:spAutoFit/>
          </a:bodyPr>
          <a:lstStyle/>
          <a:p>
            <a:pPr marL="5776">
              <a:spcBef>
                <a:spcPts val="61"/>
              </a:spcBef>
            </a:pPr>
            <a:r>
              <a:rPr sz="1182" spc="-5" dirty="0">
                <a:solidFill>
                  <a:srgbClr val="FFFFFF"/>
                </a:solidFill>
                <a:latin typeface="Courier New"/>
                <a:cs typeface="Courier New"/>
              </a:rPr>
              <a:t>Prediction</a:t>
            </a:r>
            <a:endParaRPr sz="1182">
              <a:latin typeface="Courier New"/>
              <a:cs typeface="Courier New"/>
            </a:endParaRPr>
          </a:p>
        </p:txBody>
      </p:sp>
      <p:grpSp>
        <p:nvGrpSpPr>
          <p:cNvPr id="17" name="object 17"/>
          <p:cNvGrpSpPr/>
          <p:nvPr/>
        </p:nvGrpSpPr>
        <p:grpSpPr>
          <a:xfrm>
            <a:off x="2332151" y="3874534"/>
            <a:ext cx="2700843" cy="45919"/>
            <a:chOff x="5127148" y="8519190"/>
            <a:chExt cx="5938520" cy="100965"/>
          </a:xfrm>
        </p:grpSpPr>
        <p:sp>
          <p:nvSpPr>
            <p:cNvPr id="18" name="object 18"/>
            <p:cNvSpPr/>
            <p:nvPr/>
          </p:nvSpPr>
          <p:spPr>
            <a:xfrm>
              <a:off x="5127148" y="8569450"/>
              <a:ext cx="5848350" cy="0"/>
            </a:xfrm>
            <a:custGeom>
              <a:avLst/>
              <a:gdLst/>
              <a:ahLst/>
              <a:cxnLst/>
              <a:rect l="l" t="t" r="r" b="b"/>
              <a:pathLst>
                <a:path w="5848350">
                  <a:moveTo>
                    <a:pt x="0" y="0"/>
                  </a:moveTo>
                  <a:lnTo>
                    <a:pt x="5837834" y="0"/>
                  </a:lnTo>
                  <a:lnTo>
                    <a:pt x="5848305" y="0"/>
                  </a:lnTo>
                </a:path>
              </a:pathLst>
            </a:custGeom>
            <a:ln w="20941">
              <a:solidFill>
                <a:srgbClr val="000000"/>
              </a:solidFill>
            </a:ln>
          </p:spPr>
          <p:txBody>
            <a:bodyPr wrap="square" lIns="0" tIns="0" rIns="0" bIns="0" rtlCol="0"/>
            <a:lstStyle/>
            <a:p>
              <a:endParaRPr sz="637"/>
            </a:p>
          </p:txBody>
        </p:sp>
        <p:sp>
          <p:nvSpPr>
            <p:cNvPr id="19" name="object 19"/>
            <p:cNvSpPr/>
            <p:nvPr/>
          </p:nvSpPr>
          <p:spPr>
            <a:xfrm>
              <a:off x="10964985" y="8519190"/>
              <a:ext cx="100965" cy="100965"/>
            </a:xfrm>
            <a:custGeom>
              <a:avLst/>
              <a:gdLst/>
              <a:ahLst/>
              <a:cxnLst/>
              <a:rect l="l" t="t" r="r" b="b"/>
              <a:pathLst>
                <a:path w="100965" h="100965">
                  <a:moveTo>
                    <a:pt x="0" y="0"/>
                  </a:moveTo>
                  <a:lnTo>
                    <a:pt x="0" y="100520"/>
                  </a:lnTo>
                  <a:lnTo>
                    <a:pt x="100520" y="50260"/>
                  </a:lnTo>
                  <a:lnTo>
                    <a:pt x="0" y="0"/>
                  </a:lnTo>
                  <a:close/>
                </a:path>
              </a:pathLst>
            </a:custGeom>
            <a:solidFill>
              <a:srgbClr val="000000"/>
            </a:solidFill>
          </p:spPr>
          <p:txBody>
            <a:bodyPr wrap="square" lIns="0" tIns="0" rIns="0" bIns="0" rtlCol="0"/>
            <a:lstStyle/>
            <a:p>
              <a:endParaRPr sz="637"/>
            </a:p>
          </p:txBody>
        </p:sp>
      </p:grpSp>
      <p:sp>
        <p:nvSpPr>
          <p:cNvPr id="20" name="object 20"/>
          <p:cNvSpPr/>
          <p:nvPr/>
        </p:nvSpPr>
        <p:spPr>
          <a:xfrm>
            <a:off x="5205064" y="3426099"/>
            <a:ext cx="972384" cy="942638"/>
          </a:xfrm>
          <a:custGeom>
            <a:avLst/>
            <a:gdLst/>
            <a:ahLst/>
            <a:cxnLst/>
            <a:rect l="l" t="t" r="r" b="b"/>
            <a:pathLst>
              <a:path w="2138044" h="2072640">
                <a:moveTo>
                  <a:pt x="1068875" y="0"/>
                </a:moveTo>
                <a:lnTo>
                  <a:pt x="1023295" y="936"/>
                </a:lnTo>
                <a:lnTo>
                  <a:pt x="977781" y="3747"/>
                </a:lnTo>
                <a:lnTo>
                  <a:pt x="932401" y="8430"/>
                </a:lnTo>
                <a:lnTo>
                  <a:pt x="887221" y="14988"/>
                </a:lnTo>
                <a:lnTo>
                  <a:pt x="842307" y="23419"/>
                </a:lnTo>
                <a:lnTo>
                  <a:pt x="797727" y="33723"/>
                </a:lnTo>
                <a:lnTo>
                  <a:pt x="753548" y="45901"/>
                </a:lnTo>
                <a:lnTo>
                  <a:pt x="709835" y="59953"/>
                </a:lnTo>
                <a:lnTo>
                  <a:pt x="666656" y="75878"/>
                </a:lnTo>
                <a:lnTo>
                  <a:pt x="624078" y="93677"/>
                </a:lnTo>
                <a:lnTo>
                  <a:pt x="582166" y="113349"/>
                </a:lnTo>
                <a:lnTo>
                  <a:pt x="540988" y="134895"/>
                </a:lnTo>
                <a:lnTo>
                  <a:pt x="500611" y="158314"/>
                </a:lnTo>
                <a:lnTo>
                  <a:pt x="461101" y="183607"/>
                </a:lnTo>
                <a:lnTo>
                  <a:pt x="422524" y="210773"/>
                </a:lnTo>
                <a:lnTo>
                  <a:pt x="384949" y="239813"/>
                </a:lnTo>
                <a:lnTo>
                  <a:pt x="348440" y="270726"/>
                </a:lnTo>
                <a:lnTo>
                  <a:pt x="313066" y="303513"/>
                </a:lnTo>
                <a:lnTo>
                  <a:pt x="279247" y="337808"/>
                </a:lnTo>
                <a:lnTo>
                  <a:pt x="247361" y="373203"/>
                </a:lnTo>
                <a:lnTo>
                  <a:pt x="217407" y="409632"/>
                </a:lnTo>
                <a:lnTo>
                  <a:pt x="189385" y="447031"/>
                </a:lnTo>
                <a:lnTo>
                  <a:pt x="163296" y="485336"/>
                </a:lnTo>
                <a:lnTo>
                  <a:pt x="139140" y="524481"/>
                </a:lnTo>
                <a:lnTo>
                  <a:pt x="116916" y="564402"/>
                </a:lnTo>
                <a:lnTo>
                  <a:pt x="96625" y="605035"/>
                </a:lnTo>
                <a:lnTo>
                  <a:pt x="78266" y="646315"/>
                </a:lnTo>
                <a:lnTo>
                  <a:pt x="61840" y="688176"/>
                </a:lnTo>
                <a:lnTo>
                  <a:pt x="47346" y="730555"/>
                </a:lnTo>
                <a:lnTo>
                  <a:pt x="34785" y="773386"/>
                </a:lnTo>
                <a:lnTo>
                  <a:pt x="24156" y="816606"/>
                </a:lnTo>
                <a:lnTo>
                  <a:pt x="15460" y="860149"/>
                </a:lnTo>
                <a:lnTo>
                  <a:pt x="8696" y="903950"/>
                </a:lnTo>
                <a:lnTo>
                  <a:pt x="3865" y="947946"/>
                </a:lnTo>
                <a:lnTo>
                  <a:pt x="966" y="992071"/>
                </a:lnTo>
                <a:lnTo>
                  <a:pt x="0" y="1036261"/>
                </a:lnTo>
                <a:lnTo>
                  <a:pt x="966" y="1080450"/>
                </a:lnTo>
                <a:lnTo>
                  <a:pt x="3865" y="1124575"/>
                </a:lnTo>
                <a:lnTo>
                  <a:pt x="8696" y="1168571"/>
                </a:lnTo>
                <a:lnTo>
                  <a:pt x="15460" y="1212372"/>
                </a:lnTo>
                <a:lnTo>
                  <a:pt x="24156" y="1255915"/>
                </a:lnTo>
                <a:lnTo>
                  <a:pt x="34785" y="1299135"/>
                </a:lnTo>
                <a:lnTo>
                  <a:pt x="47346" y="1341966"/>
                </a:lnTo>
                <a:lnTo>
                  <a:pt x="61840" y="1384345"/>
                </a:lnTo>
                <a:lnTo>
                  <a:pt x="78266" y="1426207"/>
                </a:lnTo>
                <a:lnTo>
                  <a:pt x="96625" y="1467486"/>
                </a:lnTo>
                <a:lnTo>
                  <a:pt x="116916" y="1508119"/>
                </a:lnTo>
                <a:lnTo>
                  <a:pt x="139140" y="1548040"/>
                </a:lnTo>
                <a:lnTo>
                  <a:pt x="163296" y="1587186"/>
                </a:lnTo>
                <a:lnTo>
                  <a:pt x="189385" y="1625490"/>
                </a:lnTo>
                <a:lnTo>
                  <a:pt x="217407" y="1662889"/>
                </a:lnTo>
                <a:lnTo>
                  <a:pt x="247361" y="1699319"/>
                </a:lnTo>
                <a:lnTo>
                  <a:pt x="279247" y="1734713"/>
                </a:lnTo>
                <a:lnTo>
                  <a:pt x="313066" y="1769008"/>
                </a:lnTo>
                <a:lnTo>
                  <a:pt x="348440" y="1801795"/>
                </a:lnTo>
                <a:lnTo>
                  <a:pt x="384949" y="1832708"/>
                </a:lnTo>
                <a:lnTo>
                  <a:pt x="422524" y="1861748"/>
                </a:lnTo>
                <a:lnTo>
                  <a:pt x="461101" y="1888915"/>
                </a:lnTo>
                <a:lnTo>
                  <a:pt x="500611" y="1914207"/>
                </a:lnTo>
                <a:lnTo>
                  <a:pt x="540988" y="1937627"/>
                </a:lnTo>
                <a:lnTo>
                  <a:pt x="582166" y="1959172"/>
                </a:lnTo>
                <a:lnTo>
                  <a:pt x="624078" y="1978845"/>
                </a:lnTo>
                <a:lnTo>
                  <a:pt x="666656" y="1996643"/>
                </a:lnTo>
                <a:lnTo>
                  <a:pt x="709835" y="2012568"/>
                </a:lnTo>
                <a:lnTo>
                  <a:pt x="753548" y="2026620"/>
                </a:lnTo>
                <a:lnTo>
                  <a:pt x="797727" y="2038798"/>
                </a:lnTo>
                <a:lnTo>
                  <a:pt x="842307" y="2049102"/>
                </a:lnTo>
                <a:lnTo>
                  <a:pt x="887221" y="2057533"/>
                </a:lnTo>
                <a:lnTo>
                  <a:pt x="932401" y="2064091"/>
                </a:lnTo>
                <a:lnTo>
                  <a:pt x="977781" y="2068775"/>
                </a:lnTo>
                <a:lnTo>
                  <a:pt x="1023295" y="2071585"/>
                </a:lnTo>
                <a:lnTo>
                  <a:pt x="1068875" y="2072522"/>
                </a:lnTo>
                <a:lnTo>
                  <a:pt x="1114456" y="2071585"/>
                </a:lnTo>
                <a:lnTo>
                  <a:pt x="1159969" y="2068775"/>
                </a:lnTo>
                <a:lnTo>
                  <a:pt x="1205350" y="2064091"/>
                </a:lnTo>
                <a:lnTo>
                  <a:pt x="1250530" y="2057533"/>
                </a:lnTo>
                <a:lnTo>
                  <a:pt x="1295443" y="2049102"/>
                </a:lnTo>
                <a:lnTo>
                  <a:pt x="1340023" y="2038798"/>
                </a:lnTo>
                <a:lnTo>
                  <a:pt x="1384203" y="2026620"/>
                </a:lnTo>
                <a:lnTo>
                  <a:pt x="1427915" y="2012568"/>
                </a:lnTo>
                <a:lnTo>
                  <a:pt x="1471094" y="1996643"/>
                </a:lnTo>
                <a:lnTo>
                  <a:pt x="1513673" y="1978845"/>
                </a:lnTo>
                <a:lnTo>
                  <a:pt x="1555585" y="1959172"/>
                </a:lnTo>
                <a:lnTo>
                  <a:pt x="1596762" y="1937627"/>
                </a:lnTo>
                <a:lnTo>
                  <a:pt x="1637140" y="1914207"/>
                </a:lnTo>
                <a:lnTo>
                  <a:pt x="1676650" y="1888915"/>
                </a:lnTo>
                <a:lnTo>
                  <a:pt x="1715226" y="1861748"/>
                </a:lnTo>
                <a:lnTo>
                  <a:pt x="1752802" y="1832708"/>
                </a:lnTo>
                <a:lnTo>
                  <a:pt x="1789310" y="1801795"/>
                </a:lnTo>
                <a:lnTo>
                  <a:pt x="1824685" y="1769008"/>
                </a:lnTo>
                <a:lnTo>
                  <a:pt x="1858504" y="1734713"/>
                </a:lnTo>
                <a:lnTo>
                  <a:pt x="1890390" y="1699319"/>
                </a:lnTo>
                <a:lnTo>
                  <a:pt x="1920344" y="1662889"/>
                </a:lnTo>
                <a:lnTo>
                  <a:pt x="1948365" y="1625490"/>
                </a:lnTo>
                <a:lnTo>
                  <a:pt x="1974454" y="1587186"/>
                </a:lnTo>
                <a:lnTo>
                  <a:pt x="1998611" y="1548040"/>
                </a:lnTo>
                <a:lnTo>
                  <a:pt x="2020834" y="1508119"/>
                </a:lnTo>
                <a:lnTo>
                  <a:pt x="2041126" y="1467486"/>
                </a:lnTo>
                <a:lnTo>
                  <a:pt x="2059485" y="1426207"/>
                </a:lnTo>
                <a:lnTo>
                  <a:pt x="2075911" y="1384345"/>
                </a:lnTo>
                <a:lnTo>
                  <a:pt x="2090405" y="1341966"/>
                </a:lnTo>
                <a:lnTo>
                  <a:pt x="2102966" y="1299135"/>
                </a:lnTo>
                <a:lnTo>
                  <a:pt x="2113595" y="1255915"/>
                </a:lnTo>
                <a:lnTo>
                  <a:pt x="2122291" y="1212372"/>
                </a:lnTo>
                <a:lnTo>
                  <a:pt x="2129055" y="1168571"/>
                </a:lnTo>
                <a:lnTo>
                  <a:pt x="2133886" y="1124575"/>
                </a:lnTo>
                <a:lnTo>
                  <a:pt x="2136785" y="1080450"/>
                </a:lnTo>
                <a:lnTo>
                  <a:pt x="2137751" y="1036261"/>
                </a:lnTo>
                <a:lnTo>
                  <a:pt x="2136785" y="992071"/>
                </a:lnTo>
                <a:lnTo>
                  <a:pt x="2133886" y="947946"/>
                </a:lnTo>
                <a:lnTo>
                  <a:pt x="2129055" y="903950"/>
                </a:lnTo>
                <a:lnTo>
                  <a:pt x="2122291" y="860149"/>
                </a:lnTo>
                <a:lnTo>
                  <a:pt x="2113595" y="816606"/>
                </a:lnTo>
                <a:lnTo>
                  <a:pt x="2102966" y="773386"/>
                </a:lnTo>
                <a:lnTo>
                  <a:pt x="2090405" y="730555"/>
                </a:lnTo>
                <a:lnTo>
                  <a:pt x="2075911" y="688176"/>
                </a:lnTo>
                <a:lnTo>
                  <a:pt x="2059485" y="646315"/>
                </a:lnTo>
                <a:lnTo>
                  <a:pt x="2041126" y="605035"/>
                </a:lnTo>
                <a:lnTo>
                  <a:pt x="2020834" y="564402"/>
                </a:lnTo>
                <a:lnTo>
                  <a:pt x="1998611" y="524481"/>
                </a:lnTo>
                <a:lnTo>
                  <a:pt x="1974454" y="485336"/>
                </a:lnTo>
                <a:lnTo>
                  <a:pt x="1948365" y="447031"/>
                </a:lnTo>
                <a:lnTo>
                  <a:pt x="1920344" y="409632"/>
                </a:lnTo>
                <a:lnTo>
                  <a:pt x="1890390" y="373203"/>
                </a:lnTo>
                <a:lnTo>
                  <a:pt x="1858504" y="337808"/>
                </a:lnTo>
                <a:lnTo>
                  <a:pt x="1824685" y="303513"/>
                </a:lnTo>
                <a:lnTo>
                  <a:pt x="1789310" y="270726"/>
                </a:lnTo>
                <a:lnTo>
                  <a:pt x="1752802" y="239813"/>
                </a:lnTo>
                <a:lnTo>
                  <a:pt x="1715226" y="210773"/>
                </a:lnTo>
                <a:lnTo>
                  <a:pt x="1676650" y="183607"/>
                </a:lnTo>
                <a:lnTo>
                  <a:pt x="1637140" y="158314"/>
                </a:lnTo>
                <a:lnTo>
                  <a:pt x="1596762" y="134895"/>
                </a:lnTo>
                <a:lnTo>
                  <a:pt x="1555585" y="113349"/>
                </a:lnTo>
                <a:lnTo>
                  <a:pt x="1513673" y="93677"/>
                </a:lnTo>
                <a:lnTo>
                  <a:pt x="1471094" y="75878"/>
                </a:lnTo>
                <a:lnTo>
                  <a:pt x="1427915" y="59953"/>
                </a:lnTo>
                <a:lnTo>
                  <a:pt x="1384203" y="45901"/>
                </a:lnTo>
                <a:lnTo>
                  <a:pt x="1340023" y="33723"/>
                </a:lnTo>
                <a:lnTo>
                  <a:pt x="1295443" y="23419"/>
                </a:lnTo>
                <a:lnTo>
                  <a:pt x="1250530" y="14988"/>
                </a:lnTo>
                <a:lnTo>
                  <a:pt x="1205350" y="8430"/>
                </a:lnTo>
                <a:lnTo>
                  <a:pt x="1159969" y="3747"/>
                </a:lnTo>
                <a:lnTo>
                  <a:pt x="1114456" y="936"/>
                </a:lnTo>
                <a:lnTo>
                  <a:pt x="1068875" y="0"/>
                </a:lnTo>
                <a:close/>
              </a:path>
            </a:pathLst>
          </a:custGeom>
          <a:solidFill>
            <a:srgbClr val="E23F2A"/>
          </a:solidFill>
        </p:spPr>
        <p:txBody>
          <a:bodyPr wrap="square" lIns="0" tIns="0" rIns="0" bIns="0" rtlCol="0"/>
          <a:lstStyle/>
          <a:p>
            <a:endParaRPr sz="637"/>
          </a:p>
        </p:txBody>
      </p:sp>
      <p:sp>
        <p:nvSpPr>
          <p:cNvPr id="21" name="object 21"/>
          <p:cNvSpPr txBox="1"/>
          <p:nvPr/>
        </p:nvSpPr>
        <p:spPr>
          <a:xfrm>
            <a:off x="5319670" y="3673849"/>
            <a:ext cx="743078" cy="419978"/>
          </a:xfrm>
          <a:prstGeom prst="rect">
            <a:avLst/>
          </a:prstGeom>
        </p:spPr>
        <p:txBody>
          <a:bodyPr vert="horz" wrap="square" lIns="0" tIns="5198" rIns="0" bIns="0" rtlCol="0">
            <a:spAutoFit/>
          </a:bodyPr>
          <a:lstStyle/>
          <a:p>
            <a:pPr marL="5776" marR="2310" indent="182809">
              <a:lnSpc>
                <a:spcPct val="113599"/>
              </a:lnSpc>
              <a:spcBef>
                <a:spcPts val="41"/>
              </a:spcBef>
            </a:pPr>
            <a:r>
              <a:rPr sz="1182" spc="-9" dirty="0">
                <a:solidFill>
                  <a:srgbClr val="FFFFFF"/>
                </a:solidFill>
                <a:latin typeface="Courier New"/>
                <a:cs typeface="Courier New"/>
              </a:rPr>
              <a:t>Loss </a:t>
            </a:r>
            <a:r>
              <a:rPr sz="1182" spc="-5" dirty="0">
                <a:solidFill>
                  <a:srgbClr val="FFFFFF"/>
                </a:solidFill>
                <a:latin typeface="Courier New"/>
                <a:cs typeface="Courier New"/>
              </a:rPr>
              <a:t>Function</a:t>
            </a:r>
            <a:endParaRPr sz="1182">
              <a:latin typeface="Courier New"/>
              <a:cs typeface="Courier New"/>
            </a:endParaRPr>
          </a:p>
        </p:txBody>
      </p:sp>
      <p:grpSp>
        <p:nvGrpSpPr>
          <p:cNvPr id="22" name="object 22"/>
          <p:cNvGrpSpPr/>
          <p:nvPr/>
        </p:nvGrpSpPr>
        <p:grpSpPr>
          <a:xfrm>
            <a:off x="5668332" y="2896519"/>
            <a:ext cx="45919" cy="414426"/>
            <a:chOff x="12462626" y="6368766"/>
            <a:chExt cx="100965" cy="911225"/>
          </a:xfrm>
        </p:grpSpPr>
        <p:sp>
          <p:nvSpPr>
            <p:cNvPr id="23" name="object 23"/>
            <p:cNvSpPr/>
            <p:nvPr/>
          </p:nvSpPr>
          <p:spPr>
            <a:xfrm>
              <a:off x="12512886" y="6368766"/>
              <a:ext cx="0" cy="821055"/>
            </a:xfrm>
            <a:custGeom>
              <a:avLst/>
              <a:gdLst/>
              <a:ahLst/>
              <a:cxnLst/>
              <a:rect l="l" t="t" r="r" b="b"/>
              <a:pathLst>
                <a:path h="821054">
                  <a:moveTo>
                    <a:pt x="0" y="0"/>
                  </a:moveTo>
                  <a:lnTo>
                    <a:pt x="0" y="810446"/>
                  </a:lnTo>
                  <a:lnTo>
                    <a:pt x="0" y="820917"/>
                  </a:lnTo>
                </a:path>
              </a:pathLst>
            </a:custGeom>
            <a:ln w="20941">
              <a:solidFill>
                <a:srgbClr val="000000"/>
              </a:solidFill>
            </a:ln>
          </p:spPr>
          <p:txBody>
            <a:bodyPr wrap="square" lIns="0" tIns="0" rIns="0" bIns="0" rtlCol="0"/>
            <a:lstStyle/>
            <a:p>
              <a:endParaRPr sz="637"/>
            </a:p>
          </p:txBody>
        </p:sp>
        <p:sp>
          <p:nvSpPr>
            <p:cNvPr id="24" name="object 24"/>
            <p:cNvSpPr/>
            <p:nvPr/>
          </p:nvSpPr>
          <p:spPr>
            <a:xfrm>
              <a:off x="12462626" y="7179212"/>
              <a:ext cx="100965" cy="100965"/>
            </a:xfrm>
            <a:custGeom>
              <a:avLst/>
              <a:gdLst/>
              <a:ahLst/>
              <a:cxnLst/>
              <a:rect l="l" t="t" r="r" b="b"/>
              <a:pathLst>
                <a:path w="100965" h="100965">
                  <a:moveTo>
                    <a:pt x="100520" y="0"/>
                  </a:moveTo>
                  <a:lnTo>
                    <a:pt x="0" y="0"/>
                  </a:lnTo>
                  <a:lnTo>
                    <a:pt x="50260" y="100520"/>
                  </a:lnTo>
                  <a:lnTo>
                    <a:pt x="100520" y="0"/>
                  </a:lnTo>
                  <a:close/>
                </a:path>
              </a:pathLst>
            </a:custGeom>
            <a:solidFill>
              <a:srgbClr val="000000"/>
            </a:solidFill>
          </p:spPr>
          <p:txBody>
            <a:bodyPr wrap="square" lIns="0" tIns="0" rIns="0" bIns="0" rtlCol="0"/>
            <a:lstStyle/>
            <a:p>
              <a:endParaRPr sz="637"/>
            </a:p>
          </p:txBody>
        </p:sp>
      </p:grpSp>
      <p:grpSp>
        <p:nvGrpSpPr>
          <p:cNvPr id="25" name="object 25"/>
          <p:cNvGrpSpPr/>
          <p:nvPr/>
        </p:nvGrpSpPr>
        <p:grpSpPr>
          <a:xfrm>
            <a:off x="6349459" y="3874534"/>
            <a:ext cx="734703" cy="45919"/>
            <a:chOff x="13960265" y="8519190"/>
            <a:chExt cx="1615440" cy="100965"/>
          </a:xfrm>
        </p:grpSpPr>
        <p:sp>
          <p:nvSpPr>
            <p:cNvPr id="26" name="object 26"/>
            <p:cNvSpPr/>
            <p:nvPr/>
          </p:nvSpPr>
          <p:spPr>
            <a:xfrm>
              <a:off x="13960265" y="8569450"/>
              <a:ext cx="1525905" cy="0"/>
            </a:xfrm>
            <a:custGeom>
              <a:avLst/>
              <a:gdLst/>
              <a:ahLst/>
              <a:cxnLst/>
              <a:rect l="l" t="t" r="r" b="b"/>
              <a:pathLst>
                <a:path w="1525905">
                  <a:moveTo>
                    <a:pt x="0" y="0"/>
                  </a:moveTo>
                  <a:lnTo>
                    <a:pt x="1514909" y="0"/>
                  </a:lnTo>
                  <a:lnTo>
                    <a:pt x="1525380" y="0"/>
                  </a:lnTo>
                </a:path>
              </a:pathLst>
            </a:custGeom>
            <a:ln w="20941">
              <a:solidFill>
                <a:srgbClr val="000000"/>
              </a:solidFill>
            </a:ln>
          </p:spPr>
          <p:txBody>
            <a:bodyPr wrap="square" lIns="0" tIns="0" rIns="0" bIns="0" rtlCol="0"/>
            <a:lstStyle/>
            <a:p>
              <a:endParaRPr sz="637"/>
            </a:p>
          </p:txBody>
        </p:sp>
        <p:sp>
          <p:nvSpPr>
            <p:cNvPr id="27" name="object 27"/>
            <p:cNvSpPr/>
            <p:nvPr/>
          </p:nvSpPr>
          <p:spPr>
            <a:xfrm>
              <a:off x="15475182" y="8519190"/>
              <a:ext cx="100965" cy="100965"/>
            </a:xfrm>
            <a:custGeom>
              <a:avLst/>
              <a:gdLst/>
              <a:ahLst/>
              <a:cxnLst/>
              <a:rect l="l" t="t" r="r" b="b"/>
              <a:pathLst>
                <a:path w="100965" h="100965">
                  <a:moveTo>
                    <a:pt x="0" y="0"/>
                  </a:moveTo>
                  <a:lnTo>
                    <a:pt x="0" y="100520"/>
                  </a:lnTo>
                  <a:lnTo>
                    <a:pt x="100520" y="50260"/>
                  </a:lnTo>
                  <a:lnTo>
                    <a:pt x="0" y="0"/>
                  </a:lnTo>
                  <a:close/>
                </a:path>
              </a:pathLst>
            </a:custGeom>
            <a:solidFill>
              <a:srgbClr val="000000"/>
            </a:solidFill>
          </p:spPr>
          <p:txBody>
            <a:bodyPr wrap="square" lIns="0" tIns="0" rIns="0" bIns="0" rtlCol="0"/>
            <a:lstStyle/>
            <a:p>
              <a:endParaRPr sz="637"/>
            </a:p>
          </p:txBody>
        </p:sp>
      </p:grpSp>
      <p:sp>
        <p:nvSpPr>
          <p:cNvPr id="28" name="object 28"/>
          <p:cNvSpPr/>
          <p:nvPr/>
        </p:nvSpPr>
        <p:spPr>
          <a:xfrm>
            <a:off x="7256305" y="3659283"/>
            <a:ext cx="1128624" cy="476229"/>
          </a:xfrm>
          <a:custGeom>
            <a:avLst/>
            <a:gdLst/>
            <a:ahLst/>
            <a:cxnLst/>
            <a:rect l="l" t="t" r="r" b="b"/>
            <a:pathLst>
              <a:path w="2481580" h="1047115">
                <a:moveTo>
                  <a:pt x="2241073" y="0"/>
                </a:moveTo>
                <a:lnTo>
                  <a:pt x="240097" y="0"/>
                </a:lnTo>
                <a:lnTo>
                  <a:pt x="192318" y="183"/>
                </a:lnTo>
                <a:lnTo>
                  <a:pt x="153788" y="1470"/>
                </a:lnTo>
                <a:lnTo>
                  <a:pt x="99190" y="11766"/>
                </a:lnTo>
                <a:lnTo>
                  <a:pt x="45789" y="45785"/>
                </a:lnTo>
                <a:lnTo>
                  <a:pt x="11769" y="99184"/>
                </a:lnTo>
                <a:lnTo>
                  <a:pt x="1471" y="153788"/>
                </a:lnTo>
                <a:lnTo>
                  <a:pt x="183" y="192319"/>
                </a:lnTo>
                <a:lnTo>
                  <a:pt x="0" y="240097"/>
                </a:lnTo>
                <a:lnTo>
                  <a:pt x="0" y="806991"/>
                </a:lnTo>
                <a:lnTo>
                  <a:pt x="183" y="854769"/>
                </a:lnTo>
                <a:lnTo>
                  <a:pt x="1471" y="893300"/>
                </a:lnTo>
                <a:lnTo>
                  <a:pt x="11769" y="947904"/>
                </a:lnTo>
                <a:lnTo>
                  <a:pt x="45789" y="1001303"/>
                </a:lnTo>
                <a:lnTo>
                  <a:pt x="99190" y="1035322"/>
                </a:lnTo>
                <a:lnTo>
                  <a:pt x="153788" y="1045617"/>
                </a:lnTo>
                <a:lnTo>
                  <a:pt x="192318" y="1046904"/>
                </a:lnTo>
                <a:lnTo>
                  <a:pt x="240097" y="1047088"/>
                </a:lnTo>
                <a:lnTo>
                  <a:pt x="2241073" y="1047088"/>
                </a:lnTo>
                <a:lnTo>
                  <a:pt x="2288852" y="1046904"/>
                </a:lnTo>
                <a:lnTo>
                  <a:pt x="2327383" y="1045617"/>
                </a:lnTo>
                <a:lnTo>
                  <a:pt x="2381990" y="1035322"/>
                </a:lnTo>
                <a:lnTo>
                  <a:pt x="2435386" y="1001303"/>
                </a:lnTo>
                <a:lnTo>
                  <a:pt x="2469401" y="947904"/>
                </a:lnTo>
                <a:lnTo>
                  <a:pt x="2479699" y="893300"/>
                </a:lnTo>
                <a:lnTo>
                  <a:pt x="2480986" y="854769"/>
                </a:lnTo>
                <a:lnTo>
                  <a:pt x="2481170" y="806991"/>
                </a:lnTo>
                <a:lnTo>
                  <a:pt x="2481170" y="240097"/>
                </a:lnTo>
                <a:lnTo>
                  <a:pt x="2480986" y="192319"/>
                </a:lnTo>
                <a:lnTo>
                  <a:pt x="2479699" y="153788"/>
                </a:lnTo>
                <a:lnTo>
                  <a:pt x="2469401" y="99184"/>
                </a:lnTo>
                <a:lnTo>
                  <a:pt x="2435386" y="45785"/>
                </a:lnTo>
                <a:lnTo>
                  <a:pt x="2381990" y="11766"/>
                </a:lnTo>
                <a:lnTo>
                  <a:pt x="2327383" y="1470"/>
                </a:lnTo>
                <a:lnTo>
                  <a:pt x="2288852" y="183"/>
                </a:lnTo>
                <a:lnTo>
                  <a:pt x="2241073" y="0"/>
                </a:lnTo>
                <a:close/>
              </a:path>
            </a:pathLst>
          </a:custGeom>
          <a:solidFill>
            <a:srgbClr val="929292"/>
          </a:solidFill>
        </p:spPr>
        <p:txBody>
          <a:bodyPr wrap="square" lIns="0" tIns="0" rIns="0" bIns="0" rtlCol="0"/>
          <a:lstStyle/>
          <a:p>
            <a:endParaRPr sz="637"/>
          </a:p>
        </p:txBody>
      </p:sp>
      <p:sp>
        <p:nvSpPr>
          <p:cNvPr id="29" name="object 29"/>
          <p:cNvSpPr txBox="1"/>
          <p:nvPr/>
        </p:nvSpPr>
        <p:spPr>
          <a:xfrm>
            <a:off x="7631902" y="3795896"/>
            <a:ext cx="377459" cy="189783"/>
          </a:xfrm>
          <a:prstGeom prst="rect">
            <a:avLst/>
          </a:prstGeom>
        </p:spPr>
        <p:txBody>
          <a:bodyPr vert="horz" wrap="square" lIns="0" tIns="7798" rIns="0" bIns="0" rtlCol="0">
            <a:spAutoFit/>
          </a:bodyPr>
          <a:lstStyle/>
          <a:p>
            <a:pPr marL="5776">
              <a:spcBef>
                <a:spcPts val="61"/>
              </a:spcBef>
            </a:pPr>
            <a:r>
              <a:rPr sz="1182" spc="-9" dirty="0">
                <a:solidFill>
                  <a:srgbClr val="FFFFFF"/>
                </a:solidFill>
                <a:latin typeface="Courier New"/>
                <a:cs typeface="Courier New"/>
              </a:rPr>
              <a:t>Loss</a:t>
            </a:r>
            <a:endParaRPr sz="1182">
              <a:latin typeface="Courier New"/>
              <a:cs typeface="Courier New"/>
            </a:endParaRPr>
          </a:p>
        </p:txBody>
      </p:sp>
      <p:grpSp>
        <p:nvGrpSpPr>
          <p:cNvPr id="30" name="object 30"/>
          <p:cNvGrpSpPr/>
          <p:nvPr/>
        </p:nvGrpSpPr>
        <p:grpSpPr>
          <a:xfrm>
            <a:off x="3340300" y="1074019"/>
            <a:ext cx="4476664" cy="2432260"/>
            <a:chOff x="7343830" y="2361515"/>
            <a:chExt cx="9843135" cy="5347970"/>
          </a:xfrm>
        </p:grpSpPr>
        <p:sp>
          <p:nvSpPr>
            <p:cNvPr id="31" name="object 31"/>
            <p:cNvSpPr/>
            <p:nvPr/>
          </p:nvSpPr>
          <p:spPr>
            <a:xfrm>
              <a:off x="17173382" y="2883624"/>
              <a:ext cx="0" cy="4826000"/>
            </a:xfrm>
            <a:custGeom>
              <a:avLst/>
              <a:gdLst/>
              <a:ahLst/>
              <a:cxnLst/>
              <a:rect l="l" t="t" r="r" b="b"/>
              <a:pathLst>
                <a:path h="4826000">
                  <a:moveTo>
                    <a:pt x="0" y="4825475"/>
                  </a:moveTo>
                  <a:lnTo>
                    <a:pt x="0" y="0"/>
                  </a:lnTo>
                </a:path>
              </a:pathLst>
            </a:custGeom>
            <a:ln w="20941">
              <a:solidFill>
                <a:srgbClr val="000000"/>
              </a:solidFill>
            </a:ln>
          </p:spPr>
          <p:txBody>
            <a:bodyPr wrap="square" lIns="0" tIns="0" rIns="0" bIns="0" rtlCol="0"/>
            <a:lstStyle/>
            <a:p>
              <a:endParaRPr sz="637"/>
            </a:p>
          </p:txBody>
        </p:sp>
        <p:sp>
          <p:nvSpPr>
            <p:cNvPr id="32" name="object 32"/>
            <p:cNvSpPr/>
            <p:nvPr/>
          </p:nvSpPr>
          <p:spPr>
            <a:xfrm>
              <a:off x="7403754" y="2885059"/>
              <a:ext cx="9783445" cy="0"/>
            </a:xfrm>
            <a:custGeom>
              <a:avLst/>
              <a:gdLst/>
              <a:ahLst/>
              <a:cxnLst/>
              <a:rect l="l" t="t" r="r" b="b"/>
              <a:pathLst>
                <a:path w="9783444">
                  <a:moveTo>
                    <a:pt x="0" y="0"/>
                  </a:moveTo>
                  <a:lnTo>
                    <a:pt x="9782875" y="0"/>
                  </a:lnTo>
                </a:path>
              </a:pathLst>
            </a:custGeom>
            <a:ln w="20941">
              <a:solidFill>
                <a:srgbClr val="000000"/>
              </a:solidFill>
            </a:ln>
          </p:spPr>
          <p:txBody>
            <a:bodyPr wrap="square" lIns="0" tIns="0" rIns="0" bIns="0" rtlCol="0"/>
            <a:lstStyle/>
            <a:p>
              <a:endParaRPr sz="637"/>
            </a:p>
          </p:txBody>
        </p:sp>
        <p:sp>
          <p:nvSpPr>
            <p:cNvPr id="33" name="object 33"/>
            <p:cNvSpPr/>
            <p:nvPr/>
          </p:nvSpPr>
          <p:spPr>
            <a:xfrm>
              <a:off x="7394091" y="2873660"/>
              <a:ext cx="0" cy="1376045"/>
            </a:xfrm>
            <a:custGeom>
              <a:avLst/>
              <a:gdLst/>
              <a:ahLst/>
              <a:cxnLst/>
              <a:rect l="l" t="t" r="r" b="b"/>
              <a:pathLst>
                <a:path h="1376045">
                  <a:moveTo>
                    <a:pt x="0" y="0"/>
                  </a:moveTo>
                  <a:lnTo>
                    <a:pt x="0" y="1365403"/>
                  </a:lnTo>
                  <a:lnTo>
                    <a:pt x="0" y="1375874"/>
                  </a:lnTo>
                </a:path>
              </a:pathLst>
            </a:custGeom>
            <a:ln w="20941">
              <a:solidFill>
                <a:srgbClr val="000000"/>
              </a:solidFill>
            </a:ln>
          </p:spPr>
          <p:txBody>
            <a:bodyPr wrap="square" lIns="0" tIns="0" rIns="0" bIns="0" rtlCol="0"/>
            <a:lstStyle/>
            <a:p>
              <a:endParaRPr sz="637"/>
            </a:p>
          </p:txBody>
        </p:sp>
        <p:sp>
          <p:nvSpPr>
            <p:cNvPr id="34" name="object 34"/>
            <p:cNvSpPr/>
            <p:nvPr/>
          </p:nvSpPr>
          <p:spPr>
            <a:xfrm>
              <a:off x="7343830" y="4239063"/>
              <a:ext cx="100965" cy="100965"/>
            </a:xfrm>
            <a:custGeom>
              <a:avLst/>
              <a:gdLst/>
              <a:ahLst/>
              <a:cxnLst/>
              <a:rect l="l" t="t" r="r" b="b"/>
              <a:pathLst>
                <a:path w="100965" h="100964">
                  <a:moveTo>
                    <a:pt x="100520" y="0"/>
                  </a:moveTo>
                  <a:lnTo>
                    <a:pt x="0" y="0"/>
                  </a:lnTo>
                  <a:lnTo>
                    <a:pt x="50260" y="100520"/>
                  </a:lnTo>
                  <a:lnTo>
                    <a:pt x="100520" y="0"/>
                  </a:lnTo>
                  <a:close/>
                </a:path>
              </a:pathLst>
            </a:custGeom>
            <a:solidFill>
              <a:srgbClr val="000000"/>
            </a:solidFill>
          </p:spPr>
          <p:txBody>
            <a:bodyPr wrap="square" lIns="0" tIns="0" rIns="0" bIns="0" rtlCol="0"/>
            <a:lstStyle/>
            <a:p>
              <a:endParaRPr sz="637"/>
            </a:p>
          </p:txBody>
        </p:sp>
        <p:sp>
          <p:nvSpPr>
            <p:cNvPr id="35" name="object 35"/>
            <p:cNvSpPr/>
            <p:nvPr/>
          </p:nvSpPr>
          <p:spPr>
            <a:xfrm>
              <a:off x="11515429" y="2361515"/>
              <a:ext cx="4317365" cy="1047115"/>
            </a:xfrm>
            <a:custGeom>
              <a:avLst/>
              <a:gdLst/>
              <a:ahLst/>
              <a:cxnLst/>
              <a:rect l="l" t="t" r="r" b="b"/>
              <a:pathLst>
                <a:path w="4317365" h="1047114">
                  <a:moveTo>
                    <a:pt x="4076922" y="0"/>
                  </a:moveTo>
                  <a:lnTo>
                    <a:pt x="240097" y="0"/>
                  </a:lnTo>
                  <a:lnTo>
                    <a:pt x="192318" y="183"/>
                  </a:lnTo>
                  <a:lnTo>
                    <a:pt x="153787" y="1470"/>
                  </a:lnTo>
                  <a:lnTo>
                    <a:pt x="99180" y="11765"/>
                  </a:lnTo>
                  <a:lnTo>
                    <a:pt x="45778" y="45784"/>
                  </a:lnTo>
                  <a:lnTo>
                    <a:pt x="11758" y="99184"/>
                  </a:lnTo>
                  <a:lnTo>
                    <a:pt x="1469" y="153787"/>
                  </a:lnTo>
                  <a:lnTo>
                    <a:pt x="183" y="192318"/>
                  </a:lnTo>
                  <a:lnTo>
                    <a:pt x="0" y="240096"/>
                  </a:lnTo>
                  <a:lnTo>
                    <a:pt x="0" y="806991"/>
                  </a:lnTo>
                  <a:lnTo>
                    <a:pt x="183" y="854769"/>
                  </a:lnTo>
                  <a:lnTo>
                    <a:pt x="1469" y="893299"/>
                  </a:lnTo>
                  <a:lnTo>
                    <a:pt x="11758" y="947903"/>
                  </a:lnTo>
                  <a:lnTo>
                    <a:pt x="45778" y="1001303"/>
                  </a:lnTo>
                  <a:lnTo>
                    <a:pt x="99180" y="1035322"/>
                  </a:lnTo>
                  <a:lnTo>
                    <a:pt x="153787" y="1045617"/>
                  </a:lnTo>
                  <a:lnTo>
                    <a:pt x="192318" y="1046904"/>
                  </a:lnTo>
                  <a:lnTo>
                    <a:pt x="240097" y="1047088"/>
                  </a:lnTo>
                  <a:lnTo>
                    <a:pt x="4076922" y="1047088"/>
                  </a:lnTo>
                  <a:lnTo>
                    <a:pt x="4124701" y="1046904"/>
                  </a:lnTo>
                  <a:lnTo>
                    <a:pt x="4163231" y="1045617"/>
                  </a:lnTo>
                  <a:lnTo>
                    <a:pt x="4217829" y="1035322"/>
                  </a:lnTo>
                  <a:lnTo>
                    <a:pt x="4271235" y="1001303"/>
                  </a:lnTo>
                  <a:lnTo>
                    <a:pt x="4305251" y="947903"/>
                  </a:lnTo>
                  <a:lnTo>
                    <a:pt x="4315549" y="893299"/>
                  </a:lnTo>
                  <a:lnTo>
                    <a:pt x="4316836" y="854769"/>
                  </a:lnTo>
                  <a:lnTo>
                    <a:pt x="4317020" y="806991"/>
                  </a:lnTo>
                  <a:lnTo>
                    <a:pt x="4317020" y="240096"/>
                  </a:lnTo>
                  <a:lnTo>
                    <a:pt x="4316836" y="192318"/>
                  </a:lnTo>
                  <a:lnTo>
                    <a:pt x="4315549" y="153787"/>
                  </a:lnTo>
                  <a:lnTo>
                    <a:pt x="4305251" y="99184"/>
                  </a:lnTo>
                  <a:lnTo>
                    <a:pt x="4271235" y="45784"/>
                  </a:lnTo>
                  <a:lnTo>
                    <a:pt x="4217829" y="11765"/>
                  </a:lnTo>
                  <a:lnTo>
                    <a:pt x="4163231" y="1470"/>
                  </a:lnTo>
                  <a:lnTo>
                    <a:pt x="4124701" y="183"/>
                  </a:lnTo>
                  <a:lnTo>
                    <a:pt x="4076922" y="0"/>
                  </a:lnTo>
                  <a:close/>
                </a:path>
              </a:pathLst>
            </a:custGeom>
            <a:solidFill>
              <a:srgbClr val="3C7DEC"/>
            </a:solidFill>
          </p:spPr>
          <p:txBody>
            <a:bodyPr wrap="square" lIns="0" tIns="0" rIns="0" bIns="0" rtlCol="0"/>
            <a:lstStyle/>
            <a:p>
              <a:endParaRPr sz="637"/>
            </a:p>
          </p:txBody>
        </p:sp>
      </p:grpSp>
      <p:sp>
        <p:nvSpPr>
          <p:cNvPr id="36" name="object 36"/>
          <p:cNvSpPr txBox="1"/>
          <p:nvPr/>
        </p:nvSpPr>
        <p:spPr>
          <a:xfrm>
            <a:off x="5436262" y="1210631"/>
            <a:ext cx="1566153" cy="189783"/>
          </a:xfrm>
          <a:prstGeom prst="rect">
            <a:avLst/>
          </a:prstGeom>
        </p:spPr>
        <p:txBody>
          <a:bodyPr vert="horz" wrap="square" lIns="0" tIns="7798" rIns="0" bIns="0" rtlCol="0">
            <a:spAutoFit/>
          </a:bodyPr>
          <a:lstStyle/>
          <a:p>
            <a:pPr marL="5776">
              <a:spcBef>
                <a:spcPts val="61"/>
              </a:spcBef>
            </a:pPr>
            <a:r>
              <a:rPr sz="1182" dirty="0">
                <a:solidFill>
                  <a:srgbClr val="FFFFFF"/>
                </a:solidFill>
                <a:latin typeface="Courier New"/>
                <a:cs typeface="Courier New"/>
              </a:rPr>
              <a:t>Optimization</a:t>
            </a:r>
            <a:r>
              <a:rPr sz="1182" spc="93" dirty="0">
                <a:solidFill>
                  <a:srgbClr val="FFFFFF"/>
                </a:solidFill>
                <a:latin typeface="Courier New"/>
                <a:cs typeface="Courier New"/>
              </a:rPr>
              <a:t> </a:t>
            </a:r>
            <a:r>
              <a:rPr sz="1182" spc="-9" dirty="0">
                <a:solidFill>
                  <a:srgbClr val="FFFFFF"/>
                </a:solidFill>
                <a:latin typeface="Courier New"/>
                <a:cs typeface="Courier New"/>
              </a:rPr>
              <a:t>Algo</a:t>
            </a:r>
            <a:endParaRPr sz="1182">
              <a:latin typeface="Courier New"/>
              <a:cs typeface="Courier New"/>
            </a:endParaRPr>
          </a:p>
        </p:txBody>
      </p:sp>
      <p:sp>
        <p:nvSpPr>
          <p:cNvPr id="37" name="object 37"/>
          <p:cNvSpPr txBox="1"/>
          <p:nvPr/>
        </p:nvSpPr>
        <p:spPr>
          <a:xfrm>
            <a:off x="1698392" y="2328247"/>
            <a:ext cx="354644" cy="143803"/>
          </a:xfrm>
          <a:prstGeom prst="rect">
            <a:avLst/>
          </a:prstGeom>
        </p:spPr>
        <p:txBody>
          <a:bodyPr vert="horz" wrap="square" lIns="0" tIns="7220" rIns="0" bIns="0" rtlCol="0">
            <a:spAutoFit/>
          </a:bodyPr>
          <a:lstStyle/>
          <a:p>
            <a:pPr marL="5776">
              <a:spcBef>
                <a:spcPts val="57"/>
              </a:spcBef>
            </a:pPr>
            <a:r>
              <a:rPr sz="887" spc="-5" dirty="0">
                <a:latin typeface="Courier New"/>
                <a:cs typeface="Courier New"/>
              </a:rPr>
              <a:t>input</a:t>
            </a:r>
            <a:endParaRPr sz="887">
              <a:latin typeface="Courier New"/>
              <a:cs typeface="Courier New"/>
            </a:endParaRPr>
          </a:p>
        </p:txBody>
      </p:sp>
      <p:sp>
        <p:nvSpPr>
          <p:cNvPr id="38" name="object 38"/>
          <p:cNvSpPr txBox="1"/>
          <p:nvPr/>
        </p:nvSpPr>
        <p:spPr>
          <a:xfrm>
            <a:off x="3284185" y="3678131"/>
            <a:ext cx="1040252" cy="143803"/>
          </a:xfrm>
          <a:prstGeom prst="rect">
            <a:avLst/>
          </a:prstGeom>
        </p:spPr>
        <p:txBody>
          <a:bodyPr vert="horz" wrap="square" lIns="0" tIns="7220" rIns="0" bIns="0" rtlCol="0">
            <a:spAutoFit/>
          </a:bodyPr>
          <a:lstStyle/>
          <a:p>
            <a:pPr marL="5776">
              <a:spcBef>
                <a:spcPts val="57"/>
              </a:spcBef>
            </a:pPr>
            <a:r>
              <a:rPr sz="887" dirty="0">
                <a:latin typeface="Courier New"/>
                <a:cs typeface="Courier New"/>
              </a:rPr>
              <a:t>expected</a:t>
            </a:r>
            <a:r>
              <a:rPr sz="887" spc="48" dirty="0">
                <a:latin typeface="Courier New"/>
                <a:cs typeface="Courier New"/>
              </a:rPr>
              <a:t> </a:t>
            </a:r>
            <a:r>
              <a:rPr sz="887" spc="-5" dirty="0">
                <a:latin typeface="Courier New"/>
                <a:cs typeface="Courier New"/>
              </a:rPr>
              <a:t>output</a:t>
            </a:r>
            <a:endParaRPr sz="887">
              <a:latin typeface="Courier New"/>
              <a:cs typeface="Courier New"/>
            </a:endParaRPr>
          </a:p>
        </p:txBody>
      </p:sp>
      <p:sp>
        <p:nvSpPr>
          <p:cNvPr id="39" name="Title 38"/>
          <p:cNvSpPr>
            <a:spLocks noGrp="1"/>
          </p:cNvSpPr>
          <p:nvPr>
            <p:ph type="title"/>
          </p:nvPr>
        </p:nvSpPr>
        <p:spPr>
          <a:xfrm>
            <a:off x="64137" y="265405"/>
            <a:ext cx="8520600" cy="572700"/>
          </a:xfrm>
        </p:spPr>
        <p:txBody>
          <a:bodyPr>
            <a:normAutofit fontScale="90000"/>
          </a:bodyPr>
          <a:lstStyle/>
          <a:p>
            <a:r>
              <a:rPr lang="en-IN" dirty="0" smtClean="0"/>
              <a:t>Anatomy of Supervised Learning Algorithm</a:t>
            </a:r>
            <a:endParaRPr lang="en-IN" dirty="0"/>
          </a:p>
        </p:txBody>
      </p:sp>
      <p:sp>
        <p:nvSpPr>
          <p:cNvPr id="40" name="Footer Placeholder 39"/>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25848663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F6105-1C30-4FAB-A719-28BA210AD29A}"/>
              </a:ext>
            </a:extLst>
          </p:cNvPr>
          <p:cNvSpPr>
            <a:spLocks noGrp="1"/>
          </p:cNvSpPr>
          <p:nvPr>
            <p:ph type="title"/>
          </p:nvPr>
        </p:nvSpPr>
        <p:spPr/>
        <p:txBody>
          <a:bodyPr>
            <a:normAutofit fontScale="90000"/>
          </a:bodyPr>
          <a:lstStyle/>
          <a:p>
            <a:r>
              <a:rPr lang="en-US" dirty="0">
                <a:solidFill>
                  <a:srgbClr val="FF0000"/>
                </a:solidFill>
              </a:rPr>
              <a:t>Predictive AI </a:t>
            </a:r>
            <a:r>
              <a:rPr lang="en-US" dirty="0">
                <a:solidFill>
                  <a:schemeClr val="tx1"/>
                </a:solidFill>
              </a:rPr>
              <a:t>Vs</a:t>
            </a:r>
            <a:r>
              <a:rPr lang="en-US" dirty="0">
                <a:solidFill>
                  <a:srgbClr val="FF0000"/>
                </a:solidFill>
              </a:rPr>
              <a:t> Generative AI</a:t>
            </a:r>
            <a:endParaRPr lang="en-IN" dirty="0">
              <a:solidFill>
                <a:srgbClr val="FF0000"/>
              </a:solidFill>
            </a:endParaRPr>
          </a:p>
        </p:txBody>
      </p:sp>
      <p:sp>
        <p:nvSpPr>
          <p:cNvPr id="6" name="Content Placeholder 5">
            <a:extLst>
              <a:ext uri="{FF2B5EF4-FFF2-40B4-BE49-F238E27FC236}">
                <a16:creationId xmlns:a16="http://schemas.microsoft.com/office/drawing/2014/main" id="{BD6D9932-4892-4107-812F-DCCB2CE9C8BD}"/>
              </a:ext>
            </a:extLst>
          </p:cNvPr>
          <p:cNvSpPr>
            <a:spLocks noGrp="1"/>
          </p:cNvSpPr>
          <p:nvPr>
            <p:ph sz="quarter" idx="1"/>
          </p:nvPr>
        </p:nvSpPr>
        <p:spPr>
          <a:xfrm>
            <a:off x="1369314" y="1145286"/>
            <a:ext cx="6377940" cy="3429000"/>
          </a:xfrm>
        </p:spPr>
        <p:txBody>
          <a:bodyPr/>
          <a:lstStyle/>
          <a:p>
            <a:r>
              <a:rPr lang="en-US" dirty="0"/>
              <a:t>Predictive AI uses statistical algorithms and Machine Learning to forecast trends, behavior, patterns, and predictions from large data sources.</a:t>
            </a:r>
            <a:endParaRPr lang="en-IN" dirty="0"/>
          </a:p>
        </p:txBody>
      </p:sp>
      <p:pic>
        <p:nvPicPr>
          <p:cNvPr id="10" name="Picture 9">
            <a:extLst>
              <a:ext uri="{FF2B5EF4-FFF2-40B4-BE49-F238E27FC236}">
                <a16:creationId xmlns:a16="http://schemas.microsoft.com/office/drawing/2014/main" id="{419BFFE4-21B1-4CF0-9F62-4ED98FA22B8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00251" y="2286001"/>
            <a:ext cx="4800600" cy="2288285"/>
          </a:xfrm>
          <a:prstGeom prst="rect">
            <a:avLst/>
          </a:prstGeom>
          <a:noFill/>
          <a:ln>
            <a:noFill/>
          </a:ln>
        </p:spPr>
      </p:pic>
      <p:sp>
        <p:nvSpPr>
          <p:cNvPr id="7" name="Footer Placeholder 6"/>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23798156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DED9B-AF6F-4262-BB76-57687572C512}"/>
              </a:ext>
            </a:extLst>
          </p:cNvPr>
          <p:cNvSpPr>
            <a:spLocks noGrp="1"/>
          </p:cNvSpPr>
          <p:nvPr>
            <p:ph type="title"/>
          </p:nvPr>
        </p:nvSpPr>
        <p:spPr/>
        <p:txBody>
          <a:bodyPr>
            <a:normAutofit fontScale="90000"/>
          </a:bodyPr>
          <a:lstStyle/>
          <a:p>
            <a:r>
              <a:rPr lang="en-IN" dirty="0">
                <a:solidFill>
                  <a:srgbClr val="FF0000"/>
                </a:solidFill>
              </a:rPr>
              <a:t>Generative AI</a:t>
            </a:r>
          </a:p>
        </p:txBody>
      </p:sp>
      <p:sp>
        <p:nvSpPr>
          <p:cNvPr id="4" name="Footer Placeholder 3">
            <a:extLst>
              <a:ext uri="{FF2B5EF4-FFF2-40B4-BE49-F238E27FC236}">
                <a16:creationId xmlns:a16="http://schemas.microsoft.com/office/drawing/2014/main" id="{DDC5AF86-08D0-4B70-A9B7-637E0EA44AC5}"/>
              </a:ext>
            </a:extLst>
          </p:cNvPr>
          <p:cNvSpPr>
            <a:spLocks noGrp="1"/>
          </p:cNvSpPr>
          <p:nvPr>
            <p:ph type="ftr" sz="quarter" idx="11"/>
          </p:nvPr>
        </p:nvSpPr>
        <p:spPr>
          <a:xfrm>
            <a:off x="1371600" y="4808136"/>
            <a:ext cx="3771900" cy="274320"/>
          </a:xfrm>
        </p:spPr>
        <p:txBody>
          <a:bodyPr/>
          <a:lstStyle/>
          <a:p>
            <a:r>
              <a:rPr lang="en-US" dirty="0" smtClean="0"/>
              <a:t>Introduction to ML</a:t>
            </a:r>
            <a:endParaRPr lang="en-US" dirty="0"/>
          </a:p>
        </p:txBody>
      </p:sp>
      <p:sp>
        <p:nvSpPr>
          <p:cNvPr id="6" name="Content Placeholder 5">
            <a:extLst>
              <a:ext uri="{FF2B5EF4-FFF2-40B4-BE49-F238E27FC236}">
                <a16:creationId xmlns:a16="http://schemas.microsoft.com/office/drawing/2014/main" id="{BAE48743-9FB2-48C7-B688-12543337D300}"/>
              </a:ext>
            </a:extLst>
          </p:cNvPr>
          <p:cNvSpPr>
            <a:spLocks noGrp="1"/>
          </p:cNvSpPr>
          <p:nvPr>
            <p:ph sz="quarter" idx="1"/>
          </p:nvPr>
        </p:nvSpPr>
        <p:spPr/>
        <p:txBody>
          <a:bodyPr/>
          <a:lstStyle/>
          <a:p>
            <a:r>
              <a:rPr lang="en-US" dirty="0"/>
              <a:t>Generative AI  is an advanced form of ML that generates new content from scratch. It takes raw data and creates something novel but also recognizable </a:t>
            </a:r>
            <a:endParaRPr lang="en-IN" dirty="0"/>
          </a:p>
        </p:txBody>
      </p:sp>
      <p:pic>
        <p:nvPicPr>
          <p:cNvPr id="7" name="Picture 6">
            <a:extLst>
              <a:ext uri="{FF2B5EF4-FFF2-40B4-BE49-F238E27FC236}">
                <a16:creationId xmlns:a16="http://schemas.microsoft.com/office/drawing/2014/main" id="{1C65FBF6-65E2-4EDF-84A0-6BFDE17485D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885950" y="2571751"/>
            <a:ext cx="5257800" cy="2047049"/>
          </a:xfrm>
          <a:prstGeom prst="rect">
            <a:avLst/>
          </a:prstGeom>
          <a:noFill/>
          <a:ln>
            <a:noFill/>
          </a:ln>
        </p:spPr>
      </p:pic>
    </p:spTree>
    <p:extLst>
      <p:ext uri="{BB962C8B-B14F-4D97-AF65-F5344CB8AC3E}">
        <p14:creationId xmlns:p14="http://schemas.microsoft.com/office/powerpoint/2010/main" val="1918294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7" name="Google Shape;127;p21"/>
          <p:cNvSpPr txBox="1"/>
          <p:nvPr/>
        </p:nvSpPr>
        <p:spPr>
          <a:xfrm>
            <a:off x="1565627" y="334825"/>
            <a:ext cx="65355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Times New Roman"/>
                <a:ea typeface="Times New Roman"/>
                <a:cs typeface="Times New Roman"/>
                <a:sym typeface="Times New Roman"/>
              </a:rPr>
              <a:t>Areas of AI and Some Dependencies</a:t>
            </a:r>
            <a:endParaRPr sz="3000">
              <a:solidFill>
                <a:schemeClr val="dk1"/>
              </a:solidFill>
              <a:latin typeface="Times New Roman"/>
              <a:ea typeface="Times New Roman"/>
              <a:cs typeface="Times New Roman"/>
              <a:sym typeface="Times New Roman"/>
            </a:endParaRPr>
          </a:p>
        </p:txBody>
      </p:sp>
      <p:sp>
        <p:nvSpPr>
          <p:cNvPr id="128" name="Google Shape;128;p21"/>
          <p:cNvSpPr txBox="1"/>
          <p:nvPr/>
        </p:nvSpPr>
        <p:spPr>
          <a:xfrm>
            <a:off x="1134791" y="1611925"/>
            <a:ext cx="1082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p:txBody>
      </p:sp>
      <p:sp>
        <p:nvSpPr>
          <p:cNvPr id="129" name="Google Shape;129;p21"/>
          <p:cNvSpPr txBox="1"/>
          <p:nvPr/>
        </p:nvSpPr>
        <p:spPr>
          <a:xfrm>
            <a:off x="1074466" y="1359513"/>
            <a:ext cx="12192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Search</a:t>
            </a:r>
            <a:endParaRPr/>
          </a:p>
        </p:txBody>
      </p:sp>
      <p:sp>
        <p:nvSpPr>
          <p:cNvPr id="130" name="Google Shape;130;p21"/>
          <p:cNvSpPr txBox="1"/>
          <p:nvPr/>
        </p:nvSpPr>
        <p:spPr>
          <a:xfrm>
            <a:off x="3055666" y="3874113"/>
            <a:ext cx="11430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Vision</a:t>
            </a:r>
            <a:endParaRPr/>
          </a:p>
        </p:txBody>
      </p:sp>
      <p:sp>
        <p:nvSpPr>
          <p:cNvPr id="131" name="Google Shape;131;p21"/>
          <p:cNvSpPr txBox="1"/>
          <p:nvPr/>
        </p:nvSpPr>
        <p:spPr>
          <a:xfrm>
            <a:off x="5036866" y="2559663"/>
            <a:ext cx="15240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Planning</a:t>
            </a:r>
            <a:endParaRPr/>
          </a:p>
        </p:txBody>
      </p:sp>
      <p:sp>
        <p:nvSpPr>
          <p:cNvPr id="132" name="Google Shape;132;p21"/>
          <p:cNvSpPr txBox="1"/>
          <p:nvPr/>
        </p:nvSpPr>
        <p:spPr>
          <a:xfrm>
            <a:off x="2446066" y="2388213"/>
            <a:ext cx="1524000" cy="954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rgbClr val="FF0000"/>
                </a:solidFill>
                <a:latin typeface="Times New Roman"/>
                <a:ea typeface="Times New Roman"/>
                <a:cs typeface="Times New Roman"/>
                <a:sym typeface="Times New Roman"/>
              </a:rPr>
              <a:t>Machine Learning</a:t>
            </a:r>
            <a:endParaRPr/>
          </a:p>
        </p:txBody>
      </p:sp>
      <p:sp>
        <p:nvSpPr>
          <p:cNvPr id="133" name="Google Shape;133;p21"/>
          <p:cNvSpPr txBox="1"/>
          <p:nvPr/>
        </p:nvSpPr>
        <p:spPr>
          <a:xfrm>
            <a:off x="5875066" y="1130913"/>
            <a:ext cx="2362200" cy="954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Knowledge Representation</a:t>
            </a:r>
            <a:endParaRPr/>
          </a:p>
        </p:txBody>
      </p:sp>
      <p:sp>
        <p:nvSpPr>
          <p:cNvPr id="134" name="Google Shape;134;p21"/>
          <p:cNvSpPr txBox="1"/>
          <p:nvPr/>
        </p:nvSpPr>
        <p:spPr>
          <a:xfrm>
            <a:off x="3665266" y="1359513"/>
            <a:ext cx="10668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Logic</a:t>
            </a:r>
            <a:endParaRPr/>
          </a:p>
        </p:txBody>
      </p:sp>
      <p:sp>
        <p:nvSpPr>
          <p:cNvPr id="135" name="Google Shape;135;p21"/>
          <p:cNvSpPr txBox="1"/>
          <p:nvPr/>
        </p:nvSpPr>
        <p:spPr>
          <a:xfrm>
            <a:off x="7018066" y="3645513"/>
            <a:ext cx="1524000" cy="954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Expert Systems</a:t>
            </a:r>
            <a:endParaRPr/>
          </a:p>
        </p:txBody>
      </p:sp>
      <p:sp>
        <p:nvSpPr>
          <p:cNvPr id="136" name="Google Shape;136;p21"/>
          <p:cNvSpPr txBox="1"/>
          <p:nvPr/>
        </p:nvSpPr>
        <p:spPr>
          <a:xfrm>
            <a:off x="4732066" y="3874113"/>
            <a:ext cx="16002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Robotics</a:t>
            </a:r>
            <a:endParaRPr/>
          </a:p>
        </p:txBody>
      </p:sp>
      <p:sp>
        <p:nvSpPr>
          <p:cNvPr id="137" name="Google Shape;137;p21"/>
          <p:cNvSpPr txBox="1"/>
          <p:nvPr/>
        </p:nvSpPr>
        <p:spPr>
          <a:xfrm>
            <a:off x="1074466" y="3874113"/>
            <a:ext cx="990600" cy="523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Times New Roman"/>
                <a:ea typeface="Times New Roman"/>
                <a:cs typeface="Times New Roman"/>
                <a:sym typeface="Times New Roman"/>
              </a:rPr>
              <a:t>NLP</a:t>
            </a:r>
            <a:endParaRPr/>
          </a:p>
        </p:txBody>
      </p:sp>
      <p:cxnSp>
        <p:nvCxnSpPr>
          <p:cNvPr id="138" name="Google Shape;138;p21"/>
          <p:cNvCxnSpPr/>
          <p:nvPr/>
        </p:nvCxnSpPr>
        <p:spPr>
          <a:xfrm>
            <a:off x="1531666" y="1759563"/>
            <a:ext cx="0" cy="2114700"/>
          </a:xfrm>
          <a:prstGeom prst="straightConnector1">
            <a:avLst/>
          </a:prstGeom>
          <a:noFill/>
          <a:ln w="9525" cap="flat" cmpd="sng">
            <a:solidFill>
              <a:schemeClr val="dk1"/>
            </a:solidFill>
            <a:prstDash val="solid"/>
            <a:round/>
            <a:headEnd type="none" w="med" len="med"/>
            <a:tailEnd type="triangle" w="med" len="med"/>
          </a:ln>
        </p:spPr>
      </p:cxnSp>
      <p:cxnSp>
        <p:nvCxnSpPr>
          <p:cNvPr id="139" name="Google Shape;139;p21"/>
          <p:cNvCxnSpPr/>
          <p:nvPr/>
        </p:nvCxnSpPr>
        <p:spPr>
          <a:xfrm>
            <a:off x="2293666" y="1588113"/>
            <a:ext cx="1371600" cy="0"/>
          </a:xfrm>
          <a:prstGeom prst="straightConnector1">
            <a:avLst/>
          </a:prstGeom>
          <a:noFill/>
          <a:ln w="9525" cap="flat" cmpd="sng">
            <a:solidFill>
              <a:schemeClr val="dk1"/>
            </a:solidFill>
            <a:prstDash val="solid"/>
            <a:round/>
            <a:headEnd type="none" w="med" len="med"/>
            <a:tailEnd type="triangle" w="med" len="med"/>
          </a:ln>
        </p:spPr>
      </p:cxnSp>
      <p:cxnSp>
        <p:nvCxnSpPr>
          <p:cNvPr id="140" name="Google Shape;140;p21"/>
          <p:cNvCxnSpPr/>
          <p:nvPr/>
        </p:nvCxnSpPr>
        <p:spPr>
          <a:xfrm>
            <a:off x="2293666" y="1759563"/>
            <a:ext cx="2743200" cy="800100"/>
          </a:xfrm>
          <a:prstGeom prst="straightConnector1">
            <a:avLst/>
          </a:prstGeom>
          <a:noFill/>
          <a:ln w="9525" cap="flat" cmpd="sng">
            <a:solidFill>
              <a:schemeClr val="dk1"/>
            </a:solidFill>
            <a:prstDash val="solid"/>
            <a:round/>
            <a:headEnd type="none" w="med" len="med"/>
            <a:tailEnd type="triangle" w="med" len="med"/>
          </a:ln>
        </p:spPr>
      </p:cxnSp>
      <p:cxnSp>
        <p:nvCxnSpPr>
          <p:cNvPr id="141" name="Google Shape;141;p21"/>
          <p:cNvCxnSpPr/>
          <p:nvPr/>
        </p:nvCxnSpPr>
        <p:spPr>
          <a:xfrm>
            <a:off x="1912666" y="1759563"/>
            <a:ext cx="1447800" cy="628800"/>
          </a:xfrm>
          <a:prstGeom prst="straightConnector1">
            <a:avLst/>
          </a:prstGeom>
          <a:noFill/>
          <a:ln w="9525" cap="flat" cmpd="sng">
            <a:solidFill>
              <a:schemeClr val="dk1"/>
            </a:solidFill>
            <a:prstDash val="solid"/>
            <a:round/>
            <a:headEnd type="none" w="med" len="med"/>
            <a:tailEnd type="triangle" w="med" len="med"/>
          </a:ln>
        </p:spPr>
      </p:cxnSp>
      <p:sp>
        <p:nvSpPr>
          <p:cNvPr id="142" name="Google Shape;142;p21"/>
          <p:cNvSpPr/>
          <p:nvPr/>
        </p:nvSpPr>
        <p:spPr>
          <a:xfrm>
            <a:off x="2293666" y="1076144"/>
            <a:ext cx="3505200" cy="283369"/>
          </a:xfrm>
          <a:custGeom>
            <a:avLst/>
            <a:gdLst/>
            <a:ahLst/>
            <a:cxnLst/>
            <a:rect l="l" t="t" r="r" b="b"/>
            <a:pathLst>
              <a:path w="2208" h="238" extrusionOk="0">
                <a:moveTo>
                  <a:pt x="0" y="238"/>
                </a:moveTo>
                <a:cubicBezTo>
                  <a:pt x="178" y="201"/>
                  <a:pt x="702" y="32"/>
                  <a:pt x="1070" y="16"/>
                </a:cubicBezTo>
                <a:cubicBezTo>
                  <a:pt x="1438" y="0"/>
                  <a:pt x="1971" y="116"/>
                  <a:pt x="2208" y="142"/>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1"/>
          <p:cNvSpPr/>
          <p:nvPr/>
        </p:nvSpPr>
        <p:spPr>
          <a:xfrm>
            <a:off x="1684066" y="1759563"/>
            <a:ext cx="1371600" cy="2286000"/>
          </a:xfrm>
          <a:custGeom>
            <a:avLst/>
            <a:gdLst/>
            <a:ahLst/>
            <a:cxnLst/>
            <a:rect l="l" t="t" r="r" b="b"/>
            <a:pathLst>
              <a:path w="864" h="1920" extrusionOk="0">
                <a:moveTo>
                  <a:pt x="0" y="0"/>
                </a:moveTo>
                <a:cubicBezTo>
                  <a:pt x="72" y="536"/>
                  <a:pt x="144" y="1072"/>
                  <a:pt x="288" y="1392"/>
                </a:cubicBezTo>
                <a:cubicBezTo>
                  <a:pt x="432" y="1712"/>
                  <a:pt x="648" y="1816"/>
                  <a:pt x="864" y="192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44" name="Google Shape;144;p21"/>
          <p:cNvCxnSpPr/>
          <p:nvPr/>
        </p:nvCxnSpPr>
        <p:spPr>
          <a:xfrm>
            <a:off x="4732066" y="1759563"/>
            <a:ext cx="914400" cy="800100"/>
          </a:xfrm>
          <a:prstGeom prst="straightConnector1">
            <a:avLst/>
          </a:prstGeom>
          <a:noFill/>
          <a:ln w="9525" cap="flat" cmpd="sng">
            <a:solidFill>
              <a:schemeClr val="dk1"/>
            </a:solidFill>
            <a:prstDash val="solid"/>
            <a:round/>
            <a:headEnd type="none" w="med" len="med"/>
            <a:tailEnd type="triangle" w="med" len="med"/>
          </a:ln>
        </p:spPr>
      </p:cxnSp>
      <p:sp>
        <p:nvSpPr>
          <p:cNvPr id="145" name="Google Shape;145;p21"/>
          <p:cNvSpPr/>
          <p:nvPr/>
        </p:nvSpPr>
        <p:spPr>
          <a:xfrm>
            <a:off x="642666" y="1759563"/>
            <a:ext cx="3022600" cy="2114550"/>
          </a:xfrm>
          <a:custGeom>
            <a:avLst/>
            <a:gdLst/>
            <a:ahLst/>
            <a:cxnLst/>
            <a:rect l="l" t="t" r="r" b="b"/>
            <a:pathLst>
              <a:path w="1904" h="1776" extrusionOk="0">
                <a:moveTo>
                  <a:pt x="1904" y="0"/>
                </a:moveTo>
                <a:cubicBezTo>
                  <a:pt x="1224" y="212"/>
                  <a:pt x="544" y="424"/>
                  <a:pt x="272" y="720"/>
                </a:cubicBezTo>
                <a:cubicBezTo>
                  <a:pt x="0" y="1016"/>
                  <a:pt x="136" y="1396"/>
                  <a:pt x="272" y="1776"/>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1"/>
          <p:cNvSpPr/>
          <p:nvPr/>
        </p:nvSpPr>
        <p:spPr>
          <a:xfrm>
            <a:off x="4732066" y="1759563"/>
            <a:ext cx="4000500" cy="1885950"/>
          </a:xfrm>
          <a:custGeom>
            <a:avLst/>
            <a:gdLst/>
            <a:ahLst/>
            <a:cxnLst/>
            <a:rect l="l" t="t" r="r" b="b"/>
            <a:pathLst>
              <a:path w="2520" h="1584" extrusionOk="0">
                <a:moveTo>
                  <a:pt x="0" y="0"/>
                </a:moveTo>
                <a:cubicBezTo>
                  <a:pt x="356" y="87"/>
                  <a:pt x="1752" y="256"/>
                  <a:pt x="2136" y="520"/>
                </a:cubicBezTo>
                <a:cubicBezTo>
                  <a:pt x="2520" y="784"/>
                  <a:pt x="2269" y="1362"/>
                  <a:pt x="2304" y="1584"/>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47" name="Google Shape;147;p21"/>
          <p:cNvCxnSpPr/>
          <p:nvPr/>
        </p:nvCxnSpPr>
        <p:spPr>
          <a:xfrm>
            <a:off x="7475266" y="1873863"/>
            <a:ext cx="0" cy="1771800"/>
          </a:xfrm>
          <a:prstGeom prst="straightConnector1">
            <a:avLst/>
          </a:prstGeom>
          <a:noFill/>
          <a:ln w="9525" cap="flat" cmpd="sng">
            <a:solidFill>
              <a:schemeClr val="dk1"/>
            </a:solidFill>
            <a:prstDash val="solid"/>
            <a:round/>
            <a:headEnd type="none" w="med" len="med"/>
            <a:tailEnd type="triangle" w="med" len="med"/>
          </a:ln>
        </p:spPr>
      </p:cxnSp>
      <p:cxnSp>
        <p:nvCxnSpPr>
          <p:cNvPr id="148" name="Google Shape;148;p21"/>
          <p:cNvCxnSpPr/>
          <p:nvPr/>
        </p:nvCxnSpPr>
        <p:spPr>
          <a:xfrm>
            <a:off x="3436666" y="3131163"/>
            <a:ext cx="0" cy="743100"/>
          </a:xfrm>
          <a:prstGeom prst="straightConnector1">
            <a:avLst/>
          </a:prstGeom>
          <a:noFill/>
          <a:ln w="9525" cap="flat" cmpd="sng">
            <a:solidFill>
              <a:schemeClr val="dk1"/>
            </a:solidFill>
            <a:prstDash val="solid"/>
            <a:round/>
            <a:headEnd type="none" w="med" len="med"/>
            <a:tailEnd type="triangle" w="med" len="med"/>
          </a:ln>
        </p:spPr>
      </p:cxnSp>
      <p:cxnSp>
        <p:nvCxnSpPr>
          <p:cNvPr id="149" name="Google Shape;149;p21"/>
          <p:cNvCxnSpPr/>
          <p:nvPr/>
        </p:nvCxnSpPr>
        <p:spPr>
          <a:xfrm>
            <a:off x="5722666" y="2959713"/>
            <a:ext cx="0" cy="914400"/>
          </a:xfrm>
          <a:prstGeom prst="straightConnector1">
            <a:avLst/>
          </a:prstGeom>
          <a:noFill/>
          <a:ln w="9525" cap="flat" cmpd="sng">
            <a:solidFill>
              <a:schemeClr val="dk1"/>
            </a:solidFill>
            <a:prstDash val="solid"/>
            <a:round/>
            <a:headEnd type="none" w="med" len="med"/>
            <a:tailEnd type="triangle" w="med" len="med"/>
          </a:ln>
        </p:spPr>
      </p:cxnSp>
      <p:sp>
        <p:nvSpPr>
          <p:cNvPr id="150" name="Google Shape;150;p21"/>
          <p:cNvSpPr/>
          <p:nvPr/>
        </p:nvSpPr>
        <p:spPr>
          <a:xfrm>
            <a:off x="2065066" y="1873863"/>
            <a:ext cx="3810000" cy="2000250"/>
          </a:xfrm>
          <a:custGeom>
            <a:avLst/>
            <a:gdLst/>
            <a:ahLst/>
            <a:cxnLst/>
            <a:rect l="l" t="t" r="r" b="b"/>
            <a:pathLst>
              <a:path w="2400" h="1680" extrusionOk="0">
                <a:moveTo>
                  <a:pt x="2400" y="0"/>
                </a:moveTo>
                <a:cubicBezTo>
                  <a:pt x="2276" y="96"/>
                  <a:pt x="1845" y="359"/>
                  <a:pt x="1656" y="576"/>
                </a:cubicBezTo>
                <a:cubicBezTo>
                  <a:pt x="1467" y="793"/>
                  <a:pt x="1540" y="1120"/>
                  <a:pt x="1264" y="1304"/>
                </a:cubicBezTo>
                <a:cubicBezTo>
                  <a:pt x="988" y="1488"/>
                  <a:pt x="263" y="1602"/>
                  <a:pt x="0" y="168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9"/>
          <p:cNvSpPr/>
          <p:nvPr/>
        </p:nvSpPr>
        <p:spPr>
          <a:xfrm>
            <a:off x="1787200" y="1973235"/>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9"/>
          <p:cNvSpPr/>
          <p:nvPr/>
        </p:nvSpPr>
        <p:spPr>
          <a:xfrm>
            <a:off x="1716875" y="2491823"/>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9"/>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Artificial Neuron</a:t>
            </a:r>
            <a:endParaRPr sz="2400">
              <a:solidFill>
                <a:schemeClr val="accent1"/>
              </a:solidFill>
              <a:latin typeface="Proxima Nova Semibold"/>
              <a:ea typeface="Proxima Nova Semibold"/>
              <a:cs typeface="Proxima Nova Semibold"/>
              <a:sym typeface="Proxima Nova Semibold"/>
            </a:endParaRPr>
          </a:p>
        </p:txBody>
      </p:sp>
      <p:sp>
        <p:nvSpPr>
          <p:cNvPr id="245" name="Google Shape;245;p29"/>
          <p:cNvSpPr txBox="1"/>
          <p:nvPr/>
        </p:nvSpPr>
        <p:spPr>
          <a:xfrm>
            <a:off x="486000" y="884925"/>
            <a:ext cx="519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434343"/>
                </a:solidFill>
                <a:latin typeface="Roboto Medium"/>
                <a:ea typeface="Roboto Medium"/>
                <a:cs typeface="Roboto Medium"/>
                <a:sym typeface="Roboto Medium"/>
              </a:rPr>
              <a:t>Mathematical construct mimicking real neurons</a:t>
            </a:r>
            <a:endParaRPr sz="1600">
              <a:solidFill>
                <a:srgbClr val="434343"/>
              </a:solidFill>
              <a:latin typeface="Roboto Medium"/>
              <a:ea typeface="Roboto Medium"/>
              <a:cs typeface="Roboto Medium"/>
              <a:sym typeface="Roboto Medium"/>
            </a:endParaRPr>
          </a:p>
        </p:txBody>
      </p:sp>
      <p:sp>
        <p:nvSpPr>
          <p:cNvPr id="246" name="Google Shape;246;p29"/>
          <p:cNvSpPr/>
          <p:nvPr/>
        </p:nvSpPr>
        <p:spPr>
          <a:xfrm>
            <a:off x="3670050" y="2344600"/>
            <a:ext cx="1685100" cy="16851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7" name="Google Shape;247;p29"/>
          <p:cNvCxnSpPr/>
          <p:nvPr/>
        </p:nvCxnSpPr>
        <p:spPr>
          <a:xfrm>
            <a:off x="2309925" y="2271563"/>
            <a:ext cx="1247400" cy="431100"/>
          </a:xfrm>
          <a:prstGeom prst="straightConnector1">
            <a:avLst/>
          </a:prstGeom>
          <a:noFill/>
          <a:ln w="9525" cap="flat" cmpd="sng">
            <a:solidFill>
              <a:schemeClr val="dk2"/>
            </a:solidFill>
            <a:prstDash val="solid"/>
            <a:round/>
            <a:headEnd type="none" w="med" len="med"/>
            <a:tailEnd type="triangle" w="med" len="med"/>
          </a:ln>
        </p:spPr>
      </p:cxnSp>
      <p:cxnSp>
        <p:nvCxnSpPr>
          <p:cNvPr id="248" name="Google Shape;248;p29"/>
          <p:cNvCxnSpPr/>
          <p:nvPr/>
        </p:nvCxnSpPr>
        <p:spPr>
          <a:xfrm>
            <a:off x="2276550" y="2665000"/>
            <a:ext cx="1228500" cy="329100"/>
          </a:xfrm>
          <a:prstGeom prst="straightConnector1">
            <a:avLst/>
          </a:prstGeom>
          <a:noFill/>
          <a:ln w="9525" cap="flat" cmpd="sng">
            <a:solidFill>
              <a:schemeClr val="dk2"/>
            </a:solidFill>
            <a:prstDash val="solid"/>
            <a:round/>
            <a:headEnd type="none" w="med" len="med"/>
            <a:tailEnd type="triangle" w="med" len="med"/>
          </a:ln>
        </p:spPr>
      </p:cxnSp>
      <p:cxnSp>
        <p:nvCxnSpPr>
          <p:cNvPr id="249" name="Google Shape;249;p29"/>
          <p:cNvCxnSpPr/>
          <p:nvPr/>
        </p:nvCxnSpPr>
        <p:spPr>
          <a:xfrm rot="10800000" flipH="1">
            <a:off x="2252375" y="3251800"/>
            <a:ext cx="1206000" cy="2400"/>
          </a:xfrm>
          <a:prstGeom prst="straightConnector1">
            <a:avLst/>
          </a:prstGeom>
          <a:noFill/>
          <a:ln w="9525" cap="flat" cmpd="sng">
            <a:solidFill>
              <a:schemeClr val="dk2"/>
            </a:solidFill>
            <a:prstDash val="solid"/>
            <a:round/>
            <a:headEnd type="none" w="med" len="med"/>
            <a:tailEnd type="triangle" w="med" len="med"/>
          </a:ln>
        </p:spPr>
      </p:cxnSp>
      <p:cxnSp>
        <p:nvCxnSpPr>
          <p:cNvPr id="250" name="Google Shape;250;p29"/>
          <p:cNvCxnSpPr/>
          <p:nvPr/>
        </p:nvCxnSpPr>
        <p:spPr>
          <a:xfrm rot="10800000" flipH="1">
            <a:off x="2342025" y="3498500"/>
            <a:ext cx="1183200" cy="262200"/>
          </a:xfrm>
          <a:prstGeom prst="straightConnector1">
            <a:avLst/>
          </a:prstGeom>
          <a:noFill/>
          <a:ln w="9525" cap="flat" cmpd="sng">
            <a:solidFill>
              <a:schemeClr val="dk2"/>
            </a:solidFill>
            <a:prstDash val="solid"/>
            <a:round/>
            <a:headEnd type="none" w="med" len="med"/>
            <a:tailEnd type="triangle" w="med" len="med"/>
          </a:ln>
        </p:spPr>
      </p:cxnSp>
      <p:sp>
        <p:nvSpPr>
          <p:cNvPr id="251" name="Google Shape;251;p29"/>
          <p:cNvSpPr txBox="1"/>
          <p:nvPr/>
        </p:nvSpPr>
        <p:spPr>
          <a:xfrm>
            <a:off x="486000" y="1226025"/>
            <a:ext cx="76152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Each neuron takes in a set of inputs, each input has a certain amount of importance. These inputs along with their importances are combined to produce an output for the neuron.</a:t>
            </a:r>
            <a:endParaRPr>
              <a:solidFill>
                <a:srgbClr val="666666"/>
              </a:solidFill>
              <a:latin typeface="Roboto"/>
              <a:ea typeface="Roboto"/>
              <a:cs typeface="Roboto"/>
              <a:sym typeface="Roboto"/>
            </a:endParaRPr>
          </a:p>
        </p:txBody>
      </p:sp>
      <p:cxnSp>
        <p:nvCxnSpPr>
          <p:cNvPr id="252" name="Google Shape;252;p29"/>
          <p:cNvCxnSpPr/>
          <p:nvPr/>
        </p:nvCxnSpPr>
        <p:spPr>
          <a:xfrm rot="10800000" flipH="1">
            <a:off x="2532525" y="3783250"/>
            <a:ext cx="1109400" cy="459300"/>
          </a:xfrm>
          <a:prstGeom prst="straightConnector1">
            <a:avLst/>
          </a:prstGeom>
          <a:noFill/>
          <a:ln w="9525" cap="flat" cmpd="sng">
            <a:solidFill>
              <a:schemeClr val="dk2"/>
            </a:solidFill>
            <a:prstDash val="solid"/>
            <a:round/>
            <a:headEnd type="none" w="med" len="med"/>
            <a:tailEnd type="triangle" w="med" len="med"/>
          </a:ln>
        </p:spPr>
      </p:cxnSp>
      <p:cxnSp>
        <p:nvCxnSpPr>
          <p:cNvPr id="253" name="Google Shape;253;p29"/>
          <p:cNvCxnSpPr/>
          <p:nvPr/>
        </p:nvCxnSpPr>
        <p:spPr>
          <a:xfrm rot="10800000" flipH="1">
            <a:off x="5407950" y="3328000"/>
            <a:ext cx="1206000" cy="2400"/>
          </a:xfrm>
          <a:prstGeom prst="straightConnector1">
            <a:avLst/>
          </a:prstGeom>
          <a:noFill/>
          <a:ln w="9525" cap="flat" cmpd="sng">
            <a:solidFill>
              <a:schemeClr val="dk2"/>
            </a:solidFill>
            <a:prstDash val="solid"/>
            <a:round/>
            <a:headEnd type="none" w="med" len="med"/>
            <a:tailEnd type="triangle" w="med" len="med"/>
          </a:ln>
        </p:spPr>
      </p:cxnSp>
      <p:sp>
        <p:nvSpPr>
          <p:cNvPr id="254" name="Google Shape;254;p29"/>
          <p:cNvSpPr txBox="1"/>
          <p:nvPr/>
        </p:nvSpPr>
        <p:spPr>
          <a:xfrm>
            <a:off x="1750475" y="2471500"/>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x</a:t>
            </a:r>
            <a:r>
              <a:rPr lang="en" sz="1500" b="1" baseline="-25000">
                <a:solidFill>
                  <a:srgbClr val="434343"/>
                </a:solidFill>
                <a:latin typeface="Roboto"/>
                <a:ea typeface="Roboto"/>
                <a:cs typeface="Roboto"/>
                <a:sym typeface="Roboto"/>
              </a:rPr>
              <a:t>1</a:t>
            </a:r>
            <a:endParaRPr sz="1500" b="1" baseline="-25000">
              <a:solidFill>
                <a:srgbClr val="434343"/>
              </a:solidFill>
              <a:latin typeface="Roboto"/>
              <a:ea typeface="Roboto"/>
              <a:cs typeface="Roboto"/>
              <a:sym typeface="Roboto"/>
            </a:endParaRPr>
          </a:p>
        </p:txBody>
      </p:sp>
      <p:sp>
        <p:nvSpPr>
          <p:cNvPr id="255" name="Google Shape;255;p29"/>
          <p:cNvSpPr txBox="1"/>
          <p:nvPr/>
        </p:nvSpPr>
        <p:spPr>
          <a:xfrm>
            <a:off x="1847700" y="1965563"/>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b</a:t>
            </a:r>
            <a:endParaRPr sz="1500" b="1" baseline="-25000">
              <a:solidFill>
                <a:srgbClr val="434343"/>
              </a:solidFill>
              <a:latin typeface="Roboto"/>
              <a:ea typeface="Roboto"/>
              <a:cs typeface="Roboto"/>
              <a:sym typeface="Roboto"/>
            </a:endParaRPr>
          </a:p>
        </p:txBody>
      </p:sp>
      <p:sp>
        <p:nvSpPr>
          <p:cNvPr id="256" name="Google Shape;256;p29"/>
          <p:cNvSpPr txBox="1"/>
          <p:nvPr/>
        </p:nvSpPr>
        <p:spPr>
          <a:xfrm>
            <a:off x="3729449" y="3011575"/>
            <a:ext cx="162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434343"/>
                </a:solidFill>
                <a:latin typeface="Roboto"/>
                <a:ea typeface="Roboto"/>
                <a:cs typeface="Roboto"/>
                <a:sym typeface="Roboto"/>
              </a:rPr>
              <a:t>Z = F ( Σw</a:t>
            </a:r>
            <a:r>
              <a:rPr lang="en" b="1" baseline="-25000">
                <a:solidFill>
                  <a:srgbClr val="434343"/>
                </a:solidFill>
                <a:latin typeface="Roboto"/>
                <a:ea typeface="Roboto"/>
                <a:cs typeface="Roboto"/>
                <a:sym typeface="Roboto"/>
              </a:rPr>
              <a:t>i</a:t>
            </a:r>
            <a:r>
              <a:rPr lang="en" b="1">
                <a:solidFill>
                  <a:srgbClr val="434343"/>
                </a:solidFill>
                <a:latin typeface="Roboto"/>
                <a:ea typeface="Roboto"/>
                <a:cs typeface="Roboto"/>
                <a:sym typeface="Roboto"/>
              </a:rPr>
              <a:t>x</a:t>
            </a:r>
            <a:r>
              <a:rPr lang="en" b="1" baseline="-25000">
                <a:solidFill>
                  <a:srgbClr val="434343"/>
                </a:solidFill>
                <a:latin typeface="Roboto"/>
                <a:ea typeface="Roboto"/>
                <a:cs typeface="Roboto"/>
                <a:sym typeface="Roboto"/>
              </a:rPr>
              <a:t>i</a:t>
            </a:r>
            <a:r>
              <a:rPr lang="en" b="1">
                <a:solidFill>
                  <a:srgbClr val="434343"/>
                </a:solidFill>
                <a:latin typeface="Roboto"/>
                <a:ea typeface="Roboto"/>
                <a:cs typeface="Roboto"/>
                <a:sym typeface="Roboto"/>
              </a:rPr>
              <a:t> + b )</a:t>
            </a:r>
            <a:endParaRPr b="1">
              <a:solidFill>
                <a:srgbClr val="434343"/>
              </a:solidFill>
              <a:latin typeface="Roboto"/>
              <a:ea typeface="Roboto"/>
              <a:cs typeface="Roboto"/>
              <a:sym typeface="Roboto"/>
            </a:endParaRPr>
          </a:p>
        </p:txBody>
      </p:sp>
      <p:sp>
        <p:nvSpPr>
          <p:cNvPr id="257" name="Google Shape;257;p29"/>
          <p:cNvSpPr txBox="1"/>
          <p:nvPr/>
        </p:nvSpPr>
        <p:spPr>
          <a:xfrm>
            <a:off x="6675450" y="3121450"/>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Z</a:t>
            </a:r>
            <a:endParaRPr sz="1500" b="1" baseline="-25000">
              <a:solidFill>
                <a:srgbClr val="434343"/>
              </a:solidFill>
              <a:latin typeface="Roboto"/>
              <a:ea typeface="Roboto"/>
              <a:cs typeface="Roboto"/>
              <a:sym typeface="Roboto"/>
            </a:endParaRPr>
          </a:p>
        </p:txBody>
      </p:sp>
      <p:sp>
        <p:nvSpPr>
          <p:cNvPr id="258" name="Google Shape;258;p29"/>
          <p:cNvSpPr txBox="1"/>
          <p:nvPr/>
        </p:nvSpPr>
        <p:spPr>
          <a:xfrm>
            <a:off x="2532525" y="2392713"/>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w</a:t>
            </a:r>
            <a:r>
              <a:rPr lang="en" sz="1500" b="1" baseline="-25000">
                <a:solidFill>
                  <a:srgbClr val="434343"/>
                </a:solidFill>
                <a:latin typeface="Roboto"/>
                <a:ea typeface="Roboto"/>
                <a:cs typeface="Roboto"/>
                <a:sym typeface="Roboto"/>
              </a:rPr>
              <a:t>1</a:t>
            </a:r>
            <a:endParaRPr sz="1500" b="1" baseline="-25000">
              <a:solidFill>
                <a:srgbClr val="434343"/>
              </a:solidFill>
              <a:latin typeface="Roboto"/>
              <a:ea typeface="Roboto"/>
              <a:cs typeface="Roboto"/>
              <a:sym typeface="Roboto"/>
            </a:endParaRPr>
          </a:p>
        </p:txBody>
      </p:sp>
      <p:sp>
        <p:nvSpPr>
          <p:cNvPr id="259" name="Google Shape;259;p29"/>
          <p:cNvSpPr txBox="1"/>
          <p:nvPr/>
        </p:nvSpPr>
        <p:spPr>
          <a:xfrm>
            <a:off x="2424900" y="2846338"/>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w</a:t>
            </a:r>
            <a:r>
              <a:rPr lang="en" sz="1500" b="1" baseline="-25000">
                <a:solidFill>
                  <a:srgbClr val="434343"/>
                </a:solidFill>
                <a:latin typeface="Roboto"/>
                <a:ea typeface="Roboto"/>
                <a:cs typeface="Roboto"/>
                <a:sym typeface="Roboto"/>
              </a:rPr>
              <a:t>2</a:t>
            </a:r>
            <a:endParaRPr sz="1500" b="1" baseline="-25000">
              <a:solidFill>
                <a:srgbClr val="434343"/>
              </a:solidFill>
              <a:latin typeface="Roboto"/>
              <a:ea typeface="Roboto"/>
              <a:cs typeface="Roboto"/>
              <a:sym typeface="Roboto"/>
            </a:endParaRPr>
          </a:p>
        </p:txBody>
      </p:sp>
      <p:sp>
        <p:nvSpPr>
          <p:cNvPr id="260" name="Google Shape;260;p29"/>
          <p:cNvSpPr txBox="1"/>
          <p:nvPr/>
        </p:nvSpPr>
        <p:spPr>
          <a:xfrm>
            <a:off x="2424900" y="3299938"/>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w</a:t>
            </a:r>
            <a:r>
              <a:rPr lang="en" sz="1500" b="1" baseline="-25000">
                <a:solidFill>
                  <a:srgbClr val="434343"/>
                </a:solidFill>
                <a:latin typeface="Roboto"/>
                <a:ea typeface="Roboto"/>
                <a:cs typeface="Roboto"/>
                <a:sym typeface="Roboto"/>
              </a:rPr>
              <a:t>3</a:t>
            </a:r>
            <a:endParaRPr sz="1500" b="1" baseline="-25000">
              <a:solidFill>
                <a:srgbClr val="434343"/>
              </a:solidFill>
              <a:latin typeface="Roboto"/>
              <a:ea typeface="Roboto"/>
              <a:cs typeface="Roboto"/>
              <a:sym typeface="Roboto"/>
            </a:endParaRPr>
          </a:p>
        </p:txBody>
      </p:sp>
      <p:sp>
        <p:nvSpPr>
          <p:cNvPr id="261" name="Google Shape;261;p29"/>
          <p:cNvSpPr txBox="1"/>
          <p:nvPr/>
        </p:nvSpPr>
        <p:spPr>
          <a:xfrm>
            <a:off x="2532525" y="3728650"/>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w</a:t>
            </a:r>
            <a:r>
              <a:rPr lang="en" sz="1500" b="1" baseline="-25000">
                <a:solidFill>
                  <a:srgbClr val="434343"/>
                </a:solidFill>
                <a:latin typeface="Roboto"/>
                <a:ea typeface="Roboto"/>
                <a:cs typeface="Roboto"/>
                <a:sym typeface="Roboto"/>
              </a:rPr>
              <a:t>4</a:t>
            </a:r>
            <a:endParaRPr sz="1500" b="1" baseline="-25000">
              <a:solidFill>
                <a:srgbClr val="434343"/>
              </a:solidFill>
              <a:latin typeface="Roboto"/>
              <a:ea typeface="Roboto"/>
              <a:cs typeface="Roboto"/>
              <a:sym typeface="Roboto"/>
            </a:endParaRPr>
          </a:p>
        </p:txBody>
      </p:sp>
      <p:sp>
        <p:nvSpPr>
          <p:cNvPr id="262" name="Google Shape;262;p29"/>
          <p:cNvSpPr/>
          <p:nvPr/>
        </p:nvSpPr>
        <p:spPr>
          <a:xfrm>
            <a:off x="1733675" y="3063060"/>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9"/>
          <p:cNvSpPr txBox="1"/>
          <p:nvPr/>
        </p:nvSpPr>
        <p:spPr>
          <a:xfrm>
            <a:off x="1767275" y="3042738"/>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x</a:t>
            </a:r>
            <a:r>
              <a:rPr lang="en" sz="1500" b="1" baseline="-25000">
                <a:solidFill>
                  <a:srgbClr val="434343"/>
                </a:solidFill>
                <a:latin typeface="Roboto"/>
                <a:ea typeface="Roboto"/>
                <a:cs typeface="Roboto"/>
                <a:sym typeface="Roboto"/>
              </a:rPr>
              <a:t>2</a:t>
            </a:r>
            <a:endParaRPr sz="1500" b="1" baseline="-25000">
              <a:solidFill>
                <a:srgbClr val="434343"/>
              </a:solidFill>
              <a:latin typeface="Roboto"/>
              <a:ea typeface="Roboto"/>
              <a:cs typeface="Roboto"/>
              <a:sym typeface="Roboto"/>
            </a:endParaRPr>
          </a:p>
        </p:txBody>
      </p:sp>
      <p:sp>
        <p:nvSpPr>
          <p:cNvPr id="264" name="Google Shape;264;p29"/>
          <p:cNvSpPr/>
          <p:nvPr/>
        </p:nvSpPr>
        <p:spPr>
          <a:xfrm>
            <a:off x="1843475" y="3578398"/>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9"/>
          <p:cNvSpPr txBox="1"/>
          <p:nvPr/>
        </p:nvSpPr>
        <p:spPr>
          <a:xfrm>
            <a:off x="1877075" y="3558075"/>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x</a:t>
            </a:r>
            <a:r>
              <a:rPr lang="en" sz="1500" b="1" baseline="-25000">
                <a:solidFill>
                  <a:srgbClr val="434343"/>
                </a:solidFill>
                <a:latin typeface="Roboto"/>
                <a:ea typeface="Roboto"/>
                <a:cs typeface="Roboto"/>
                <a:sym typeface="Roboto"/>
              </a:rPr>
              <a:t>3</a:t>
            </a:r>
            <a:endParaRPr sz="1500" b="1" baseline="-25000">
              <a:solidFill>
                <a:srgbClr val="434343"/>
              </a:solidFill>
              <a:latin typeface="Roboto"/>
              <a:ea typeface="Roboto"/>
              <a:cs typeface="Roboto"/>
              <a:sym typeface="Roboto"/>
            </a:endParaRPr>
          </a:p>
        </p:txBody>
      </p:sp>
      <p:sp>
        <p:nvSpPr>
          <p:cNvPr id="266" name="Google Shape;266;p29"/>
          <p:cNvSpPr/>
          <p:nvPr/>
        </p:nvSpPr>
        <p:spPr>
          <a:xfrm>
            <a:off x="2041800" y="4136998"/>
            <a:ext cx="400200" cy="4002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9"/>
          <p:cNvSpPr txBox="1"/>
          <p:nvPr/>
        </p:nvSpPr>
        <p:spPr>
          <a:xfrm>
            <a:off x="2075400" y="4116675"/>
            <a:ext cx="425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rgbClr val="434343"/>
                </a:solidFill>
                <a:latin typeface="Roboto"/>
                <a:ea typeface="Roboto"/>
                <a:cs typeface="Roboto"/>
                <a:sym typeface="Roboto"/>
              </a:rPr>
              <a:t>x</a:t>
            </a:r>
            <a:r>
              <a:rPr lang="en" sz="1500" b="1" baseline="-25000">
                <a:solidFill>
                  <a:srgbClr val="434343"/>
                </a:solidFill>
                <a:latin typeface="Roboto"/>
                <a:ea typeface="Roboto"/>
                <a:cs typeface="Roboto"/>
                <a:sym typeface="Roboto"/>
              </a:rPr>
              <a:t>4</a:t>
            </a:r>
            <a:endParaRPr sz="1500" b="1" baseline="-25000">
              <a:solidFill>
                <a:srgbClr val="434343"/>
              </a:solidFill>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30"/>
          <p:cNvPicPr preferRelativeResize="0"/>
          <p:nvPr/>
        </p:nvPicPr>
        <p:blipFill rotWithShape="1">
          <a:blip r:embed="rId3">
            <a:alphaModFix/>
          </a:blip>
          <a:srcRect/>
          <a:stretch/>
        </p:blipFill>
        <p:spPr>
          <a:xfrm>
            <a:off x="7224870" y="283329"/>
            <a:ext cx="625925" cy="742475"/>
          </a:xfrm>
          <a:prstGeom prst="rect">
            <a:avLst/>
          </a:prstGeom>
          <a:noFill/>
          <a:ln>
            <a:noFill/>
          </a:ln>
        </p:spPr>
      </p:pic>
      <p:pic>
        <p:nvPicPr>
          <p:cNvPr id="273" name="Google Shape;273;p30"/>
          <p:cNvPicPr preferRelativeResize="0"/>
          <p:nvPr/>
        </p:nvPicPr>
        <p:blipFill rotWithShape="1">
          <a:blip r:embed="rId4">
            <a:alphaModFix amt="79000"/>
          </a:blip>
          <a:srcRect/>
          <a:stretch/>
        </p:blipFill>
        <p:spPr>
          <a:xfrm>
            <a:off x="8101026" y="334837"/>
            <a:ext cx="731275" cy="639500"/>
          </a:xfrm>
          <a:prstGeom prst="rect">
            <a:avLst/>
          </a:prstGeom>
          <a:noFill/>
          <a:ln>
            <a:noFill/>
          </a:ln>
        </p:spPr>
      </p:pic>
      <p:sp>
        <p:nvSpPr>
          <p:cNvPr id="274" name="Google Shape;274;p30"/>
          <p:cNvSpPr txBox="1"/>
          <p:nvPr/>
        </p:nvSpPr>
        <p:spPr>
          <a:xfrm>
            <a:off x="2286589" y="4650137"/>
            <a:ext cx="45708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 sz="1200" b="1">
                <a:solidFill>
                  <a:srgbClr val="7F7F7F"/>
                </a:solidFill>
              </a:rPr>
              <a:t>Open House on AI for HealthCare</a:t>
            </a:r>
            <a:endParaRPr sz="1200" b="1" i="0" u="none" strike="noStrike" cap="none">
              <a:solidFill>
                <a:srgbClr val="000000"/>
              </a:solidFill>
              <a:latin typeface="Arial"/>
              <a:ea typeface="Arial"/>
              <a:cs typeface="Arial"/>
              <a:sym typeface="Arial"/>
            </a:endParaRPr>
          </a:p>
        </p:txBody>
      </p:sp>
      <p:sp>
        <p:nvSpPr>
          <p:cNvPr id="275" name="Google Shape;275;p30"/>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Artificial Neural Network</a:t>
            </a:r>
            <a:endParaRPr sz="2400">
              <a:solidFill>
                <a:schemeClr val="accent1"/>
              </a:solidFill>
              <a:latin typeface="Proxima Nova Semibold"/>
              <a:ea typeface="Proxima Nova Semibold"/>
              <a:cs typeface="Proxima Nova Semibold"/>
              <a:sym typeface="Proxima Nova Semibold"/>
            </a:endParaRPr>
          </a:p>
        </p:txBody>
      </p:sp>
      <p:sp>
        <p:nvSpPr>
          <p:cNvPr id="276" name="Google Shape;276;p30"/>
          <p:cNvSpPr txBox="1"/>
          <p:nvPr/>
        </p:nvSpPr>
        <p:spPr>
          <a:xfrm>
            <a:off x="486000" y="884925"/>
            <a:ext cx="5845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434343"/>
                </a:solidFill>
                <a:latin typeface="Roboto Medium"/>
                <a:ea typeface="Roboto Medium"/>
                <a:cs typeface="Roboto Medium"/>
                <a:sym typeface="Roboto Medium"/>
              </a:rPr>
              <a:t>Putting artificial neurons together to create an artificial brain</a:t>
            </a:r>
            <a:endParaRPr sz="1600">
              <a:solidFill>
                <a:srgbClr val="434343"/>
              </a:solidFill>
              <a:latin typeface="Roboto Medium"/>
              <a:ea typeface="Roboto Medium"/>
              <a:cs typeface="Roboto Medium"/>
              <a:sym typeface="Roboto Medium"/>
            </a:endParaRPr>
          </a:p>
        </p:txBody>
      </p:sp>
      <p:sp>
        <p:nvSpPr>
          <p:cNvPr id="277" name="Google Shape;277;p30"/>
          <p:cNvSpPr txBox="1"/>
          <p:nvPr/>
        </p:nvSpPr>
        <p:spPr>
          <a:xfrm>
            <a:off x="486000" y="1226025"/>
            <a:ext cx="76152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A set of neurons are organized in a layer, each network consists of multiple layers of these neurons. Each neuron of a layer is connected with each neuron of the adjacent layer. Hence the outputs of all neurons in a layer are passed as input to the next layer.</a:t>
            </a:r>
            <a:endParaRPr>
              <a:solidFill>
                <a:srgbClr val="666666"/>
              </a:solidFill>
              <a:latin typeface="Roboto"/>
              <a:ea typeface="Roboto"/>
              <a:cs typeface="Roboto"/>
              <a:sym typeface="Roboto"/>
            </a:endParaRPr>
          </a:p>
        </p:txBody>
      </p:sp>
      <p:sp>
        <p:nvSpPr>
          <p:cNvPr id="278" name="Google Shape;278;p30"/>
          <p:cNvSpPr/>
          <p:nvPr/>
        </p:nvSpPr>
        <p:spPr>
          <a:xfrm>
            <a:off x="2533875" y="2182400"/>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0"/>
          <p:cNvSpPr/>
          <p:nvPr/>
        </p:nvSpPr>
        <p:spPr>
          <a:xfrm>
            <a:off x="2533875" y="3004975"/>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0"/>
          <p:cNvSpPr/>
          <p:nvPr/>
        </p:nvSpPr>
        <p:spPr>
          <a:xfrm>
            <a:off x="2533875" y="3827550"/>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0"/>
          <p:cNvSpPr/>
          <p:nvPr/>
        </p:nvSpPr>
        <p:spPr>
          <a:xfrm>
            <a:off x="4320150" y="2523175"/>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0"/>
          <p:cNvSpPr/>
          <p:nvPr/>
        </p:nvSpPr>
        <p:spPr>
          <a:xfrm>
            <a:off x="4320138" y="3409900"/>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0"/>
          <p:cNvSpPr/>
          <p:nvPr/>
        </p:nvSpPr>
        <p:spPr>
          <a:xfrm>
            <a:off x="5550738" y="2903400"/>
            <a:ext cx="481800" cy="481800"/>
          </a:xfrm>
          <a:prstGeom prst="ellipse">
            <a:avLst/>
          </a:prstGeom>
          <a:solidFill>
            <a:schemeClr val="l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4" name="Google Shape;284;p30"/>
          <p:cNvCxnSpPr/>
          <p:nvPr/>
        </p:nvCxnSpPr>
        <p:spPr>
          <a:xfrm rot="10800000" flipH="1">
            <a:off x="4952988" y="3361925"/>
            <a:ext cx="488700" cy="188100"/>
          </a:xfrm>
          <a:prstGeom prst="straightConnector1">
            <a:avLst/>
          </a:prstGeom>
          <a:noFill/>
          <a:ln w="9525" cap="flat" cmpd="sng">
            <a:solidFill>
              <a:schemeClr val="dk2"/>
            </a:solidFill>
            <a:prstDash val="solid"/>
            <a:round/>
            <a:headEnd type="none" w="med" len="med"/>
            <a:tailEnd type="triangle" w="med" len="med"/>
          </a:ln>
        </p:spPr>
      </p:cxnSp>
      <p:cxnSp>
        <p:nvCxnSpPr>
          <p:cNvPr id="285" name="Google Shape;285;p30"/>
          <p:cNvCxnSpPr/>
          <p:nvPr/>
        </p:nvCxnSpPr>
        <p:spPr>
          <a:xfrm>
            <a:off x="3194425" y="2413750"/>
            <a:ext cx="929400" cy="192900"/>
          </a:xfrm>
          <a:prstGeom prst="straightConnector1">
            <a:avLst/>
          </a:prstGeom>
          <a:noFill/>
          <a:ln w="9525" cap="flat" cmpd="sng">
            <a:solidFill>
              <a:schemeClr val="dk2"/>
            </a:solidFill>
            <a:prstDash val="solid"/>
            <a:round/>
            <a:headEnd type="none" w="med" len="med"/>
            <a:tailEnd type="triangle" w="med" len="med"/>
          </a:ln>
        </p:spPr>
      </p:cxnSp>
      <p:cxnSp>
        <p:nvCxnSpPr>
          <p:cNvPr id="286" name="Google Shape;286;p30"/>
          <p:cNvCxnSpPr/>
          <p:nvPr/>
        </p:nvCxnSpPr>
        <p:spPr>
          <a:xfrm>
            <a:off x="3172025" y="2588550"/>
            <a:ext cx="996600" cy="836100"/>
          </a:xfrm>
          <a:prstGeom prst="straightConnector1">
            <a:avLst/>
          </a:prstGeom>
          <a:noFill/>
          <a:ln w="9525" cap="flat" cmpd="sng">
            <a:solidFill>
              <a:schemeClr val="dk2"/>
            </a:solidFill>
            <a:prstDash val="solid"/>
            <a:round/>
            <a:headEnd type="none" w="med" len="med"/>
            <a:tailEnd type="triangle" w="med" len="med"/>
          </a:ln>
        </p:spPr>
      </p:cxnSp>
      <p:cxnSp>
        <p:nvCxnSpPr>
          <p:cNvPr id="287" name="Google Shape;287;p30"/>
          <p:cNvCxnSpPr/>
          <p:nvPr/>
        </p:nvCxnSpPr>
        <p:spPr>
          <a:xfrm rot="10800000" flipH="1">
            <a:off x="3160800" y="2976225"/>
            <a:ext cx="1030200" cy="889800"/>
          </a:xfrm>
          <a:prstGeom prst="straightConnector1">
            <a:avLst/>
          </a:prstGeom>
          <a:noFill/>
          <a:ln w="9525" cap="flat" cmpd="sng">
            <a:solidFill>
              <a:schemeClr val="dk2"/>
            </a:solidFill>
            <a:prstDash val="solid"/>
            <a:round/>
            <a:headEnd type="none" w="med" len="med"/>
            <a:tailEnd type="triangle" w="med" len="med"/>
          </a:ln>
        </p:spPr>
      </p:cxnSp>
      <p:cxnSp>
        <p:nvCxnSpPr>
          <p:cNvPr id="288" name="Google Shape;288;p30"/>
          <p:cNvCxnSpPr/>
          <p:nvPr/>
        </p:nvCxnSpPr>
        <p:spPr>
          <a:xfrm rot="10800000" flipH="1">
            <a:off x="3194425" y="3827950"/>
            <a:ext cx="985500" cy="262200"/>
          </a:xfrm>
          <a:prstGeom prst="straightConnector1">
            <a:avLst/>
          </a:prstGeom>
          <a:noFill/>
          <a:ln w="9525" cap="flat" cmpd="sng">
            <a:solidFill>
              <a:schemeClr val="dk2"/>
            </a:solidFill>
            <a:prstDash val="solid"/>
            <a:round/>
            <a:headEnd type="none" w="med" len="med"/>
            <a:tailEnd type="triangle" w="med" len="med"/>
          </a:ln>
        </p:spPr>
      </p:cxnSp>
      <p:cxnSp>
        <p:nvCxnSpPr>
          <p:cNvPr id="289" name="Google Shape;289;p30"/>
          <p:cNvCxnSpPr/>
          <p:nvPr/>
        </p:nvCxnSpPr>
        <p:spPr>
          <a:xfrm rot="10800000" flipH="1">
            <a:off x="3172025" y="2796925"/>
            <a:ext cx="951900" cy="318300"/>
          </a:xfrm>
          <a:prstGeom prst="straightConnector1">
            <a:avLst/>
          </a:prstGeom>
          <a:noFill/>
          <a:ln w="9525" cap="flat" cmpd="sng">
            <a:solidFill>
              <a:schemeClr val="dk2"/>
            </a:solidFill>
            <a:prstDash val="solid"/>
            <a:round/>
            <a:headEnd type="none" w="med" len="med"/>
            <a:tailEnd type="triangle" w="med" len="med"/>
          </a:ln>
        </p:spPr>
      </p:cxnSp>
      <p:cxnSp>
        <p:nvCxnSpPr>
          <p:cNvPr id="290" name="Google Shape;290;p30"/>
          <p:cNvCxnSpPr/>
          <p:nvPr/>
        </p:nvCxnSpPr>
        <p:spPr>
          <a:xfrm>
            <a:off x="3216850" y="3328150"/>
            <a:ext cx="918000" cy="331800"/>
          </a:xfrm>
          <a:prstGeom prst="straightConnector1">
            <a:avLst/>
          </a:prstGeom>
          <a:noFill/>
          <a:ln w="9525" cap="flat" cmpd="sng">
            <a:solidFill>
              <a:schemeClr val="dk2"/>
            </a:solidFill>
            <a:prstDash val="solid"/>
            <a:round/>
            <a:headEnd type="none" w="med" len="med"/>
            <a:tailEnd type="triangle" w="med" len="med"/>
          </a:ln>
        </p:spPr>
      </p:cxnSp>
      <p:cxnSp>
        <p:nvCxnSpPr>
          <p:cNvPr id="291" name="Google Shape;291;p30"/>
          <p:cNvCxnSpPr/>
          <p:nvPr/>
        </p:nvCxnSpPr>
        <p:spPr>
          <a:xfrm>
            <a:off x="6197600" y="3163300"/>
            <a:ext cx="564900" cy="0"/>
          </a:xfrm>
          <a:prstGeom prst="straightConnector1">
            <a:avLst/>
          </a:prstGeom>
          <a:noFill/>
          <a:ln w="9525" cap="flat" cmpd="sng">
            <a:solidFill>
              <a:schemeClr val="dk2"/>
            </a:solidFill>
            <a:prstDash val="solid"/>
            <a:round/>
            <a:headEnd type="none" w="med" len="med"/>
            <a:tailEnd type="triangle" w="med" len="med"/>
          </a:ln>
        </p:spPr>
      </p:cxnSp>
      <p:cxnSp>
        <p:nvCxnSpPr>
          <p:cNvPr id="292" name="Google Shape;292;p30"/>
          <p:cNvCxnSpPr/>
          <p:nvPr/>
        </p:nvCxnSpPr>
        <p:spPr>
          <a:xfrm>
            <a:off x="4975400" y="2823875"/>
            <a:ext cx="470100" cy="176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31"/>
          <p:cNvPicPr preferRelativeResize="0"/>
          <p:nvPr/>
        </p:nvPicPr>
        <p:blipFill rotWithShape="1">
          <a:blip r:embed="rId3">
            <a:alphaModFix/>
          </a:blip>
          <a:srcRect/>
          <a:stretch/>
        </p:blipFill>
        <p:spPr>
          <a:xfrm>
            <a:off x="7224870" y="283329"/>
            <a:ext cx="625925" cy="742475"/>
          </a:xfrm>
          <a:prstGeom prst="rect">
            <a:avLst/>
          </a:prstGeom>
          <a:noFill/>
          <a:ln>
            <a:noFill/>
          </a:ln>
        </p:spPr>
      </p:pic>
      <p:pic>
        <p:nvPicPr>
          <p:cNvPr id="298" name="Google Shape;298;p31"/>
          <p:cNvPicPr preferRelativeResize="0"/>
          <p:nvPr/>
        </p:nvPicPr>
        <p:blipFill rotWithShape="1">
          <a:blip r:embed="rId4">
            <a:alphaModFix amt="79000"/>
          </a:blip>
          <a:srcRect/>
          <a:stretch/>
        </p:blipFill>
        <p:spPr>
          <a:xfrm>
            <a:off x="8101026" y="334837"/>
            <a:ext cx="731275" cy="639500"/>
          </a:xfrm>
          <a:prstGeom prst="rect">
            <a:avLst/>
          </a:prstGeom>
          <a:noFill/>
          <a:ln>
            <a:noFill/>
          </a:ln>
        </p:spPr>
      </p:pic>
      <p:sp>
        <p:nvSpPr>
          <p:cNvPr id="299" name="Google Shape;299;p31"/>
          <p:cNvSpPr txBox="1"/>
          <p:nvPr/>
        </p:nvSpPr>
        <p:spPr>
          <a:xfrm>
            <a:off x="2286589" y="4650137"/>
            <a:ext cx="45708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 sz="1200" b="1">
                <a:solidFill>
                  <a:srgbClr val="7F7F7F"/>
                </a:solidFill>
              </a:rPr>
              <a:t>Open House on AI for HealthCare</a:t>
            </a:r>
            <a:endParaRPr sz="1200" b="1" i="0" u="none" strike="noStrike" cap="none">
              <a:solidFill>
                <a:srgbClr val="000000"/>
              </a:solidFill>
              <a:latin typeface="Arial"/>
              <a:ea typeface="Arial"/>
              <a:cs typeface="Arial"/>
              <a:sym typeface="Arial"/>
            </a:endParaRPr>
          </a:p>
        </p:txBody>
      </p:sp>
      <p:sp>
        <p:nvSpPr>
          <p:cNvPr id="300" name="Google Shape;300;p31"/>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But how does this learn?</a:t>
            </a:r>
            <a:endParaRPr sz="2400">
              <a:solidFill>
                <a:schemeClr val="accent1"/>
              </a:solidFill>
              <a:latin typeface="Proxima Nova Semibold"/>
              <a:ea typeface="Proxima Nova Semibold"/>
              <a:cs typeface="Proxima Nova Semibold"/>
              <a:sym typeface="Proxima Nova Semibold"/>
            </a:endParaRPr>
          </a:p>
        </p:txBody>
      </p:sp>
      <p:sp>
        <p:nvSpPr>
          <p:cNvPr id="301" name="Google Shape;301;p31"/>
          <p:cNvSpPr txBox="1"/>
          <p:nvPr/>
        </p:nvSpPr>
        <p:spPr>
          <a:xfrm>
            <a:off x="486000" y="1189725"/>
            <a:ext cx="1732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434343"/>
                </a:solidFill>
                <a:latin typeface="Roboto Medium"/>
                <a:ea typeface="Roboto Medium"/>
                <a:cs typeface="Roboto Medium"/>
                <a:sym typeface="Roboto Medium"/>
              </a:rPr>
              <a:t>Training an ANN</a:t>
            </a:r>
            <a:endParaRPr sz="1600">
              <a:solidFill>
                <a:srgbClr val="434343"/>
              </a:solidFill>
              <a:latin typeface="Roboto Medium"/>
              <a:ea typeface="Roboto Medium"/>
              <a:cs typeface="Roboto Medium"/>
              <a:sym typeface="Roboto Medium"/>
            </a:endParaRPr>
          </a:p>
        </p:txBody>
      </p:sp>
      <p:sp>
        <p:nvSpPr>
          <p:cNvPr id="302" name="Google Shape;302;p31"/>
          <p:cNvSpPr txBox="1"/>
          <p:nvPr/>
        </p:nvSpPr>
        <p:spPr>
          <a:xfrm>
            <a:off x="486000" y="1546100"/>
            <a:ext cx="3133500" cy="2339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We pass the ANN an input, initially it produces a random output. We inform the model that the output is wrong. It goes back and tweaks the </a:t>
            </a:r>
            <a:r>
              <a:rPr lang="en" b="1">
                <a:solidFill>
                  <a:srgbClr val="666666"/>
                </a:solidFill>
                <a:latin typeface="Roboto"/>
                <a:ea typeface="Roboto"/>
                <a:cs typeface="Roboto"/>
                <a:sym typeface="Roboto"/>
              </a:rPr>
              <a:t>‘importance’</a:t>
            </a:r>
            <a:r>
              <a:rPr lang="en">
                <a:solidFill>
                  <a:srgbClr val="666666"/>
                </a:solidFill>
                <a:latin typeface="Roboto"/>
                <a:ea typeface="Roboto"/>
                <a:cs typeface="Roboto"/>
                <a:sym typeface="Roboto"/>
              </a:rPr>
              <a:t> it gives to every input and this results in a slightly better result. The model is again informed of its errors and the process continues till it reaches the desired performance level.</a:t>
            </a:r>
            <a:endParaRPr>
              <a:solidFill>
                <a:srgbClr val="666666"/>
              </a:solidFill>
              <a:latin typeface="Roboto"/>
              <a:ea typeface="Roboto"/>
              <a:cs typeface="Roboto"/>
              <a:sym typeface="Roboto"/>
            </a:endParaRPr>
          </a:p>
        </p:txBody>
      </p:sp>
      <p:sp>
        <p:nvSpPr>
          <p:cNvPr id="303" name="Google Shape;303;p31"/>
          <p:cNvSpPr/>
          <p:nvPr/>
        </p:nvSpPr>
        <p:spPr>
          <a:xfrm>
            <a:off x="5472925" y="1835500"/>
            <a:ext cx="1299900" cy="554100"/>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Proxima Nova Semibold"/>
                <a:ea typeface="Proxima Nova Semibold"/>
                <a:cs typeface="Proxima Nova Semibold"/>
                <a:sym typeface="Proxima Nova Semibold"/>
              </a:rPr>
              <a:t>ANN Model</a:t>
            </a:r>
            <a:endParaRPr sz="1300">
              <a:latin typeface="Proxima Nova Semibold"/>
              <a:ea typeface="Proxima Nova Semibold"/>
              <a:cs typeface="Proxima Nova Semibold"/>
              <a:sym typeface="Proxima Nova Semibold"/>
            </a:endParaRPr>
          </a:p>
        </p:txBody>
      </p:sp>
      <p:cxnSp>
        <p:nvCxnSpPr>
          <p:cNvPr id="304" name="Google Shape;304;p31"/>
          <p:cNvCxnSpPr/>
          <p:nvPr/>
        </p:nvCxnSpPr>
        <p:spPr>
          <a:xfrm>
            <a:off x="4722163" y="2149300"/>
            <a:ext cx="609600" cy="0"/>
          </a:xfrm>
          <a:prstGeom prst="straightConnector1">
            <a:avLst/>
          </a:prstGeom>
          <a:noFill/>
          <a:ln w="9525" cap="flat" cmpd="sng">
            <a:solidFill>
              <a:schemeClr val="dk2"/>
            </a:solidFill>
            <a:prstDash val="solid"/>
            <a:round/>
            <a:headEnd type="none" w="med" len="med"/>
            <a:tailEnd type="triangle" w="med" len="med"/>
          </a:ln>
        </p:spPr>
      </p:cxnSp>
      <p:cxnSp>
        <p:nvCxnSpPr>
          <p:cNvPr id="305" name="Google Shape;305;p31"/>
          <p:cNvCxnSpPr/>
          <p:nvPr/>
        </p:nvCxnSpPr>
        <p:spPr>
          <a:xfrm rot="10800000" flipH="1">
            <a:off x="6965888" y="2143750"/>
            <a:ext cx="505800" cy="11100"/>
          </a:xfrm>
          <a:prstGeom prst="straightConnector1">
            <a:avLst/>
          </a:prstGeom>
          <a:noFill/>
          <a:ln w="9525" cap="flat" cmpd="sng">
            <a:solidFill>
              <a:schemeClr val="dk2"/>
            </a:solidFill>
            <a:prstDash val="solid"/>
            <a:round/>
            <a:headEnd type="none" w="med" len="med"/>
            <a:tailEnd type="triangle" w="med" len="med"/>
          </a:ln>
        </p:spPr>
      </p:cxnSp>
      <p:sp>
        <p:nvSpPr>
          <p:cNvPr id="306" name="Google Shape;306;p31"/>
          <p:cNvSpPr txBox="1"/>
          <p:nvPr/>
        </p:nvSpPr>
        <p:spPr>
          <a:xfrm>
            <a:off x="4114800" y="1964650"/>
            <a:ext cx="694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Proxima Nova Semibold"/>
                <a:ea typeface="Proxima Nova Semibold"/>
                <a:cs typeface="Proxima Nova Semibold"/>
                <a:sym typeface="Proxima Nova Semibold"/>
              </a:rPr>
              <a:t>INPUT</a:t>
            </a:r>
            <a:endParaRPr sz="1200">
              <a:latin typeface="Proxima Nova Semibold"/>
              <a:ea typeface="Proxima Nova Semibold"/>
              <a:cs typeface="Proxima Nova Semibold"/>
              <a:sym typeface="Proxima Nova Semibold"/>
            </a:endParaRPr>
          </a:p>
        </p:txBody>
      </p:sp>
      <p:sp>
        <p:nvSpPr>
          <p:cNvPr id="307" name="Google Shape;307;p31"/>
          <p:cNvSpPr txBox="1"/>
          <p:nvPr/>
        </p:nvSpPr>
        <p:spPr>
          <a:xfrm>
            <a:off x="7512350" y="1964650"/>
            <a:ext cx="923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Proxima Nova Semibold"/>
                <a:ea typeface="Proxima Nova Semibold"/>
                <a:cs typeface="Proxima Nova Semibold"/>
                <a:sym typeface="Proxima Nova Semibold"/>
              </a:rPr>
              <a:t>OUTPUT</a:t>
            </a:r>
            <a:endParaRPr sz="1200">
              <a:latin typeface="Proxima Nova Semibold"/>
              <a:ea typeface="Proxima Nova Semibold"/>
              <a:cs typeface="Proxima Nova Semibold"/>
              <a:sym typeface="Proxima Nova Semibold"/>
            </a:endParaRPr>
          </a:p>
        </p:txBody>
      </p:sp>
      <p:cxnSp>
        <p:nvCxnSpPr>
          <p:cNvPr id="308" name="Google Shape;308;p31"/>
          <p:cNvCxnSpPr/>
          <p:nvPr/>
        </p:nvCxnSpPr>
        <p:spPr>
          <a:xfrm rot="10800000">
            <a:off x="7850800" y="2443000"/>
            <a:ext cx="0" cy="963600"/>
          </a:xfrm>
          <a:prstGeom prst="straightConnector1">
            <a:avLst/>
          </a:prstGeom>
          <a:noFill/>
          <a:ln w="9525" cap="flat" cmpd="sng">
            <a:solidFill>
              <a:schemeClr val="dk2"/>
            </a:solidFill>
            <a:prstDash val="solid"/>
            <a:round/>
            <a:headEnd type="none" w="med" len="med"/>
            <a:tailEnd type="none" w="med" len="med"/>
          </a:ln>
        </p:spPr>
      </p:cxnSp>
      <p:cxnSp>
        <p:nvCxnSpPr>
          <p:cNvPr id="309" name="Google Shape;309;p31"/>
          <p:cNvCxnSpPr/>
          <p:nvPr/>
        </p:nvCxnSpPr>
        <p:spPr>
          <a:xfrm rot="10800000">
            <a:off x="6122875" y="2513500"/>
            <a:ext cx="0" cy="588300"/>
          </a:xfrm>
          <a:prstGeom prst="straightConnector1">
            <a:avLst/>
          </a:prstGeom>
          <a:noFill/>
          <a:ln w="9525" cap="flat" cmpd="sng">
            <a:solidFill>
              <a:schemeClr val="dk2"/>
            </a:solidFill>
            <a:prstDash val="solid"/>
            <a:round/>
            <a:headEnd type="none" w="med" len="med"/>
            <a:tailEnd type="triangle" w="med" len="med"/>
          </a:ln>
        </p:spPr>
      </p:cxnSp>
      <p:sp>
        <p:nvSpPr>
          <p:cNvPr id="310" name="Google Shape;310;p31"/>
          <p:cNvSpPr txBox="1"/>
          <p:nvPr/>
        </p:nvSpPr>
        <p:spPr>
          <a:xfrm>
            <a:off x="5661175" y="3225700"/>
            <a:ext cx="9234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Proxima Nova Semibold"/>
                <a:ea typeface="Proxima Nova Semibold"/>
                <a:cs typeface="Proxima Nova Semibold"/>
                <a:sym typeface="Proxima Nova Semibold"/>
              </a:rPr>
              <a:t>ERROR</a:t>
            </a:r>
            <a:endParaRPr sz="1200">
              <a:latin typeface="Proxima Nova Semibold"/>
              <a:ea typeface="Proxima Nova Semibold"/>
              <a:cs typeface="Proxima Nova Semibold"/>
              <a:sym typeface="Proxima Nova Semibold"/>
            </a:endParaRPr>
          </a:p>
        </p:txBody>
      </p:sp>
      <p:cxnSp>
        <p:nvCxnSpPr>
          <p:cNvPr id="311" name="Google Shape;311;p31"/>
          <p:cNvCxnSpPr/>
          <p:nvPr/>
        </p:nvCxnSpPr>
        <p:spPr>
          <a:xfrm rot="10800000">
            <a:off x="6584525" y="3410350"/>
            <a:ext cx="1270800" cy="0"/>
          </a:xfrm>
          <a:prstGeom prst="straightConnector1">
            <a:avLst/>
          </a:prstGeom>
          <a:noFill/>
          <a:ln w="9525" cap="flat" cmpd="sng">
            <a:solidFill>
              <a:schemeClr val="dk2"/>
            </a:solidFill>
            <a:prstDash val="solid"/>
            <a:round/>
            <a:headEnd type="none" w="med" len="med"/>
            <a:tailEnd type="triangle" w="med" len="med"/>
          </a:ln>
        </p:spPr>
      </p:cxnSp>
      <p:sp>
        <p:nvSpPr>
          <p:cNvPr id="312" name="Google Shape;312;p31"/>
          <p:cNvSpPr txBox="1"/>
          <p:nvPr/>
        </p:nvSpPr>
        <p:spPr>
          <a:xfrm>
            <a:off x="6584575" y="3414100"/>
            <a:ext cx="14751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434343"/>
                </a:solidFill>
                <a:latin typeface="Roboto"/>
                <a:ea typeface="Roboto"/>
                <a:cs typeface="Roboto"/>
                <a:sym typeface="Roboto"/>
              </a:rPr>
              <a:t>compare with correct output</a:t>
            </a:r>
            <a:endParaRPr sz="1200">
              <a:solidFill>
                <a:srgbClr val="434343"/>
              </a:solidFill>
              <a:latin typeface="Roboto"/>
              <a:ea typeface="Roboto"/>
              <a:cs typeface="Roboto"/>
              <a:sym typeface="Roboto"/>
            </a:endParaRPr>
          </a:p>
        </p:txBody>
      </p:sp>
      <p:sp>
        <p:nvSpPr>
          <p:cNvPr id="313" name="Google Shape;313;p31"/>
          <p:cNvSpPr txBox="1"/>
          <p:nvPr/>
        </p:nvSpPr>
        <p:spPr>
          <a:xfrm>
            <a:off x="4874575" y="2530600"/>
            <a:ext cx="1270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434343"/>
                </a:solidFill>
                <a:latin typeface="Roboto"/>
                <a:ea typeface="Roboto"/>
                <a:cs typeface="Roboto"/>
                <a:sym typeface="Roboto"/>
              </a:rPr>
              <a:t>modify importances</a:t>
            </a:r>
            <a:endParaRPr sz="1200">
              <a:solidFill>
                <a:srgbClr val="434343"/>
              </a:solidFill>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33"/>
          <p:cNvPicPr preferRelativeResize="0"/>
          <p:nvPr/>
        </p:nvPicPr>
        <p:blipFill rotWithShape="1">
          <a:blip r:embed="rId3">
            <a:alphaModFix/>
          </a:blip>
          <a:srcRect/>
          <a:stretch/>
        </p:blipFill>
        <p:spPr>
          <a:xfrm>
            <a:off x="7224870" y="283329"/>
            <a:ext cx="625925" cy="742475"/>
          </a:xfrm>
          <a:prstGeom prst="rect">
            <a:avLst/>
          </a:prstGeom>
          <a:noFill/>
          <a:ln>
            <a:noFill/>
          </a:ln>
        </p:spPr>
      </p:pic>
      <p:pic>
        <p:nvPicPr>
          <p:cNvPr id="328" name="Google Shape;328;p33"/>
          <p:cNvPicPr preferRelativeResize="0"/>
          <p:nvPr/>
        </p:nvPicPr>
        <p:blipFill rotWithShape="1">
          <a:blip r:embed="rId4">
            <a:alphaModFix amt="79000"/>
          </a:blip>
          <a:srcRect/>
          <a:stretch/>
        </p:blipFill>
        <p:spPr>
          <a:xfrm>
            <a:off x="8101026" y="334837"/>
            <a:ext cx="731275" cy="639500"/>
          </a:xfrm>
          <a:prstGeom prst="rect">
            <a:avLst/>
          </a:prstGeom>
          <a:noFill/>
          <a:ln>
            <a:noFill/>
          </a:ln>
        </p:spPr>
      </p:pic>
      <p:sp>
        <p:nvSpPr>
          <p:cNvPr id="329" name="Google Shape;329;p33"/>
          <p:cNvSpPr txBox="1"/>
          <p:nvPr/>
        </p:nvSpPr>
        <p:spPr>
          <a:xfrm>
            <a:off x="2286589" y="4650137"/>
            <a:ext cx="45708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 sz="1200" b="1">
                <a:solidFill>
                  <a:srgbClr val="7F7F7F"/>
                </a:solidFill>
              </a:rPr>
              <a:t>Open House on AI for HealthCare</a:t>
            </a:r>
            <a:endParaRPr sz="1200" b="1" i="0" u="none" strike="noStrike" cap="none">
              <a:solidFill>
                <a:srgbClr val="000000"/>
              </a:solidFill>
              <a:latin typeface="Arial"/>
              <a:ea typeface="Arial"/>
              <a:cs typeface="Arial"/>
              <a:sym typeface="Arial"/>
            </a:endParaRPr>
          </a:p>
        </p:txBody>
      </p:sp>
      <p:sp>
        <p:nvSpPr>
          <p:cNvPr id="330" name="Google Shape;330;p33"/>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An example of a learning pass</a:t>
            </a:r>
            <a:endParaRPr sz="2400">
              <a:solidFill>
                <a:schemeClr val="accent1"/>
              </a:solidFill>
              <a:latin typeface="Proxima Nova Semibold"/>
              <a:ea typeface="Proxima Nova Semibold"/>
              <a:cs typeface="Proxima Nova Semibold"/>
              <a:sym typeface="Proxima Nova Semibold"/>
            </a:endParaRPr>
          </a:p>
        </p:txBody>
      </p:sp>
      <p:pic>
        <p:nvPicPr>
          <p:cNvPr id="331" name="Google Shape;331;p33"/>
          <p:cNvPicPr preferRelativeResize="0"/>
          <p:nvPr/>
        </p:nvPicPr>
        <p:blipFill>
          <a:blip r:embed="rId5">
            <a:alphaModFix/>
          </a:blip>
          <a:stretch>
            <a:fillRect/>
          </a:stretch>
        </p:blipFill>
        <p:spPr>
          <a:xfrm>
            <a:off x="1644225" y="1154988"/>
            <a:ext cx="5855550" cy="3302525"/>
          </a:xfrm>
          <a:prstGeom prst="rect">
            <a:avLst/>
          </a:prstGeom>
          <a:noFill/>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7" name="Google Shape;397;p40"/>
          <p:cNvPicPr preferRelativeResize="0"/>
          <p:nvPr/>
        </p:nvPicPr>
        <p:blipFill>
          <a:blip r:embed="rId3">
            <a:alphaModFix/>
          </a:blip>
          <a:stretch>
            <a:fillRect/>
          </a:stretch>
        </p:blipFill>
        <p:spPr>
          <a:xfrm>
            <a:off x="1271583" y="1168150"/>
            <a:ext cx="6600825" cy="3219450"/>
          </a:xfrm>
          <a:prstGeom prst="rect">
            <a:avLst/>
          </a:prstGeom>
          <a:noFill/>
          <a:ln>
            <a:noFill/>
          </a:ln>
        </p:spPr>
      </p:pic>
    </p:spTree>
    <p:extLst>
      <p:ext uri="{BB962C8B-B14F-4D97-AF65-F5344CB8AC3E}">
        <p14:creationId xmlns:p14="http://schemas.microsoft.com/office/powerpoint/2010/main" val="27406019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5654" y="347515"/>
            <a:ext cx="3129716" cy="453805"/>
          </a:xfrm>
          <a:prstGeom prst="rect">
            <a:avLst/>
          </a:prstGeom>
        </p:spPr>
        <p:txBody>
          <a:bodyPr spcFirstLastPara="1" vert="horz" wrap="square" lIns="0" tIns="9996" rIns="0" bIns="0" rtlCol="0" anchor="t" anchorCtr="0">
            <a:spAutoFit/>
          </a:bodyPr>
          <a:lstStyle/>
          <a:p>
            <a:pPr marL="9520">
              <a:spcBef>
                <a:spcPts val="79"/>
              </a:spcBef>
            </a:pPr>
            <a:r>
              <a:rPr spc="-11" dirty="0" smtClean="0"/>
              <a:t>History</a:t>
            </a:r>
            <a:r>
              <a:rPr lang="en-IN" spc="-11" dirty="0" smtClean="0"/>
              <a:t> of CNN</a:t>
            </a:r>
            <a:endParaRPr spc="-11" dirty="0"/>
          </a:p>
        </p:txBody>
      </p:sp>
      <p:sp>
        <p:nvSpPr>
          <p:cNvPr id="3" name="object 3"/>
          <p:cNvSpPr txBox="1"/>
          <p:nvPr/>
        </p:nvSpPr>
        <p:spPr>
          <a:xfrm>
            <a:off x="611539" y="1208400"/>
            <a:ext cx="3740542" cy="978245"/>
          </a:xfrm>
          <a:prstGeom prst="rect">
            <a:avLst/>
          </a:prstGeom>
        </p:spPr>
        <p:txBody>
          <a:bodyPr vert="horz" wrap="square" lIns="0" tIns="9045" rIns="0" bIns="0" rtlCol="0">
            <a:spAutoFit/>
          </a:bodyPr>
          <a:lstStyle/>
          <a:p>
            <a:pPr marL="266584" marR="3809" indent="-257539">
              <a:spcBef>
                <a:spcPts val="71"/>
              </a:spcBef>
              <a:buFont typeface="Arial"/>
              <a:buChar char="•"/>
              <a:tabLst>
                <a:tab pos="266584" algn="l"/>
                <a:tab pos="267059" algn="l"/>
              </a:tabLst>
            </a:pPr>
            <a:r>
              <a:rPr sz="2099" spc="-5" dirty="0">
                <a:latin typeface="Calibri"/>
                <a:cs typeface="Calibri"/>
              </a:rPr>
              <a:t>In 1995, </a:t>
            </a:r>
            <a:r>
              <a:rPr sz="2099" b="1" spc="-33" dirty="0">
                <a:latin typeface="Calibri"/>
                <a:cs typeface="Calibri"/>
              </a:rPr>
              <a:t>Yann </a:t>
            </a:r>
            <a:r>
              <a:rPr sz="2099" spc="-11" dirty="0">
                <a:latin typeface="Calibri"/>
                <a:cs typeface="Calibri"/>
              </a:rPr>
              <a:t>introduced </a:t>
            </a:r>
            <a:r>
              <a:rPr sz="2099" spc="-5" dirty="0">
                <a:latin typeface="Calibri"/>
                <a:cs typeface="Calibri"/>
              </a:rPr>
              <a:t>the </a:t>
            </a:r>
            <a:r>
              <a:rPr sz="2099" spc="-8" dirty="0">
                <a:latin typeface="Calibri"/>
                <a:cs typeface="Calibri"/>
              </a:rPr>
              <a:t>concept  </a:t>
            </a:r>
            <a:r>
              <a:rPr sz="2099" spc="-5" dirty="0">
                <a:latin typeface="Calibri"/>
                <a:cs typeface="Calibri"/>
              </a:rPr>
              <a:t>of </a:t>
            </a:r>
            <a:r>
              <a:rPr sz="2099" spc="-11" dirty="0">
                <a:latin typeface="Calibri"/>
                <a:cs typeface="Calibri"/>
              </a:rPr>
              <a:t>convolutional </a:t>
            </a:r>
            <a:r>
              <a:rPr sz="2099" spc="-14" dirty="0">
                <a:latin typeface="Calibri"/>
                <a:cs typeface="Calibri"/>
              </a:rPr>
              <a:t>neural  </a:t>
            </a:r>
            <a:r>
              <a:rPr sz="2099" spc="-11" dirty="0">
                <a:latin typeface="Calibri"/>
                <a:cs typeface="Calibri"/>
              </a:rPr>
              <a:t>networks.</a:t>
            </a:r>
            <a:endParaRPr sz="2099" dirty="0">
              <a:latin typeface="Calibri"/>
              <a:cs typeface="Calibri"/>
            </a:endParaRPr>
          </a:p>
        </p:txBody>
      </p:sp>
      <p:grpSp>
        <p:nvGrpSpPr>
          <p:cNvPr id="4" name="object 4"/>
          <p:cNvGrpSpPr/>
          <p:nvPr/>
        </p:nvGrpSpPr>
        <p:grpSpPr>
          <a:xfrm>
            <a:off x="4636859" y="919472"/>
            <a:ext cx="1182426" cy="1556099"/>
            <a:chOff x="4715255" y="1591055"/>
            <a:chExt cx="1577340" cy="2075814"/>
          </a:xfrm>
        </p:grpSpPr>
        <p:sp>
          <p:nvSpPr>
            <p:cNvPr id="5" name="object 5"/>
            <p:cNvSpPr/>
            <p:nvPr/>
          </p:nvSpPr>
          <p:spPr>
            <a:xfrm>
              <a:off x="4724399" y="1600199"/>
              <a:ext cx="1559052" cy="2057400"/>
            </a:xfrm>
            <a:prstGeom prst="rect">
              <a:avLst/>
            </a:prstGeom>
            <a:blipFill>
              <a:blip r:embed="rId2" cstate="print"/>
              <a:stretch>
                <a:fillRect/>
              </a:stretch>
            </a:blipFill>
          </p:spPr>
          <p:txBody>
            <a:bodyPr wrap="square" lIns="0" tIns="0" rIns="0" bIns="0" rtlCol="0"/>
            <a:lstStyle/>
            <a:p>
              <a:endParaRPr sz="1349"/>
            </a:p>
          </p:txBody>
        </p:sp>
        <p:sp>
          <p:nvSpPr>
            <p:cNvPr id="6" name="object 6"/>
            <p:cNvSpPr/>
            <p:nvPr/>
          </p:nvSpPr>
          <p:spPr>
            <a:xfrm>
              <a:off x="4719827" y="1595627"/>
              <a:ext cx="1568450" cy="2066925"/>
            </a:xfrm>
            <a:custGeom>
              <a:avLst/>
              <a:gdLst/>
              <a:ahLst/>
              <a:cxnLst/>
              <a:rect l="l" t="t" r="r" b="b"/>
              <a:pathLst>
                <a:path w="1568450" h="2066925">
                  <a:moveTo>
                    <a:pt x="0" y="2066544"/>
                  </a:moveTo>
                  <a:lnTo>
                    <a:pt x="1568196" y="2066544"/>
                  </a:lnTo>
                  <a:lnTo>
                    <a:pt x="1568196" y="0"/>
                  </a:lnTo>
                  <a:lnTo>
                    <a:pt x="0" y="0"/>
                  </a:lnTo>
                  <a:lnTo>
                    <a:pt x="0" y="2066544"/>
                  </a:lnTo>
                  <a:close/>
                </a:path>
              </a:pathLst>
            </a:custGeom>
            <a:ln w="9144">
              <a:solidFill>
                <a:srgbClr val="C0504D"/>
              </a:solidFill>
            </a:ln>
          </p:spPr>
          <p:txBody>
            <a:bodyPr wrap="square" lIns="0" tIns="0" rIns="0" bIns="0" rtlCol="0"/>
            <a:lstStyle/>
            <a:p>
              <a:endParaRPr sz="1349"/>
            </a:p>
          </p:txBody>
        </p:sp>
      </p:grpSp>
      <p:sp>
        <p:nvSpPr>
          <p:cNvPr id="7" name="object 2"/>
          <p:cNvSpPr/>
          <p:nvPr/>
        </p:nvSpPr>
        <p:spPr>
          <a:xfrm>
            <a:off x="611539" y="3009014"/>
            <a:ext cx="7894508" cy="1626864"/>
          </a:xfrm>
          <a:prstGeom prst="rect">
            <a:avLst/>
          </a:prstGeom>
          <a:blipFill>
            <a:blip r:embed="rId3" cstate="print"/>
            <a:stretch>
              <a:fillRect/>
            </a:stretch>
          </a:blipFill>
        </p:spPr>
        <p:txBody>
          <a:bodyPr wrap="square" lIns="0" tIns="0" rIns="0" bIns="0" rtlCol="0"/>
          <a:lstStyle/>
          <a:p>
            <a:endParaRPr sz="1799"/>
          </a:p>
        </p:txBody>
      </p:sp>
      <p:sp>
        <p:nvSpPr>
          <p:cNvPr id="8" name="Footer Placeholder 7"/>
          <p:cNvSpPr>
            <a:spLocks noGrp="1"/>
          </p:cNvSpPr>
          <p:nvPr>
            <p:ph type="ftr" sz="quarter" idx="11"/>
          </p:nvPr>
        </p:nvSpPr>
        <p:spPr/>
        <p:txBody>
          <a:bodyPr/>
          <a:lstStyle/>
          <a:p>
            <a:r>
              <a:rPr lang="en-US" dirty="0" smtClean="0"/>
              <a:t>Introduction to ML</a:t>
            </a:r>
            <a:endParaRPr lang="en-US" dirty="0"/>
          </a:p>
        </p:txBody>
      </p:sp>
    </p:spTree>
    <p:extLst>
      <p:ext uri="{BB962C8B-B14F-4D97-AF65-F5344CB8AC3E}">
        <p14:creationId xmlns:p14="http://schemas.microsoft.com/office/powerpoint/2010/main" val="13089048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34"/>
          <p:cNvPicPr preferRelativeResize="0"/>
          <p:nvPr/>
        </p:nvPicPr>
        <p:blipFill rotWithShape="1">
          <a:blip r:embed="rId3">
            <a:alphaModFix/>
          </a:blip>
          <a:srcRect/>
          <a:stretch/>
        </p:blipFill>
        <p:spPr>
          <a:xfrm>
            <a:off x="7224870" y="283329"/>
            <a:ext cx="625925" cy="742475"/>
          </a:xfrm>
          <a:prstGeom prst="rect">
            <a:avLst/>
          </a:prstGeom>
          <a:noFill/>
          <a:ln>
            <a:noFill/>
          </a:ln>
        </p:spPr>
      </p:pic>
      <p:pic>
        <p:nvPicPr>
          <p:cNvPr id="337" name="Google Shape;337;p34"/>
          <p:cNvPicPr preferRelativeResize="0"/>
          <p:nvPr/>
        </p:nvPicPr>
        <p:blipFill rotWithShape="1">
          <a:blip r:embed="rId4">
            <a:alphaModFix amt="79000"/>
          </a:blip>
          <a:srcRect/>
          <a:stretch/>
        </p:blipFill>
        <p:spPr>
          <a:xfrm>
            <a:off x="8101026" y="334837"/>
            <a:ext cx="731275" cy="639500"/>
          </a:xfrm>
          <a:prstGeom prst="rect">
            <a:avLst/>
          </a:prstGeom>
          <a:noFill/>
          <a:ln>
            <a:noFill/>
          </a:ln>
        </p:spPr>
      </p:pic>
      <p:sp>
        <p:nvSpPr>
          <p:cNvPr id="338" name="Google Shape;338;p34"/>
          <p:cNvSpPr txBox="1"/>
          <p:nvPr/>
        </p:nvSpPr>
        <p:spPr>
          <a:xfrm>
            <a:off x="2286589" y="4650137"/>
            <a:ext cx="45708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 sz="1200" b="1">
                <a:solidFill>
                  <a:srgbClr val="7F7F7F"/>
                </a:solidFill>
              </a:rPr>
              <a:t>Open House on AI for HealthCare</a:t>
            </a:r>
            <a:endParaRPr sz="1200" b="1" i="0" u="none" strike="noStrike" cap="none">
              <a:solidFill>
                <a:srgbClr val="000000"/>
              </a:solidFill>
              <a:latin typeface="Arial"/>
              <a:ea typeface="Arial"/>
              <a:cs typeface="Arial"/>
              <a:sym typeface="Arial"/>
            </a:endParaRPr>
          </a:p>
        </p:txBody>
      </p:sp>
      <p:sp>
        <p:nvSpPr>
          <p:cNvPr id="339" name="Google Shape;339;p34"/>
          <p:cNvSpPr txBox="1"/>
          <p:nvPr/>
        </p:nvSpPr>
        <p:spPr>
          <a:xfrm>
            <a:off x="486000" y="408275"/>
            <a:ext cx="4303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accent1"/>
                </a:solidFill>
                <a:latin typeface="Proxima Nova Semibold"/>
                <a:ea typeface="Proxima Nova Semibold"/>
                <a:cs typeface="Proxima Nova Semibold"/>
                <a:sym typeface="Proxima Nova Semibold"/>
              </a:rPr>
              <a:t>Convolution Neural Networks</a:t>
            </a:r>
            <a:endParaRPr sz="2400">
              <a:solidFill>
                <a:schemeClr val="accent1"/>
              </a:solidFill>
              <a:latin typeface="Proxima Nova Semibold"/>
              <a:ea typeface="Proxima Nova Semibold"/>
              <a:cs typeface="Proxima Nova Semibold"/>
              <a:sym typeface="Proxima Nova Semibold"/>
            </a:endParaRPr>
          </a:p>
        </p:txBody>
      </p:sp>
      <p:sp>
        <p:nvSpPr>
          <p:cNvPr id="340" name="Google Shape;340;p34"/>
          <p:cNvSpPr txBox="1"/>
          <p:nvPr/>
        </p:nvSpPr>
        <p:spPr>
          <a:xfrm>
            <a:off x="486000" y="884925"/>
            <a:ext cx="519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434343"/>
                </a:solidFill>
                <a:latin typeface="Roboto Medium"/>
                <a:ea typeface="Roboto Medium"/>
                <a:cs typeface="Roboto Medium"/>
                <a:sym typeface="Roboto Medium"/>
              </a:rPr>
              <a:t>Limitation of conventional ANNs</a:t>
            </a:r>
            <a:endParaRPr sz="1600">
              <a:solidFill>
                <a:srgbClr val="434343"/>
              </a:solidFill>
              <a:latin typeface="Roboto Medium"/>
              <a:ea typeface="Roboto Medium"/>
              <a:cs typeface="Roboto Medium"/>
              <a:sym typeface="Roboto Medium"/>
            </a:endParaRPr>
          </a:p>
        </p:txBody>
      </p:sp>
      <p:sp>
        <p:nvSpPr>
          <p:cNvPr id="341" name="Google Shape;341;p34"/>
          <p:cNvSpPr txBox="1"/>
          <p:nvPr/>
        </p:nvSpPr>
        <p:spPr>
          <a:xfrm>
            <a:off x="796851" y="2252775"/>
            <a:ext cx="3021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Roboto Medium"/>
                <a:ea typeface="Roboto Medium"/>
                <a:cs typeface="Roboto Medium"/>
                <a:sym typeface="Roboto Medium"/>
              </a:rPr>
              <a:t>Importance of CNNs</a:t>
            </a:r>
            <a:endParaRPr sz="1600">
              <a:solidFill>
                <a:schemeClr val="accent1"/>
              </a:solidFill>
              <a:latin typeface="Roboto Medium"/>
              <a:ea typeface="Roboto Medium"/>
              <a:cs typeface="Roboto Medium"/>
              <a:sym typeface="Roboto Medium"/>
            </a:endParaRPr>
          </a:p>
        </p:txBody>
      </p:sp>
      <p:sp>
        <p:nvSpPr>
          <p:cNvPr id="342" name="Google Shape;342;p34"/>
          <p:cNvSpPr txBox="1"/>
          <p:nvPr/>
        </p:nvSpPr>
        <p:spPr>
          <a:xfrm>
            <a:off x="486000" y="1226025"/>
            <a:ext cx="76152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The standard ANN in itself can only work with small images hence we use an alteration called a convolutional neural network (CNN) which takes an image as input and converts it into a smaller image by encoding each pixel with its neighbouring context.</a:t>
            </a:r>
            <a:endParaRPr>
              <a:solidFill>
                <a:srgbClr val="666666"/>
              </a:solidFill>
              <a:latin typeface="Roboto"/>
              <a:ea typeface="Roboto"/>
              <a:cs typeface="Roboto"/>
              <a:sym typeface="Roboto"/>
            </a:endParaRPr>
          </a:p>
        </p:txBody>
      </p:sp>
      <p:sp>
        <p:nvSpPr>
          <p:cNvPr id="343" name="Google Shape;343;p34"/>
          <p:cNvSpPr txBox="1"/>
          <p:nvPr/>
        </p:nvSpPr>
        <p:spPr>
          <a:xfrm>
            <a:off x="790800" y="2592800"/>
            <a:ext cx="3519000" cy="1046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just" rtl="0">
              <a:spcBef>
                <a:spcPts val="0"/>
              </a:spcBef>
              <a:spcAft>
                <a:spcPts val="0"/>
              </a:spcAft>
              <a:buNone/>
            </a:pPr>
            <a:r>
              <a:rPr lang="en">
                <a:solidFill>
                  <a:srgbClr val="666666"/>
                </a:solidFill>
                <a:latin typeface="Roboto"/>
                <a:ea typeface="Roboto"/>
                <a:cs typeface="Roboto"/>
                <a:sym typeface="Roboto"/>
              </a:rPr>
              <a:t>CNNs allow us to process images faster with lesser compute. They have been used to create numerous models for various image related tasks.</a:t>
            </a:r>
            <a:endParaRPr>
              <a:solidFill>
                <a:srgbClr val="666666"/>
              </a:solidFill>
              <a:latin typeface="Roboto"/>
              <a:ea typeface="Roboto"/>
              <a:cs typeface="Roboto"/>
              <a:sym typeface="Roboto"/>
            </a:endParaRPr>
          </a:p>
        </p:txBody>
      </p:sp>
      <p:pic>
        <p:nvPicPr>
          <p:cNvPr id="344" name="Google Shape;344;p34"/>
          <p:cNvPicPr preferRelativeResize="0"/>
          <p:nvPr/>
        </p:nvPicPr>
        <p:blipFill>
          <a:blip r:embed="rId5">
            <a:alphaModFix/>
          </a:blip>
          <a:stretch>
            <a:fillRect/>
          </a:stretch>
        </p:blipFill>
        <p:spPr>
          <a:xfrm>
            <a:off x="5250125" y="2209725"/>
            <a:ext cx="2372086" cy="2288012"/>
          </a:xfrm>
          <a:prstGeom prst="rect">
            <a:avLst/>
          </a:prstGeom>
          <a:noFill/>
          <a:ln>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for post"/>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877094" y="1220788"/>
            <a:ext cx="7353300" cy="32766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p:txBody>
          <a:bodyPr/>
          <a:lstStyle/>
          <a:p>
            <a:r>
              <a:rPr lang="en-US" sz="1800" b="1" dirty="0"/>
              <a:t>Typical Structure of a CNN</a:t>
            </a:r>
            <a:endParaRPr lang="en-IN" sz="1800" b="1" dirty="0"/>
          </a:p>
        </p:txBody>
      </p:sp>
      <p:sp>
        <p:nvSpPr>
          <p:cNvPr id="6" name="Footer Placeholder 5"/>
          <p:cNvSpPr>
            <a:spLocks noGrp="1"/>
          </p:cNvSpPr>
          <p:nvPr>
            <p:ph type="ftr" sz="quarter" idx="11"/>
          </p:nvPr>
        </p:nvSpPr>
        <p:spPr/>
        <p:txBody>
          <a:bodyPr/>
          <a:lstStyle/>
          <a:p>
            <a:r>
              <a:rPr lang="en-US" smtClean="0"/>
              <a:t>Introduction to ML</a:t>
            </a:r>
            <a:endParaRPr lang="en-US" dirty="0"/>
          </a:p>
        </p:txBody>
      </p:sp>
    </p:spTree>
    <p:extLst>
      <p:ext uri="{BB962C8B-B14F-4D97-AF65-F5344CB8AC3E}">
        <p14:creationId xmlns:p14="http://schemas.microsoft.com/office/powerpoint/2010/main" val="3426046505"/>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4518</TotalTime>
  <Words>1330</Words>
  <Application>Microsoft Office PowerPoint</Application>
  <PresentationFormat>On-screen Show (16:9)</PresentationFormat>
  <Paragraphs>158</Paragraphs>
  <Slides>31</Slides>
  <Notes>17</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31</vt:i4>
      </vt:variant>
    </vt:vector>
  </HeadingPairs>
  <TitlesOfParts>
    <vt:vector size="48" baseType="lpstr">
      <vt:lpstr>Trebuchet MS</vt:lpstr>
      <vt:lpstr>Proxima Nova Semibold</vt:lpstr>
      <vt:lpstr>Alfred Serif</vt:lpstr>
      <vt:lpstr>Courier New</vt:lpstr>
      <vt:lpstr>Roboto</vt:lpstr>
      <vt:lpstr>Calibri Light</vt:lpstr>
      <vt:lpstr>Roboto Medium</vt:lpstr>
      <vt:lpstr>Times New Roman</vt:lpstr>
      <vt:lpstr>Wingdings</vt:lpstr>
      <vt:lpstr>Google Sans</vt:lpstr>
      <vt:lpstr>Tahoma</vt:lpstr>
      <vt:lpstr>Calibri</vt:lpstr>
      <vt:lpstr>Arial</vt:lpstr>
      <vt:lpstr>D-DINExp</vt:lpstr>
      <vt:lpstr>Helvetica</vt:lpstr>
      <vt:lpstr>Microsoft Sans Serif</vt:lpstr>
      <vt:lpstr>Simple Light</vt:lpstr>
      <vt:lpstr>PowerPoint Presentation</vt:lpstr>
      <vt:lpstr>PowerPoint Presentation</vt:lpstr>
      <vt:lpstr>PowerPoint Presentation</vt:lpstr>
      <vt:lpstr>What is Artificial Intelligence ?</vt:lpstr>
      <vt:lpstr>PowerPoint Presentation</vt:lpstr>
      <vt:lpstr>PowerPoint Presentation</vt:lpstr>
      <vt:lpstr>Father of AI</vt:lpstr>
      <vt:lpstr>God Father of AI</vt:lpstr>
      <vt:lpstr>PowerPoint Presentation</vt:lpstr>
      <vt:lpstr>PowerPoint Presentation</vt:lpstr>
      <vt:lpstr>PowerPoint Presentation</vt:lpstr>
      <vt:lpstr>PowerPoint Presentation</vt:lpstr>
      <vt:lpstr>What is Learning?</vt:lpstr>
      <vt:lpstr>How Do Children Learn?</vt:lpstr>
      <vt:lpstr>Machine Learning</vt:lpstr>
      <vt:lpstr>Supervised vs Unsupervised Machine Learning</vt:lpstr>
      <vt:lpstr>PowerPoint Presentation</vt:lpstr>
      <vt:lpstr>Typical Training process of a ML Model</vt:lpstr>
      <vt:lpstr>Train – test splitting</vt:lpstr>
      <vt:lpstr>Anatomy of Supervised Learning Algorithm</vt:lpstr>
      <vt:lpstr>Predictive AI Vs Generative AI</vt:lpstr>
      <vt:lpstr>Generative AI</vt:lpstr>
      <vt:lpstr>PowerPoint Presentation</vt:lpstr>
      <vt:lpstr>PowerPoint Presentation</vt:lpstr>
      <vt:lpstr>PowerPoint Presentation</vt:lpstr>
      <vt:lpstr>PowerPoint Presentation</vt:lpstr>
      <vt:lpstr>PowerPoint Presentation</vt:lpstr>
      <vt:lpstr>PowerPoint Presentation</vt:lpstr>
      <vt:lpstr>History of CNN</vt:lpstr>
      <vt:lpstr>PowerPoint Presentation</vt:lpstr>
      <vt:lpstr>Typical Structure of a CNN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jayaraj</dc:creator>
  <cp:lastModifiedBy>Jayaraj P B</cp:lastModifiedBy>
  <cp:revision>18</cp:revision>
  <dcterms:modified xsi:type="dcterms:W3CDTF">2025-07-25T03:46:53Z</dcterms:modified>
</cp:coreProperties>
</file>